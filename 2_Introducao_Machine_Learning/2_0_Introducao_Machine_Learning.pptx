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ebp" ContentType="image/jpe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9.jpg" ContentType="image/jpe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68" r:id="rId6"/>
    <p:sldId id="258" r:id="rId7"/>
    <p:sldId id="257" r:id="rId8"/>
    <p:sldId id="280" r:id="rId9"/>
    <p:sldId id="281" r:id="rId10"/>
    <p:sldId id="282" r:id="rId11"/>
    <p:sldId id="283" r:id="rId12"/>
    <p:sldId id="284" r:id="rId13"/>
    <p:sldId id="285" r:id="rId14"/>
    <p:sldId id="288" r:id="rId15"/>
    <p:sldId id="286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76" r:id="rId24"/>
    <p:sldId id="297" r:id="rId25"/>
    <p:sldId id="298" r:id="rId26"/>
    <p:sldId id="299" r:id="rId27"/>
    <p:sldId id="302" r:id="rId28"/>
    <p:sldId id="301" r:id="rId29"/>
    <p:sldId id="303" r:id="rId30"/>
    <p:sldId id="304" r:id="rId31"/>
    <p:sldId id="305" r:id="rId32"/>
    <p:sldId id="306" r:id="rId33"/>
    <p:sldId id="307" r:id="rId34"/>
    <p:sldId id="308" r:id="rId35"/>
    <p:sldId id="310" r:id="rId36"/>
    <p:sldId id="311" r:id="rId37"/>
    <p:sldId id="312" r:id="rId38"/>
    <p:sldId id="261" r:id="rId39"/>
    <p:sldId id="314" r:id="rId40"/>
    <p:sldId id="315" r:id="rId41"/>
    <p:sldId id="316" r:id="rId42"/>
    <p:sldId id="318" r:id="rId43"/>
    <p:sldId id="319" r:id="rId44"/>
    <p:sldId id="321" r:id="rId45"/>
    <p:sldId id="320" r:id="rId46"/>
    <p:sldId id="322" r:id="rId47"/>
    <p:sldId id="323" r:id="rId48"/>
    <p:sldId id="324" r:id="rId49"/>
    <p:sldId id="325" r:id="rId50"/>
    <p:sldId id="326" r:id="rId51"/>
    <p:sldId id="277" r:id="rId52"/>
  </p:sldIdLst>
  <p:sldSz cx="20104100" cy="11309350"/>
  <p:notesSz cx="20104100" cy="11309350"/>
  <p:embeddedFontLst>
    <p:embeddedFont>
      <p:font typeface="Montserrat" panose="00000500000000000000" pitchFamily="2" charset="0"/>
      <p:regular r:id="rId53"/>
      <p:bold r:id="rId54"/>
      <p:italic r:id="rId55"/>
      <p:boldItalic r:id="rId56"/>
    </p:embeddedFont>
    <p:embeddedFont>
      <p:font typeface="Montserrat ExtraBold" panose="00000900000000000000" pitchFamily="2" charset="0"/>
      <p:bold r:id="rId57"/>
      <p:boldItalic r:id="rId58"/>
    </p:embeddedFont>
    <p:embeddedFont>
      <p:font typeface="Montserrat Light" panose="00000400000000000000" pitchFamily="2" charset="0"/>
      <p:regular r:id="rId59"/>
      <p:italic r:id="rId6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0E3ABB-C11A-BBD9-2802-532C104E159E}" v="1" dt="2022-01-25T14:55:06.476"/>
    <p1510:client id="{67B79760-9B19-EA06-B321-81BE3DC8DF22}" v="11" dt="2022-01-28T13:28:15.146"/>
    <p1510:client id="{E26C3A5A-D7F9-6D2D-9C24-7E05DE01AA21}" v="11" dt="2021-11-30T01:30:03.168"/>
    <p1510:client id="{E274CB7D-D5F6-CB88-97F7-1F9BAF23F222}" v="10" dt="2021-11-30T01:31:45.183"/>
    <p1510:client id="{E997C4D9-1869-CBC7-0693-58570764A1CA}" v="16" dt="2022-08-15T19:44:12.365"/>
    <p1510:client id="{F9CA789C-FA2B-ABC1-4746-E0D93CC19689}" v="1" dt="2022-01-26T14:38:05.24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821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font" Target="fonts/font3.fntdata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4.fntdata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7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2.fntdata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5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8.fntdata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Miguel Leal da Silva" userId="S::lucas.msilva@sp.senai.br::5c40faec-5f1f-47e9-a958-68edb761d629" providerId="AD" clId="Web-{E26C3A5A-D7F9-6D2D-9C24-7E05DE01AA21}"/>
    <pc:docChg chg="modSld">
      <pc:chgData name="Lucas Miguel Leal da Silva" userId="S::lucas.msilva@sp.senai.br::5c40faec-5f1f-47e9-a958-68edb761d629" providerId="AD" clId="Web-{E26C3A5A-D7F9-6D2D-9C24-7E05DE01AA21}" dt="2021-11-30T01:30:03.168" v="10" actId="1076"/>
      <pc:docMkLst>
        <pc:docMk/>
      </pc:docMkLst>
      <pc:sldChg chg="modSp">
        <pc:chgData name="Lucas Miguel Leal da Silva" userId="S::lucas.msilva@sp.senai.br::5c40faec-5f1f-47e9-a958-68edb761d629" providerId="AD" clId="Web-{E26C3A5A-D7F9-6D2D-9C24-7E05DE01AA21}" dt="2021-11-30T01:25:45.023" v="3" actId="1076"/>
        <pc:sldMkLst>
          <pc:docMk/>
          <pc:sldMk cId="0" sldId="256"/>
        </pc:sldMkLst>
        <pc:spChg chg="mod">
          <ac:chgData name="Lucas Miguel Leal da Silva" userId="S::lucas.msilva@sp.senai.br::5c40faec-5f1f-47e9-a958-68edb761d629" providerId="AD" clId="Web-{E26C3A5A-D7F9-6D2D-9C24-7E05DE01AA21}" dt="2021-11-30T01:25:45.023" v="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Lucas Miguel Leal da Silva" userId="S::lucas.msilva@sp.senai.br::5c40faec-5f1f-47e9-a958-68edb761d629" providerId="AD" clId="Web-{E26C3A5A-D7F9-6D2D-9C24-7E05DE01AA21}" dt="2021-11-30T01:10:29.601" v="1" actId="1076"/>
          <ac:spMkLst>
            <pc:docMk/>
            <pc:sldMk cId="0" sldId="256"/>
            <ac:spMk id="5" creationId="{00000000-0000-0000-0000-000000000000}"/>
          </ac:spMkLst>
        </pc:spChg>
      </pc:sldChg>
      <pc:sldChg chg="modSp">
        <pc:chgData name="Lucas Miguel Leal da Silva" userId="S::lucas.msilva@sp.senai.br::5c40faec-5f1f-47e9-a958-68edb761d629" providerId="AD" clId="Web-{E26C3A5A-D7F9-6D2D-9C24-7E05DE01AA21}" dt="2021-11-30T01:29:48.168" v="5" actId="1076"/>
        <pc:sldMkLst>
          <pc:docMk/>
          <pc:sldMk cId="0" sldId="257"/>
        </pc:sldMkLst>
        <pc:spChg chg="mod">
          <ac:chgData name="Lucas Miguel Leal da Silva" userId="S::lucas.msilva@sp.senai.br::5c40faec-5f1f-47e9-a958-68edb761d629" providerId="AD" clId="Web-{E26C3A5A-D7F9-6D2D-9C24-7E05DE01AA21}" dt="2021-11-30T01:29:48.168" v="5" actId="1076"/>
          <ac:spMkLst>
            <pc:docMk/>
            <pc:sldMk cId="0" sldId="257"/>
            <ac:spMk id="71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6:18.805" v="4" actId="1076"/>
          <ac:grpSpMkLst>
            <pc:docMk/>
            <pc:sldMk cId="0" sldId="257"/>
            <ac:grpSpMk id="4" creationId="{00000000-0000-0000-0000-000000000000}"/>
          </ac:grpSpMkLst>
        </pc:grpChg>
      </pc:sldChg>
      <pc:sldChg chg="modSp">
        <pc:chgData name="Lucas Miguel Leal da Silva" userId="S::lucas.msilva@sp.senai.br::5c40faec-5f1f-47e9-a958-68edb761d629" providerId="AD" clId="Web-{E26C3A5A-D7F9-6D2D-9C24-7E05DE01AA21}" dt="2021-11-30T01:30:03.168" v="10" actId="1076"/>
        <pc:sldMkLst>
          <pc:docMk/>
          <pc:sldMk cId="0" sldId="258"/>
        </pc:sldMkLst>
        <pc:spChg chg="mod">
          <ac:chgData name="Lucas Miguel Leal da Silva" userId="S::lucas.msilva@sp.senai.br::5c40faec-5f1f-47e9-a958-68edb761d629" providerId="AD" clId="Web-{E26C3A5A-D7F9-6D2D-9C24-7E05DE01AA21}" dt="2021-11-30T01:30:03.168" v="10" actId="1076"/>
          <ac:spMkLst>
            <pc:docMk/>
            <pc:sldMk cId="0" sldId="258"/>
            <ac:spMk id="68" creationId="{00000000-0000-0000-0000-000000000000}"/>
          </ac:spMkLst>
        </pc:spChg>
        <pc:grpChg chg="mod">
          <ac:chgData name="Lucas Miguel Leal da Silva" userId="S::lucas.msilva@sp.senai.br::5c40faec-5f1f-47e9-a958-68edb761d629" providerId="AD" clId="Web-{E26C3A5A-D7F9-6D2D-9C24-7E05DE01AA21}" dt="2021-11-30T01:29:51.324" v="6" actId="1076"/>
          <ac:grpSpMkLst>
            <pc:docMk/>
            <pc:sldMk cId="0" sldId="258"/>
            <ac:grpSpMk id="66" creationId="{00000000-0000-0000-0000-000000000000}"/>
          </ac:grpSpMkLst>
        </pc:grpChg>
      </pc:sldChg>
    </pc:docChg>
  </pc:docChgLst>
  <pc:docChgLst>
    <pc:chgData name="Aruana Marcondes" userId="S::aruana.marcondes@sp.senai.br::3b5ba883-9796-4925-87dd-7395c5a849ef" providerId="AD" clId="Web-{F9CA789C-FA2B-ABC1-4746-E0D93CC19689}"/>
    <pc:docChg chg="modSld">
      <pc:chgData name="Aruana Marcondes" userId="S::aruana.marcondes@sp.senai.br::3b5ba883-9796-4925-87dd-7395c5a849ef" providerId="AD" clId="Web-{F9CA789C-FA2B-ABC1-4746-E0D93CC19689}" dt="2022-01-26T14:38:05.244" v="0"/>
      <pc:docMkLst>
        <pc:docMk/>
      </pc:docMkLst>
      <pc:sldChg chg="delSp">
        <pc:chgData name="Aruana Marcondes" userId="S::aruana.marcondes@sp.senai.br::3b5ba883-9796-4925-87dd-7395c5a849ef" providerId="AD" clId="Web-{F9CA789C-FA2B-ABC1-4746-E0D93CC19689}" dt="2022-01-26T14:38:05.244" v="0"/>
        <pc:sldMkLst>
          <pc:docMk/>
          <pc:sldMk cId="0" sldId="258"/>
        </pc:sldMkLst>
        <pc:picChg chg="del">
          <ac:chgData name="Aruana Marcondes" userId="S::aruana.marcondes@sp.senai.br::3b5ba883-9796-4925-87dd-7395c5a849ef" providerId="AD" clId="Web-{F9CA789C-FA2B-ABC1-4746-E0D93CC19689}" dt="2022-01-26T14:38:05.244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Lucas Miguel Leal da Silva" userId="S::lucas.msilva@sp.senai.br::5c40faec-5f1f-47e9-a958-68edb761d629" providerId="AD" clId="Web-{E274CB7D-D5F6-CB88-97F7-1F9BAF23F222}"/>
    <pc:docChg chg="modSld">
      <pc:chgData name="Lucas Miguel Leal da Silva" userId="S::lucas.msilva@sp.senai.br::5c40faec-5f1f-47e9-a958-68edb761d629" providerId="AD" clId="Web-{E274CB7D-D5F6-CB88-97F7-1F9BAF23F222}" dt="2021-11-30T01:31:45.183" v="9"/>
      <pc:docMkLst>
        <pc:docMk/>
      </pc:docMkLst>
      <pc:sldChg chg="addSp delSp modSp">
        <pc:chgData name="Lucas Miguel Leal da Silva" userId="S::lucas.msilva@sp.senai.br::5c40faec-5f1f-47e9-a958-68edb761d629" providerId="AD" clId="Web-{E274CB7D-D5F6-CB88-97F7-1F9BAF23F222}" dt="2021-11-30T01:31:45.183" v="9"/>
        <pc:sldMkLst>
          <pc:docMk/>
          <pc:sldMk cId="0" sldId="257"/>
        </pc:sldMkLst>
        <pc:spChg chg="del mod">
          <ac:chgData name="Lucas Miguel Leal da Silva" userId="S::lucas.msilva@sp.senai.br::5c40faec-5f1f-47e9-a958-68edb761d629" providerId="AD" clId="Web-{E274CB7D-D5F6-CB88-97F7-1F9BAF23F222}" dt="2021-11-30T01:31:37.698" v="7"/>
          <ac:spMkLst>
            <pc:docMk/>
            <pc:sldMk cId="0" sldId="257"/>
            <ac:spMk id="71" creationId="{00000000-0000-0000-0000-000000000000}"/>
          </ac:spMkLst>
        </pc:spChg>
        <pc:spChg chg="add mod">
          <ac:chgData name="Lucas Miguel Leal da Silva" userId="S::lucas.msilva@sp.senai.br::5c40faec-5f1f-47e9-a958-68edb761d629" providerId="AD" clId="Web-{E274CB7D-D5F6-CB88-97F7-1F9BAF23F222}" dt="2021-11-30T01:31:42.995" v="8"/>
          <ac:spMkLst>
            <pc:docMk/>
            <pc:sldMk cId="0" sldId="257"/>
            <ac:spMk id="77" creationId="{1A8410D5-09A9-4E9A-8324-AE05DD12526F}"/>
          </ac:spMkLst>
        </pc:spChg>
        <pc:spChg chg="add del mod">
          <ac:chgData name="Lucas Miguel Leal da Silva" userId="S::lucas.msilva@sp.senai.br::5c40faec-5f1f-47e9-a958-68edb761d629" providerId="AD" clId="Web-{E274CB7D-D5F6-CB88-97F7-1F9BAF23F222}" dt="2021-11-30T01:31:45.183" v="9"/>
          <ac:spMkLst>
            <pc:docMk/>
            <pc:sldMk cId="0" sldId="257"/>
            <ac:spMk id="79" creationId="{F8D9D440-CCAE-4CA4-875F-AD08D54F116D}"/>
          </ac:spMkLst>
        </pc:spChg>
        <pc:grpChg chg="del mod">
          <ac:chgData name="Lucas Miguel Leal da Silva" userId="S::lucas.msilva@sp.senai.br::5c40faec-5f1f-47e9-a958-68edb761d629" providerId="AD" clId="Web-{E274CB7D-D5F6-CB88-97F7-1F9BAF23F222}" dt="2021-11-30T01:31:06.979" v="2"/>
          <ac:grpSpMkLst>
            <pc:docMk/>
            <pc:sldMk cId="0" sldId="257"/>
            <ac:grpSpMk id="4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20.510" v="5"/>
          <ac:grpSpMkLst>
            <pc:docMk/>
            <pc:sldMk cId="0" sldId="257"/>
            <ac:grpSpMk id="75" creationId="{0BCB4BF7-1C02-4670-98EB-A548B299ADD0}"/>
          </ac:grpSpMkLst>
        </pc:grpChg>
      </pc:sldChg>
      <pc:sldChg chg="addSp delSp">
        <pc:chgData name="Lucas Miguel Leal da Silva" userId="S::lucas.msilva@sp.senai.br::5c40faec-5f1f-47e9-a958-68edb761d629" providerId="AD" clId="Web-{E274CB7D-D5F6-CB88-97F7-1F9BAF23F222}" dt="2021-11-30T01:31:18.042" v="4"/>
        <pc:sldMkLst>
          <pc:docMk/>
          <pc:sldMk cId="0" sldId="258"/>
        </pc:sldMkLst>
        <pc:grpChg chg="del">
          <ac:chgData name="Lucas Miguel Leal da Silva" userId="S::lucas.msilva@sp.senai.br::5c40faec-5f1f-47e9-a958-68edb761d629" providerId="AD" clId="Web-{E274CB7D-D5F6-CB88-97F7-1F9BAF23F222}" dt="2021-11-30T01:31:18.042" v="4"/>
          <ac:grpSpMkLst>
            <pc:docMk/>
            <pc:sldMk cId="0" sldId="258"/>
            <ac:grpSpMk id="66" creationId="{00000000-0000-0000-0000-000000000000}"/>
          </ac:grpSpMkLst>
        </pc:grpChg>
        <pc:grpChg chg="add">
          <ac:chgData name="Lucas Miguel Leal da Silva" userId="S::lucas.msilva@sp.senai.br::5c40faec-5f1f-47e9-a958-68edb761d629" providerId="AD" clId="Web-{E274CB7D-D5F6-CB88-97F7-1F9BAF23F222}" dt="2021-11-30T01:31:14.854" v="3"/>
          <ac:grpSpMkLst>
            <pc:docMk/>
            <pc:sldMk cId="0" sldId="258"/>
            <ac:grpSpMk id="75" creationId="{28DCA77A-25D6-4AC8-926C-CA966CB46EF3}"/>
          </ac:grpSpMkLst>
        </pc:grpChg>
      </pc:sldChg>
    </pc:docChg>
  </pc:docChgLst>
  <pc:docChgLst>
    <pc:chgData name="Aruana Marcondes" userId="S::aruana.marcondes@sp.senai.br::3b5ba883-9796-4925-87dd-7395c5a849ef" providerId="AD" clId="Web-{280E3ABB-C11A-BBD9-2802-532C104E159E}"/>
    <pc:docChg chg="modSld">
      <pc:chgData name="Aruana Marcondes" userId="S::aruana.marcondes@sp.senai.br::3b5ba883-9796-4925-87dd-7395c5a849ef" providerId="AD" clId="Web-{280E3ABB-C11A-BBD9-2802-532C104E159E}" dt="2022-01-25T14:55:06.476" v="0"/>
      <pc:docMkLst>
        <pc:docMk/>
      </pc:docMkLst>
      <pc:sldChg chg="addSp modSp">
        <pc:chgData name="Aruana Marcondes" userId="S::aruana.marcondes@sp.senai.br::3b5ba883-9796-4925-87dd-7395c5a849ef" providerId="AD" clId="Web-{280E3ABB-C11A-BBD9-2802-532C104E159E}" dt="2022-01-25T14:55:06.476" v="0"/>
        <pc:sldMkLst>
          <pc:docMk/>
          <pc:sldMk cId="0" sldId="258"/>
        </pc:sldMkLst>
        <pc:picChg chg="add mod">
          <ac:chgData name="Aruana Marcondes" userId="S::aruana.marcondes@sp.senai.br::3b5ba883-9796-4925-87dd-7395c5a849ef" providerId="AD" clId="Web-{280E3ABB-C11A-BBD9-2802-532C104E159E}" dt="2022-01-25T14:55:06.476" v="0"/>
          <ac:picMkLst>
            <pc:docMk/>
            <pc:sldMk cId="0" sldId="258"/>
            <ac:picMk id="66" creationId="{06106D5E-0E16-4805-AB25-BF77A3F07626}"/>
          </ac:picMkLst>
        </pc:picChg>
      </pc:sldChg>
    </pc:docChg>
  </pc:docChgLst>
  <pc:docChgLst>
    <pc:chgData name="Adelia Bianca Magi de Moura" userId="S::adelia.moura@sp.senai.br::1d064294-64c6-4623-8dcc-126153f5c19e" providerId="AD" clId="Web-{E997C4D9-1869-CBC7-0693-58570764A1CA}"/>
    <pc:docChg chg="modSld">
      <pc:chgData name="Adelia Bianca Magi de Moura" userId="S::adelia.moura@sp.senai.br::1d064294-64c6-4623-8dcc-126153f5c19e" providerId="AD" clId="Web-{E997C4D9-1869-CBC7-0693-58570764A1CA}" dt="2022-08-15T19:44:12.365" v="15" actId="1076"/>
      <pc:docMkLst>
        <pc:docMk/>
      </pc:docMkLst>
      <pc:sldChg chg="addSp delSp modSp">
        <pc:chgData name="Adelia Bianca Magi de Moura" userId="S::adelia.moura@sp.senai.br::1d064294-64c6-4623-8dcc-126153f5c19e" providerId="AD" clId="Web-{E997C4D9-1869-CBC7-0693-58570764A1CA}" dt="2022-08-15T19:44:12.365" v="15" actId="1076"/>
        <pc:sldMkLst>
          <pc:docMk/>
          <pc:sldMk cId="0" sldId="277"/>
        </pc:sldMkLst>
        <pc:spChg chg="add del">
          <ac:chgData name="Adelia Bianca Magi de Moura" userId="S::adelia.moura@sp.senai.br::1d064294-64c6-4623-8dcc-126153f5c19e" providerId="AD" clId="Web-{E997C4D9-1869-CBC7-0693-58570764A1CA}" dt="2022-08-15T19:44:00.364" v="11"/>
          <ac:spMkLst>
            <pc:docMk/>
            <pc:sldMk cId="0" sldId="277"/>
            <ac:spMk id="4" creationId="{00000000-0000-0000-0000-000000000000}"/>
          </ac:spMkLst>
        </pc:spChg>
        <pc:spChg chg="mod">
          <ac:chgData name="Adelia Bianca Magi de Moura" userId="S::adelia.moura@sp.senai.br::1d064294-64c6-4623-8dcc-126153f5c19e" providerId="AD" clId="Web-{E997C4D9-1869-CBC7-0693-58570764A1CA}" dt="2022-08-15T19:44:12.365" v="15" actId="1076"/>
          <ac:spMkLst>
            <pc:docMk/>
            <pc:sldMk cId="0" sldId="277"/>
            <ac:spMk id="5" creationId="{00000000-0000-0000-0000-000000000000}"/>
          </ac:spMkLst>
        </pc:spChg>
        <pc:grpChg chg="mod">
          <ac:chgData name="Adelia Bianca Magi de Moura" userId="S::adelia.moura@sp.senai.br::1d064294-64c6-4623-8dcc-126153f5c19e" providerId="AD" clId="Web-{E997C4D9-1869-CBC7-0693-58570764A1CA}" dt="2022-08-15T19:44:06.521" v="13" actId="1076"/>
          <ac:grpSpMkLst>
            <pc:docMk/>
            <pc:sldMk cId="0" sldId="277"/>
            <ac:grpSpMk id="2" creationId="{00000000-0000-0000-0000-000000000000}"/>
          </ac:grpSpMkLst>
        </pc:grpChg>
        <pc:grpChg chg="mod">
          <ac:chgData name="Adelia Bianca Magi de Moura" userId="S::adelia.moura@sp.senai.br::1d064294-64c6-4623-8dcc-126153f5c19e" providerId="AD" clId="Web-{E997C4D9-1869-CBC7-0693-58570764A1CA}" dt="2022-08-15T19:43:38.489" v="10" actId="1076"/>
          <ac:grpSpMkLst>
            <pc:docMk/>
            <pc:sldMk cId="0" sldId="277"/>
            <ac:grpSpMk id="8" creationId="{00000000-0000-0000-0000-000000000000}"/>
          </ac:grpSpMkLst>
        </pc:grpChg>
      </pc:sldChg>
    </pc:docChg>
  </pc:docChgLst>
  <pc:docChgLst>
    <pc:chgData name="Luciana Seguin E Seguin" userId="S::luciana.seguin@sp.senai.br::c06bbc8a-9dca-427a-8349-4d2edc3ff980" providerId="AD" clId="Web-{67B79760-9B19-EA06-B321-81BE3DC8DF22}"/>
    <pc:docChg chg="modSld">
      <pc:chgData name="Luciana Seguin E Seguin" userId="S::luciana.seguin@sp.senai.br::c06bbc8a-9dca-427a-8349-4d2edc3ff980" providerId="AD" clId="Web-{67B79760-9B19-EA06-B321-81BE3DC8DF22}" dt="2022-01-28T13:28:15.146" v="5" actId="20577"/>
      <pc:docMkLst>
        <pc:docMk/>
      </pc:docMkLst>
      <pc:sldChg chg="modSp">
        <pc:chgData name="Luciana Seguin E Seguin" userId="S::luciana.seguin@sp.senai.br::c06bbc8a-9dca-427a-8349-4d2edc3ff980" providerId="AD" clId="Web-{67B79760-9B19-EA06-B321-81BE3DC8DF22}" dt="2022-01-28T13:27:58.270" v="2" actId="20577"/>
        <pc:sldMkLst>
          <pc:docMk/>
          <pc:sldMk cId="0" sldId="261"/>
        </pc:sldMkLst>
        <pc:spChg chg="mod">
          <ac:chgData name="Luciana Seguin E Seguin" userId="S::luciana.seguin@sp.senai.br::c06bbc8a-9dca-427a-8349-4d2edc3ff980" providerId="AD" clId="Web-{67B79760-9B19-EA06-B321-81BE3DC8DF22}" dt="2022-01-28T13:27:58.270" v="2" actId="20577"/>
          <ac:spMkLst>
            <pc:docMk/>
            <pc:sldMk cId="0" sldId="261"/>
            <ac:spMk id="15" creationId="{00000000-0000-0000-0000-000000000000}"/>
          </ac:spMkLst>
        </pc:spChg>
      </pc:sldChg>
      <pc:sldChg chg="modSp">
        <pc:chgData name="Luciana Seguin E Seguin" userId="S::luciana.seguin@sp.senai.br::c06bbc8a-9dca-427a-8349-4d2edc3ff980" providerId="AD" clId="Web-{67B79760-9B19-EA06-B321-81BE3DC8DF22}" dt="2022-01-28T13:28:15.146" v="5" actId="20577"/>
        <pc:sldMkLst>
          <pc:docMk/>
          <pc:sldMk cId="0" sldId="270"/>
        </pc:sldMkLst>
        <pc:spChg chg="mod">
          <ac:chgData name="Luciana Seguin E Seguin" userId="S::luciana.seguin@sp.senai.br::c06bbc8a-9dca-427a-8349-4d2edc3ff980" providerId="AD" clId="Web-{67B79760-9B19-EA06-B321-81BE3DC8DF22}" dt="2022-01-28T13:28:15.146" v="5" actId="20577"/>
          <ac:spMkLst>
            <pc:docMk/>
            <pc:sldMk cId="0" sldId="270"/>
            <ac:spMk id="7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ebp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jpeg"/><Relationship Id="rId4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.senai.br/" TargetMode="External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972"/>
            <a:chOff x="0" y="0"/>
            <a:chExt cx="20104100" cy="1130897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806190" y="4825978"/>
              <a:ext cx="6492240" cy="1656714"/>
            </a:xfrm>
            <a:custGeom>
              <a:avLst/>
              <a:gdLst/>
              <a:ahLst/>
              <a:cxnLst/>
              <a:rect l="l" t="t" r="r" b="b"/>
              <a:pathLst>
                <a:path w="6492240" h="1656714">
                  <a:moveTo>
                    <a:pt x="6491833" y="0"/>
                  </a:moveTo>
                  <a:lnTo>
                    <a:pt x="0" y="0"/>
                  </a:lnTo>
                  <a:lnTo>
                    <a:pt x="0" y="1656609"/>
                  </a:lnTo>
                  <a:lnTo>
                    <a:pt x="6491833" y="1656609"/>
                  </a:lnTo>
                  <a:lnTo>
                    <a:pt x="6491833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806069" y="5037842"/>
              <a:ext cx="6492240" cy="1230630"/>
            </a:xfrm>
            <a:custGeom>
              <a:avLst/>
              <a:gdLst/>
              <a:ahLst/>
              <a:cxnLst/>
              <a:rect l="l" t="t" r="r" b="b"/>
              <a:pathLst>
                <a:path w="6492240" h="1230629">
                  <a:moveTo>
                    <a:pt x="348691" y="1161948"/>
                  </a:moveTo>
                  <a:lnTo>
                    <a:pt x="0" y="1161948"/>
                  </a:lnTo>
                  <a:lnTo>
                    <a:pt x="0" y="1205585"/>
                  </a:lnTo>
                  <a:lnTo>
                    <a:pt x="348691" y="1205585"/>
                  </a:lnTo>
                  <a:lnTo>
                    <a:pt x="348691" y="1161948"/>
                  </a:lnTo>
                  <a:close/>
                </a:path>
                <a:path w="6492240" h="1230629">
                  <a:moveTo>
                    <a:pt x="348691" y="882891"/>
                  </a:moveTo>
                  <a:lnTo>
                    <a:pt x="0" y="882891"/>
                  </a:lnTo>
                  <a:lnTo>
                    <a:pt x="0" y="926490"/>
                  </a:lnTo>
                  <a:lnTo>
                    <a:pt x="348691" y="926490"/>
                  </a:lnTo>
                  <a:lnTo>
                    <a:pt x="348691" y="882891"/>
                  </a:lnTo>
                  <a:close/>
                </a:path>
                <a:path w="6492240" h="1230629">
                  <a:moveTo>
                    <a:pt x="348691" y="593369"/>
                  </a:moveTo>
                  <a:lnTo>
                    <a:pt x="0" y="593369"/>
                  </a:lnTo>
                  <a:lnTo>
                    <a:pt x="0" y="636981"/>
                  </a:lnTo>
                  <a:lnTo>
                    <a:pt x="348691" y="636981"/>
                  </a:lnTo>
                  <a:lnTo>
                    <a:pt x="348691" y="593369"/>
                  </a:lnTo>
                  <a:close/>
                </a:path>
                <a:path w="6492240" h="1230629">
                  <a:moveTo>
                    <a:pt x="348691" y="307733"/>
                  </a:moveTo>
                  <a:lnTo>
                    <a:pt x="0" y="307733"/>
                  </a:lnTo>
                  <a:lnTo>
                    <a:pt x="0" y="351409"/>
                  </a:lnTo>
                  <a:lnTo>
                    <a:pt x="348691" y="351409"/>
                  </a:lnTo>
                  <a:lnTo>
                    <a:pt x="348691" y="307733"/>
                  </a:lnTo>
                  <a:close/>
                </a:path>
                <a:path w="6492240" h="1230629">
                  <a:moveTo>
                    <a:pt x="348691" y="29514"/>
                  </a:moveTo>
                  <a:lnTo>
                    <a:pt x="0" y="29514"/>
                  </a:lnTo>
                  <a:lnTo>
                    <a:pt x="0" y="73126"/>
                  </a:lnTo>
                  <a:lnTo>
                    <a:pt x="348691" y="73126"/>
                  </a:lnTo>
                  <a:lnTo>
                    <a:pt x="348691" y="29514"/>
                  </a:lnTo>
                  <a:close/>
                </a:path>
                <a:path w="6492240" h="1230629">
                  <a:moveTo>
                    <a:pt x="1597647" y="267804"/>
                  </a:moveTo>
                  <a:lnTo>
                    <a:pt x="1594929" y="229044"/>
                  </a:lnTo>
                  <a:lnTo>
                    <a:pt x="1584706" y="183756"/>
                  </a:lnTo>
                  <a:lnTo>
                    <a:pt x="1568704" y="148564"/>
                  </a:lnTo>
                  <a:lnTo>
                    <a:pt x="1520291" y="90868"/>
                  </a:lnTo>
                  <a:lnTo>
                    <a:pt x="1488935" y="67945"/>
                  </a:lnTo>
                  <a:lnTo>
                    <a:pt x="1453540" y="48729"/>
                  </a:lnTo>
                  <a:lnTo>
                    <a:pt x="1414627" y="33020"/>
                  </a:lnTo>
                  <a:lnTo>
                    <a:pt x="1372730" y="20599"/>
                  </a:lnTo>
                  <a:lnTo>
                    <a:pt x="1328381" y="11290"/>
                  </a:lnTo>
                  <a:lnTo>
                    <a:pt x="1282115" y="4889"/>
                  </a:lnTo>
                  <a:lnTo>
                    <a:pt x="1234465" y="1193"/>
                  </a:lnTo>
                  <a:lnTo>
                    <a:pt x="1185964" y="0"/>
                  </a:lnTo>
                  <a:lnTo>
                    <a:pt x="1139520" y="927"/>
                  </a:lnTo>
                  <a:lnTo>
                    <a:pt x="1093025" y="3848"/>
                  </a:lnTo>
                  <a:lnTo>
                    <a:pt x="1046784" y="8940"/>
                  </a:lnTo>
                  <a:lnTo>
                    <a:pt x="1001102" y="16383"/>
                  </a:lnTo>
                  <a:lnTo>
                    <a:pt x="956259" y="26377"/>
                  </a:lnTo>
                  <a:lnTo>
                    <a:pt x="912571" y="39090"/>
                  </a:lnTo>
                  <a:lnTo>
                    <a:pt x="870331" y="54711"/>
                  </a:lnTo>
                  <a:lnTo>
                    <a:pt x="829830" y="73418"/>
                  </a:lnTo>
                  <a:lnTo>
                    <a:pt x="791387" y="95415"/>
                  </a:lnTo>
                  <a:lnTo>
                    <a:pt x="755281" y="120878"/>
                  </a:lnTo>
                  <a:lnTo>
                    <a:pt x="721817" y="149974"/>
                  </a:lnTo>
                  <a:lnTo>
                    <a:pt x="691299" y="182918"/>
                  </a:lnTo>
                  <a:lnTo>
                    <a:pt x="664019" y="219862"/>
                  </a:lnTo>
                  <a:lnTo>
                    <a:pt x="640270" y="261010"/>
                  </a:lnTo>
                  <a:lnTo>
                    <a:pt x="620369" y="306552"/>
                  </a:lnTo>
                  <a:lnTo>
                    <a:pt x="604596" y="356666"/>
                  </a:lnTo>
                  <a:lnTo>
                    <a:pt x="596900" y="410032"/>
                  </a:lnTo>
                  <a:lnTo>
                    <a:pt x="597052" y="460375"/>
                  </a:lnTo>
                  <a:lnTo>
                    <a:pt x="605218" y="507060"/>
                  </a:lnTo>
                  <a:lnTo>
                    <a:pt x="621588" y="549465"/>
                  </a:lnTo>
                  <a:lnTo>
                    <a:pt x="646328" y="586930"/>
                  </a:lnTo>
                  <a:lnTo>
                    <a:pt x="679602" y="618871"/>
                  </a:lnTo>
                  <a:lnTo>
                    <a:pt x="721588" y="644626"/>
                  </a:lnTo>
                  <a:lnTo>
                    <a:pt x="775487" y="668210"/>
                  </a:lnTo>
                  <a:lnTo>
                    <a:pt x="829157" y="687501"/>
                  </a:lnTo>
                  <a:lnTo>
                    <a:pt x="881773" y="703440"/>
                  </a:lnTo>
                  <a:lnTo>
                    <a:pt x="932522" y="716953"/>
                  </a:lnTo>
                  <a:lnTo>
                    <a:pt x="1025131" y="740435"/>
                  </a:lnTo>
                  <a:lnTo>
                    <a:pt x="1065352" y="752271"/>
                  </a:lnTo>
                  <a:lnTo>
                    <a:pt x="1129538" y="780821"/>
                  </a:lnTo>
                  <a:lnTo>
                    <a:pt x="1166558" y="822058"/>
                  </a:lnTo>
                  <a:lnTo>
                    <a:pt x="1172845" y="849782"/>
                  </a:lnTo>
                  <a:lnTo>
                    <a:pt x="1169873" y="883488"/>
                  </a:lnTo>
                  <a:lnTo>
                    <a:pt x="1150251" y="925880"/>
                  </a:lnTo>
                  <a:lnTo>
                    <a:pt x="1115136" y="958862"/>
                  </a:lnTo>
                  <a:lnTo>
                    <a:pt x="1070140" y="982408"/>
                  </a:lnTo>
                  <a:lnTo>
                    <a:pt x="1020876" y="996530"/>
                  </a:lnTo>
                  <a:lnTo>
                    <a:pt x="972985" y="1001242"/>
                  </a:lnTo>
                  <a:lnTo>
                    <a:pt x="918387" y="996238"/>
                  </a:lnTo>
                  <a:lnTo>
                    <a:pt x="873213" y="981430"/>
                  </a:lnTo>
                  <a:lnTo>
                    <a:pt x="838695" y="957072"/>
                  </a:lnTo>
                  <a:lnTo>
                    <a:pt x="816089" y="923455"/>
                  </a:lnTo>
                  <a:lnTo>
                    <a:pt x="806640" y="880833"/>
                  </a:lnTo>
                  <a:lnTo>
                    <a:pt x="811580" y="829500"/>
                  </a:lnTo>
                  <a:lnTo>
                    <a:pt x="484365" y="829500"/>
                  </a:lnTo>
                  <a:lnTo>
                    <a:pt x="476148" y="883615"/>
                  </a:lnTo>
                  <a:lnTo>
                    <a:pt x="473621" y="932954"/>
                  </a:lnTo>
                  <a:lnTo>
                    <a:pt x="476516" y="977696"/>
                  </a:lnTo>
                  <a:lnTo>
                    <a:pt x="484517" y="1018032"/>
                  </a:lnTo>
                  <a:lnTo>
                    <a:pt x="497332" y="1054163"/>
                  </a:lnTo>
                  <a:lnTo>
                    <a:pt x="536282" y="1114577"/>
                  </a:lnTo>
                  <a:lnTo>
                    <a:pt x="591019" y="1160513"/>
                  </a:lnTo>
                  <a:lnTo>
                    <a:pt x="659218" y="1193520"/>
                  </a:lnTo>
                  <a:lnTo>
                    <a:pt x="697623" y="1205674"/>
                  </a:lnTo>
                  <a:lnTo>
                    <a:pt x="738530" y="1215174"/>
                  </a:lnTo>
                  <a:lnTo>
                    <a:pt x="781634" y="1222222"/>
                  </a:lnTo>
                  <a:lnTo>
                    <a:pt x="826643" y="1227010"/>
                  </a:lnTo>
                  <a:lnTo>
                    <a:pt x="873277" y="1229741"/>
                  </a:lnTo>
                  <a:lnTo>
                    <a:pt x="921219" y="1230617"/>
                  </a:lnTo>
                  <a:lnTo>
                    <a:pt x="972362" y="1229220"/>
                  </a:lnTo>
                  <a:lnTo>
                    <a:pt x="1023124" y="1225054"/>
                  </a:lnTo>
                  <a:lnTo>
                    <a:pt x="1073188" y="1218069"/>
                  </a:lnTo>
                  <a:lnTo>
                    <a:pt x="1122248" y="1208278"/>
                  </a:lnTo>
                  <a:lnTo>
                    <a:pt x="1169987" y="1195628"/>
                  </a:lnTo>
                  <a:lnTo>
                    <a:pt x="1216088" y="1180134"/>
                  </a:lnTo>
                  <a:lnTo>
                    <a:pt x="1260233" y="1161757"/>
                  </a:lnTo>
                  <a:lnTo>
                    <a:pt x="1302118" y="1140472"/>
                  </a:lnTo>
                  <a:lnTo>
                    <a:pt x="1341412" y="1116291"/>
                  </a:lnTo>
                  <a:lnTo>
                    <a:pt x="1377810" y="1089164"/>
                  </a:lnTo>
                  <a:lnTo>
                    <a:pt x="1411008" y="1059091"/>
                  </a:lnTo>
                  <a:lnTo>
                    <a:pt x="1440675" y="1026045"/>
                  </a:lnTo>
                  <a:lnTo>
                    <a:pt x="1458455" y="1001242"/>
                  </a:lnTo>
                  <a:lnTo>
                    <a:pt x="1466494" y="990028"/>
                  </a:lnTo>
                  <a:lnTo>
                    <a:pt x="1488173" y="950988"/>
                  </a:lnTo>
                  <a:lnTo>
                    <a:pt x="1505369" y="908926"/>
                  </a:lnTo>
                  <a:lnTo>
                    <a:pt x="1517789" y="863828"/>
                  </a:lnTo>
                  <a:lnTo>
                    <a:pt x="1526463" y="807440"/>
                  </a:lnTo>
                  <a:lnTo>
                    <a:pt x="1527556" y="757580"/>
                  </a:lnTo>
                  <a:lnTo>
                    <a:pt x="1521739" y="713778"/>
                  </a:lnTo>
                  <a:lnTo>
                    <a:pt x="1509649" y="675538"/>
                  </a:lnTo>
                  <a:lnTo>
                    <a:pt x="1469301" y="613803"/>
                  </a:lnTo>
                  <a:lnTo>
                    <a:pt x="1411757" y="568528"/>
                  </a:lnTo>
                  <a:lnTo>
                    <a:pt x="1342263" y="535825"/>
                  </a:lnTo>
                  <a:lnTo>
                    <a:pt x="1304671" y="522973"/>
                  </a:lnTo>
                  <a:lnTo>
                    <a:pt x="1266063" y="511822"/>
                  </a:lnTo>
                  <a:lnTo>
                    <a:pt x="1227086" y="501878"/>
                  </a:lnTo>
                  <a:lnTo>
                    <a:pt x="1150658" y="483654"/>
                  </a:lnTo>
                  <a:lnTo>
                    <a:pt x="1114513" y="474421"/>
                  </a:lnTo>
                  <a:lnTo>
                    <a:pt x="1064463" y="459676"/>
                  </a:lnTo>
                  <a:lnTo>
                    <a:pt x="1016800" y="441147"/>
                  </a:lnTo>
                  <a:lnTo>
                    <a:pt x="977925" y="416255"/>
                  </a:lnTo>
                  <a:lnTo>
                    <a:pt x="954265" y="382409"/>
                  </a:lnTo>
                  <a:lnTo>
                    <a:pt x="952258" y="337007"/>
                  </a:lnTo>
                  <a:lnTo>
                    <a:pt x="972540" y="295287"/>
                  </a:lnTo>
                  <a:lnTo>
                    <a:pt x="1010564" y="260934"/>
                  </a:lnTo>
                  <a:lnTo>
                    <a:pt x="1060335" y="237629"/>
                  </a:lnTo>
                  <a:lnTo>
                    <a:pt x="1115885" y="229044"/>
                  </a:lnTo>
                  <a:lnTo>
                    <a:pt x="1154633" y="231470"/>
                  </a:lnTo>
                  <a:lnTo>
                    <a:pt x="1213764" y="250469"/>
                  </a:lnTo>
                  <a:lnTo>
                    <a:pt x="1248956" y="286981"/>
                  </a:lnTo>
                  <a:lnTo>
                    <a:pt x="1259357" y="339166"/>
                  </a:lnTo>
                  <a:lnTo>
                    <a:pt x="1254417" y="371386"/>
                  </a:lnTo>
                  <a:lnTo>
                    <a:pt x="1581594" y="371386"/>
                  </a:lnTo>
                  <a:lnTo>
                    <a:pt x="1593507" y="317055"/>
                  </a:lnTo>
                  <a:lnTo>
                    <a:pt x="1597647" y="267804"/>
                  </a:lnTo>
                  <a:close/>
                </a:path>
                <a:path w="6492240" h="1230629">
                  <a:moveTo>
                    <a:pt x="2779204" y="24511"/>
                  </a:moveTo>
                  <a:lnTo>
                    <a:pt x="1879384" y="24511"/>
                  </a:lnTo>
                  <a:lnTo>
                    <a:pt x="1628279" y="1205801"/>
                  </a:lnTo>
                  <a:lnTo>
                    <a:pt x="2528112" y="1205801"/>
                  </a:lnTo>
                  <a:lnTo>
                    <a:pt x="2576906" y="976693"/>
                  </a:lnTo>
                  <a:lnTo>
                    <a:pt x="2004250" y="976693"/>
                  </a:lnTo>
                  <a:lnTo>
                    <a:pt x="2057425" y="726376"/>
                  </a:lnTo>
                  <a:lnTo>
                    <a:pt x="2584246" y="726376"/>
                  </a:lnTo>
                  <a:lnTo>
                    <a:pt x="2632786" y="497420"/>
                  </a:lnTo>
                  <a:lnTo>
                    <a:pt x="2105964" y="497420"/>
                  </a:lnTo>
                  <a:lnTo>
                    <a:pt x="2157768" y="253555"/>
                  </a:lnTo>
                  <a:lnTo>
                    <a:pt x="2730411" y="253555"/>
                  </a:lnTo>
                  <a:lnTo>
                    <a:pt x="2779204" y="24511"/>
                  </a:lnTo>
                  <a:close/>
                </a:path>
                <a:path w="6492240" h="1230629">
                  <a:moveTo>
                    <a:pt x="4115854" y="24511"/>
                  </a:moveTo>
                  <a:lnTo>
                    <a:pt x="3821379" y="24511"/>
                  </a:lnTo>
                  <a:lnTo>
                    <a:pt x="3634879" y="901433"/>
                  </a:lnTo>
                  <a:lnTo>
                    <a:pt x="3631057" y="904773"/>
                  </a:lnTo>
                  <a:lnTo>
                    <a:pt x="3487813" y="301078"/>
                  </a:lnTo>
                  <a:lnTo>
                    <a:pt x="3422192" y="24511"/>
                  </a:lnTo>
                  <a:lnTo>
                    <a:pt x="2964078" y="24511"/>
                  </a:lnTo>
                  <a:lnTo>
                    <a:pt x="2712948" y="1205801"/>
                  </a:lnTo>
                  <a:lnTo>
                    <a:pt x="3007461" y="1205801"/>
                  </a:lnTo>
                  <a:lnTo>
                    <a:pt x="3199714" y="301078"/>
                  </a:lnTo>
                  <a:lnTo>
                    <a:pt x="3202978" y="301078"/>
                  </a:lnTo>
                  <a:lnTo>
                    <a:pt x="3411550" y="1205801"/>
                  </a:lnTo>
                  <a:lnTo>
                    <a:pt x="3864762" y="1205801"/>
                  </a:lnTo>
                  <a:lnTo>
                    <a:pt x="3928745" y="904773"/>
                  </a:lnTo>
                  <a:lnTo>
                    <a:pt x="4115854" y="24511"/>
                  </a:lnTo>
                  <a:close/>
                </a:path>
                <a:path w="6492240" h="1230629">
                  <a:moveTo>
                    <a:pt x="5317591" y="1205801"/>
                  </a:moveTo>
                  <a:lnTo>
                    <a:pt x="5275567" y="975106"/>
                  </a:lnTo>
                  <a:lnTo>
                    <a:pt x="5233860" y="746061"/>
                  </a:lnTo>
                  <a:lnTo>
                    <a:pt x="5144465" y="255181"/>
                  </a:lnTo>
                  <a:lnTo>
                    <a:pt x="5102453" y="24511"/>
                  </a:lnTo>
                  <a:lnTo>
                    <a:pt x="4886769" y="24511"/>
                  </a:lnTo>
                  <a:lnTo>
                    <a:pt x="4886769" y="746061"/>
                  </a:lnTo>
                  <a:lnTo>
                    <a:pt x="4571009" y="746061"/>
                  </a:lnTo>
                  <a:lnTo>
                    <a:pt x="4835753" y="255181"/>
                  </a:lnTo>
                  <a:lnTo>
                    <a:pt x="4840643" y="255181"/>
                  </a:lnTo>
                  <a:lnTo>
                    <a:pt x="4886769" y="746061"/>
                  </a:lnTo>
                  <a:lnTo>
                    <a:pt x="4886769" y="24511"/>
                  </a:lnTo>
                  <a:lnTo>
                    <a:pt x="4703229" y="24511"/>
                  </a:lnTo>
                  <a:lnTo>
                    <a:pt x="3985780" y="1205801"/>
                  </a:lnTo>
                  <a:lnTo>
                    <a:pt x="4313047" y="1205801"/>
                  </a:lnTo>
                  <a:lnTo>
                    <a:pt x="4439005" y="975106"/>
                  </a:lnTo>
                  <a:lnTo>
                    <a:pt x="4918392" y="975106"/>
                  </a:lnTo>
                  <a:lnTo>
                    <a:pt x="4947831" y="1205801"/>
                  </a:lnTo>
                  <a:lnTo>
                    <a:pt x="5317591" y="1205801"/>
                  </a:lnTo>
                  <a:close/>
                </a:path>
                <a:path w="6492240" h="1230629">
                  <a:moveTo>
                    <a:pt x="6020232" y="24511"/>
                  </a:moveTo>
                  <a:lnTo>
                    <a:pt x="5693041" y="24511"/>
                  </a:lnTo>
                  <a:lnTo>
                    <a:pt x="5441874" y="1205801"/>
                  </a:lnTo>
                  <a:lnTo>
                    <a:pt x="5769140" y="1205801"/>
                  </a:lnTo>
                  <a:lnTo>
                    <a:pt x="6020232" y="24511"/>
                  </a:lnTo>
                  <a:close/>
                </a:path>
                <a:path w="6492240" h="1230629">
                  <a:moveTo>
                    <a:pt x="6491808" y="1161948"/>
                  </a:moveTo>
                  <a:lnTo>
                    <a:pt x="6143117" y="1161948"/>
                  </a:lnTo>
                  <a:lnTo>
                    <a:pt x="6143117" y="1205585"/>
                  </a:lnTo>
                  <a:lnTo>
                    <a:pt x="6491808" y="1205585"/>
                  </a:lnTo>
                  <a:lnTo>
                    <a:pt x="6491808" y="1161948"/>
                  </a:lnTo>
                  <a:close/>
                </a:path>
                <a:path w="6492240" h="1230629">
                  <a:moveTo>
                    <a:pt x="6491808" y="882891"/>
                  </a:moveTo>
                  <a:lnTo>
                    <a:pt x="6143117" y="882891"/>
                  </a:lnTo>
                  <a:lnTo>
                    <a:pt x="6143117" y="926490"/>
                  </a:lnTo>
                  <a:lnTo>
                    <a:pt x="6491808" y="926490"/>
                  </a:lnTo>
                  <a:lnTo>
                    <a:pt x="6491808" y="882891"/>
                  </a:lnTo>
                  <a:close/>
                </a:path>
                <a:path w="6492240" h="1230629">
                  <a:moveTo>
                    <a:pt x="6491808" y="593369"/>
                  </a:moveTo>
                  <a:lnTo>
                    <a:pt x="6143117" y="593369"/>
                  </a:lnTo>
                  <a:lnTo>
                    <a:pt x="6143117" y="636981"/>
                  </a:lnTo>
                  <a:lnTo>
                    <a:pt x="6491808" y="636981"/>
                  </a:lnTo>
                  <a:lnTo>
                    <a:pt x="6491808" y="593369"/>
                  </a:lnTo>
                  <a:close/>
                </a:path>
                <a:path w="6492240" h="1230629">
                  <a:moveTo>
                    <a:pt x="6491808" y="307733"/>
                  </a:moveTo>
                  <a:lnTo>
                    <a:pt x="6143117" y="307733"/>
                  </a:lnTo>
                  <a:lnTo>
                    <a:pt x="6143117" y="351409"/>
                  </a:lnTo>
                  <a:lnTo>
                    <a:pt x="6491808" y="351409"/>
                  </a:lnTo>
                  <a:lnTo>
                    <a:pt x="6491808" y="307733"/>
                  </a:lnTo>
                  <a:close/>
                </a:path>
                <a:path w="6492240" h="1230629">
                  <a:moveTo>
                    <a:pt x="6491808" y="29514"/>
                  </a:moveTo>
                  <a:lnTo>
                    <a:pt x="6143117" y="29514"/>
                  </a:lnTo>
                  <a:lnTo>
                    <a:pt x="6143117" y="73126"/>
                  </a:lnTo>
                  <a:lnTo>
                    <a:pt x="6491808" y="73126"/>
                  </a:lnTo>
                  <a:lnTo>
                    <a:pt x="6491808" y="295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m 76" descr="8 vantagens do Machine Learning na indústria">
            <a:extLst>
              <a:ext uri="{FF2B5EF4-FFF2-40B4-BE49-F238E27FC236}">
                <a16:creationId xmlns:a16="http://schemas.microsoft.com/office/drawing/2014/main" id="{F39F2444-AEBE-B8B6-F6BE-D19159E59B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0072" r="4998"/>
          <a:stretch>
            <a:fillRect/>
          </a:stretch>
        </p:blipFill>
        <p:spPr>
          <a:xfrm>
            <a:off x="-10361" y="-416"/>
            <a:ext cx="14324061" cy="11147233"/>
          </a:xfrm>
          <a:prstGeom prst="rect">
            <a:avLst/>
          </a:prstGeom>
        </p:spPr>
      </p:pic>
      <p:grpSp>
        <p:nvGrpSpPr>
          <p:cNvPr id="2" name="object 2"/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/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/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/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/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/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/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/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/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/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/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/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/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/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/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/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/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/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/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/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/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/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/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/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/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72"/>
          <p:cNvSpPr txBox="1">
            <a:spLocks noGrp="1"/>
          </p:cNvSpPr>
          <p:nvPr>
            <p:ph type="title"/>
          </p:nvPr>
        </p:nvSpPr>
        <p:spPr>
          <a:xfrm>
            <a:off x="4827905" y="3799940"/>
            <a:ext cx="10448290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11500" spc="10" dirty="0">
                <a:solidFill>
                  <a:srgbClr val="FFFFFF"/>
                </a:solidFill>
              </a:rPr>
              <a:t>MACHINE</a:t>
            </a:r>
            <a:r>
              <a:rPr sz="11500" spc="270" dirty="0">
                <a:solidFill>
                  <a:srgbClr val="FFFFFF"/>
                </a:solidFill>
              </a:rPr>
              <a:t> </a:t>
            </a:r>
            <a:r>
              <a:rPr lang="pt-BR" sz="115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LEARNING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MACHINE LEARNING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O que é?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DCA77A-25D6-4AC8-926C-CA966CB46EF3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D8A9D94-9D25-4BC4-9A69-403DAF9F103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482F69B-C046-4033-9E32-A86819E227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6" name="object 71">
            <a:extLst>
              <a:ext uri="{FF2B5EF4-FFF2-40B4-BE49-F238E27FC236}">
                <a16:creationId xmlns:a16="http://schemas.microsoft.com/office/drawing/2014/main" id="{5AAA8034-8B59-CBAA-3761-48038EFCF976}"/>
              </a:ext>
            </a:extLst>
          </p:cNvPr>
          <p:cNvSpPr txBox="1">
            <a:spLocks/>
          </p:cNvSpPr>
          <p:nvPr/>
        </p:nvSpPr>
        <p:spPr>
          <a:xfrm>
            <a:off x="1509065" y="3556704"/>
            <a:ext cx="17495592" cy="64754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Machine Learning (ou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aprendizado de máquina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) é um subconjunto da Inteligência Artificial que permite aos sistemas de computadores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aprenderem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e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melhorarem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forma autônoma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por meio de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dados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,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sem a necessidade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serem explicitamente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programados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para cada tarefa.</a:t>
            </a:r>
            <a:endParaRPr lang="pt-BR" sz="6000" kern="0" dirty="0">
              <a:latin typeface="Montserrat" panose="00000500000000000000" pitchFamily="2" charset="0"/>
              <a:cs typeface="Montserra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/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/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/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/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/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/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/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/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/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/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/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/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/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/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/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/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/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/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/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/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/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/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/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/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/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/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/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/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/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/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/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/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/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/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/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/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/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BCB4BF7-1C02-4670-98EB-A548B299ADD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868AD09-AF0B-4F1D-A41F-9DCB2B2C408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3F5ED2F-B76A-41C2-8455-631EDC2721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A8410D5-09A9-4E9A-8324-AE05DD12526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Camadas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4" name="Imagem 3" descr="Deep learning vs. machine learning: você sabe as diferenças? - SUPERO">
            <a:extLst>
              <a:ext uri="{FF2B5EF4-FFF2-40B4-BE49-F238E27FC236}">
                <a16:creationId xmlns:a16="http://schemas.microsoft.com/office/drawing/2014/main" id="{E6AC67D6-902B-4C07-3AC9-7DC63CF0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20" t="22318" r="17572" b="15710"/>
          <a:stretch>
            <a:fillRect/>
          </a:stretch>
        </p:blipFill>
        <p:spPr>
          <a:xfrm>
            <a:off x="5708653" y="2409666"/>
            <a:ext cx="8302489" cy="816592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B980B30-6109-0C89-0AD0-2E80048AF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51FB460-72A3-35B1-A613-460818C3A0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C6A467A-EA1C-B44A-709A-4359F4BB652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D750926-49A9-0AF3-1756-A8243E51B808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C5B51B-8AFF-607B-1530-A10CBDC40A84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55DFAF7-2E6E-13C2-C01B-CD43EAD9CB23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18C84E3-B114-B05C-FBD7-1D34A07CF3A5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22669CA-3279-F967-6EE0-6A195CD0C6A6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99BEDCE-DF91-6888-F3BA-EDD8AA95605B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BDE4AEB-4D90-235C-39E8-93CC66612DE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F687007-DF15-3C56-364E-1B9FA7FEB2D4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39F3648-E6A7-D2BF-1B74-2065D062D9ED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7FA0D006-074F-95B7-A766-BAD83CF3C873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1FCF2C2-3382-0EA9-51A8-AA55C905269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CAB783-4EA9-F4D5-96B5-BA5B05D3618D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559FB13A-97A4-43A5-117F-D82D9ABAA962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79DDEE2-63D7-4174-A94B-17D8DB3687AB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63B3310-73AF-49F3-8C5E-300E5DC18364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8BDE02E-5D6E-6BEA-FFB2-73718405D164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01471B1-71DE-E8AB-8F2B-BEDEC896BD4C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26C1A521-29CD-8A9F-2B4E-75B7D939B1F0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5733265D-7C38-B80A-2539-72D3DCD21CC2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A576D697-2862-67E0-A46E-E26E68A96C53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C27DEC7F-73C0-89BB-3E3F-5D4CB48530C3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DD60EB9-9A79-FA96-715B-B301CE1CAF1C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ED6F6C6-2CAC-AE71-BE70-006A008970A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C5FE5D6-EAA9-F410-8DF6-71BE31EE1E8F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47C72F5-12C3-AA65-909A-B8DA64EE016C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BEC2CC4-5C19-2F6F-4371-67F7F6873B20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77B5F1BC-0751-C6BD-2969-C285E9B661C9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88BADAA-50CA-C27C-0A37-0970D343FF8C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3CE1B10D-0C1A-E586-AC1A-7ECF75C58FDE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8AB6676-3AA9-FF14-C025-0E5987151A85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F9ECEA53-1BD5-8491-76DB-3E0781A5CEDF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6EBEC82A-EF28-C4FE-8F4D-65917A08690A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BDA90C2B-56BB-D8F3-DA13-91B94B36C079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3C6EBF87-5810-D601-905F-9B28779C49D1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CCEBA7BC-6697-D360-12F2-1B208DD202F9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789FFF53-5527-5EA0-EDCF-1B36EC061707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5589D789-F363-DF07-DB95-36C32D25556C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85786F34-73AF-D614-46B9-74823B97333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914D82B3-B6F2-2731-EE88-7C5E97150609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43514075-D626-4C9C-F981-9129042F9C7A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84BB4A22-97FA-98BF-CD40-5DDCFB6CFEB5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7AB8040B-771D-3551-FD4C-1AF31B5BD89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4F170615-23AF-804F-B906-DB2794AA813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5A7815B2-844C-C6CF-E3D9-F7E1D7089D3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EE7792FA-870C-5654-A540-E585957F9AEC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6EC76295-F925-F75E-87E4-898D7C0B7EE6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93D9A51A-22E3-8DD2-5799-5BE193AEB315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3D3EFD13-FEE0-8B5E-2FB9-B7E9A99D45B4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EE59CB24-26BB-48E6-24C0-D071AC2150C7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7EBD2C80-B0A0-9C02-B4A3-C62F05EF9A2A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B4F2F6C-0320-EFB0-FA1B-010EA3F532F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39C094B-7DB7-3F1E-6993-4D38DB343B99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A14CB24F-82AD-6E6B-4337-25D8C1A639C9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05A69C9-D884-01C0-BA16-931FD6A53CA2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79763CE9-DA89-924D-69F4-A9BDFF1DD4F3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35AB2BDC-1E25-3784-FD4B-25D15AEE2AD4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9CCA9FBB-2C08-19A6-982C-9E3CC79805C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4F1877DA-D356-229E-8C31-EDD89E3D9FF1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40697B15-9F8A-23DF-32C4-7ED28950C6C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C10C3DFB-7E6C-490E-5B51-461FE7AC273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F4DE88EF-328B-4BE7-E01B-4A103C857138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C622D88C-D689-CA11-901F-83ED70C81FA4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B80BA095-10CD-B3FC-7765-ACA35A41B70B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F2FBD738-0703-51C0-4043-684B6027038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0516CED0-C302-AB82-CE1E-965B23413AE1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B27B3EE8-EA9D-D624-327D-9C6F1AFEE92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0BF13E7B-5D09-4A6E-9A50-E1531C87662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8E74E9F1-FE0B-E228-0AEA-78EA4DD1FA2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Resumindo Camadas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6" name="Imagem 5" descr="Deep learning o que é e por que é a chave para a inteligência artificial -  Iberdrola">
            <a:extLst>
              <a:ext uri="{FF2B5EF4-FFF2-40B4-BE49-F238E27FC236}">
                <a16:creationId xmlns:a16="http://schemas.microsoft.com/office/drawing/2014/main" id="{3CBC7E23-69B8-6434-0E5D-0A7017D986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7" t="26257" b="8486"/>
          <a:stretch>
            <a:fillRect/>
          </a:stretch>
        </p:blipFill>
        <p:spPr>
          <a:xfrm>
            <a:off x="2851024" y="2532253"/>
            <a:ext cx="14402051" cy="817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43849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45F9B-D0F6-6043-BD9C-4858DA481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Imagem 76" descr="Introdução à Aprendizagem de Máquina (Machine Learning): Aprendizagem  Supervisionada - Parte (1/3)">
            <a:extLst>
              <a:ext uri="{FF2B5EF4-FFF2-40B4-BE49-F238E27FC236}">
                <a16:creationId xmlns:a16="http://schemas.microsoft.com/office/drawing/2014/main" id="{1709F0CC-6D32-A91B-C1DC-15954C6664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11567" r="8207"/>
          <a:stretch>
            <a:fillRect/>
          </a:stretch>
        </p:blipFill>
        <p:spPr>
          <a:xfrm>
            <a:off x="0" y="0"/>
            <a:ext cx="14313700" cy="11151076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952ADFB6-415A-F854-19AB-EEAF7BD00FA5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E61E5AD-497F-7C68-5521-002996550F4F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B705A6-89BE-B420-5CC0-9897E91A4A2D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681A388C-B78A-8FF6-A3E6-9A5ABC6468FC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867BE5D-5CDB-8F10-0C5F-AECA1663994F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A60EF41-5F2E-699E-DCDF-E1D111EDC963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87A973D-C6FD-20F5-38FB-1D9D6DAB5F81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CE87444-6A19-172E-7EBD-2696A204D843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B780775-CC71-DFF1-1174-5BC7DC9C2CE4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0AD2312-6134-B62C-D400-27FAC39D815B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2A21D950-803F-527F-8635-4C1FCD90D63A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153353A-0EE5-B270-3961-0D178D118514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4C0938E-E6C3-D488-031E-DB356971E961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C6BD735-0CF9-E87B-7B1C-2296E8AB840F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899FEDB-BC4E-033D-31D8-CBF34D91AE37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D0BCAF0-FF12-A122-CDA1-D8A669181881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403E9CA-2296-1D7B-D216-EF65F3DB3367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EB72B1F-CCE9-82D3-F2AC-130E73B5A100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B97D960-538A-DDBA-C687-D9240D8028B1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D3B2763-85AF-5A4E-5CDA-13AB6ADE83B4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1B5E54A-9868-AC7D-DFA3-5346F92F1F21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DDD371F8-B427-2A1F-6807-9B20937D0318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BEA3958-6234-C7A7-D3E2-4E928C31A1F5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9C07D30-1468-6463-F40B-117392B3B3EE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595F946C-BFDC-4235-5215-67C414C0C568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C44F8325-B81D-A49D-79FD-0D51DD51A90C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6519F33D-6FB8-A1F4-FF94-A83A72EAF8B4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021166B-87FC-3B2B-835B-3FBD42DAADC6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97948E1C-F743-646D-E826-375371642401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7E2B5FD-6051-C74E-2FFC-9E7C5BB14E10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8C62C960-BDCA-C37E-26FA-971FABF12EB6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06C8557E-09D0-EDFA-0C30-983D96E7B0F6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1985AD8-F742-417D-0988-A6B90256BA94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EA97E3AE-7535-452C-5600-A240148E7BBA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DD71AD41-BEF4-C819-F468-94399FEB3717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D9F47BF-41E9-5ACE-5CC4-CF407EE51835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7B32F8DF-2E8B-1E4E-03D8-5A975D932581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70CACF7C-059A-C58B-BBC8-3091583C95E0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44D67446-F7B4-B7E2-B4DF-B9453E091C2E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1192552-D360-4796-D4D3-85A4E5BBD7F8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0F96333A-2A57-BE0F-1028-A90E12928B5F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2F0815AB-AE8F-C04E-4526-38B273E2B4C0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7409766A-1CA5-6F42-5B7C-98ED1249CA7C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BD7061D0-22F0-3809-2EC5-341EB37F04E0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FBF86046-D269-7B38-436A-422ABB896683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E25EA9CC-A5C9-93BE-9504-DDA6B7205C9E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FD72F652-BB24-54E2-29A7-6868DB602881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23A469E1-04FC-DC8C-6BFE-E7695B04594C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1ADDF5A2-78AE-8693-108A-E7A384932EF6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4B316EE1-3CBB-15F9-261F-1C03F1894BBC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5CA8EA01-1493-9BFA-E037-C24A402653FA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27565207-C347-D21A-725B-940D51D03259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530A65D3-AE4E-881F-F05E-AC6E441BB762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2D5D3A6C-6628-B8A4-395F-0EA58D23436B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507270A6-2D10-B20D-E3B9-5AA54AAAB19D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CD8FA2FD-D901-6014-5DC5-0CFC40ED25C0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89BDC74B-79C1-C700-C148-39F9F2F727C1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8D90310F-BB23-00AC-1486-B4084790634F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1BA454A6-FE70-9DD0-EE97-3107997661EE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C456E6AA-973E-80C6-75B2-1C28BA8264B4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06AEB9C6-2175-78C7-0602-2F457E7597BD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DAE0473A-B42F-BAE3-B365-0719BBCE3657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13A01EA6-5102-1549-B7AE-8B9997FA8CED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3DC27F51-CA17-B293-2E45-B5D4460A29D8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48ABAA18-B566-B126-50A9-D29E4BF5A25D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4076806C-DDD9-98EB-AB69-48B8490C1646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5D8EE36E-B8D5-70BF-E4F9-84BBD0E16A3C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1C788204-A4FA-2C14-3036-89476B567F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7904" y="3799940"/>
            <a:ext cx="12158345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11500" spc="10" dirty="0">
                <a:solidFill>
                  <a:srgbClr val="FFFFFF"/>
                </a:solidFill>
              </a:rPr>
              <a:t>MODELOS DE</a:t>
            </a:r>
            <a:r>
              <a:rPr sz="11500" spc="270" dirty="0">
                <a:solidFill>
                  <a:srgbClr val="FFFFFF"/>
                </a:solidFill>
              </a:rPr>
              <a:t> </a:t>
            </a:r>
            <a:r>
              <a:rPr lang="pt-BR" sz="115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APRENDIZADO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60B782DB-D443-B476-09CA-7AADF0978D1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327933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A4BFE-F1AC-60E7-0F7B-C431FD218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D7E049-0F1A-EB4F-742B-E69723AD91DC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2786578-AD67-7E14-45B1-D11977DE3E6F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76E7ED9-5473-034A-3B8F-22640E999838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EFC0D0B-250D-BE71-FBC2-A386457B890E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E341EC2-8CC5-42DB-9355-349C677CB09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A84D47C-72FA-FAC1-3BEA-194812D3A3C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96272AC-F969-8446-9FB2-5EE97F67E7A8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F5A3F24-7821-B6B1-162A-BF71C97910AF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E7576EB-BE08-A73E-2F70-7A96032C6BBB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36A09B4-E3EF-464F-9E6E-7B3829B62368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C65B3B1-4D2B-BB68-5D15-02612320A07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37A7404-12AB-E317-4637-C25EC79A4C9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0BD281A-F149-FFE4-2987-BDE9E0F9FD5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711E7DB-D005-8954-A51C-4AACC295ABCF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6D879B0-4079-0A23-F973-529671994578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303A75-E023-DECA-F493-13DF7CB0F932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8046AB6-355E-F6AC-78B6-8037C04F4AFB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20DE05B-AA58-C05D-B67F-46C0EFA39A00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D151D6C-F679-C201-C1BE-B9881DD5D0A0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4C8BE3D-3C9C-1A95-B4FE-F1D0662E65EF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5A8EA5D-D116-E98B-0F66-AC9F12728B8D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51F5DAE-820E-3E3E-4A1A-28FAC656B3F5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61D900E-1D99-1417-992E-B8055C253F74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7C3C6EE-5DBF-6E44-914F-80F7044BC74C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B63EDEA-ADE3-D7FF-E081-B47298393FA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C82373C-3632-A130-C84A-E5E266110F9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ACDD062-F7E9-2FA5-BB77-6DF83F50525A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9E66F44-18DF-D1CE-E2F6-EDD01D6E4146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F5287FCB-66BB-C2F3-A65D-44E61B0CFB2E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4F27F62-39BD-33B8-07F1-AE2F593AD56F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16E0D9D8-DD06-3CD2-55B6-2090266568B1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08926583-53DE-6B87-97CA-31ED4192CED9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D9A04FD5-EC5F-F1FB-9896-497B526EF3C9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42DE2EF-BA01-C3A0-CFDF-613A5A135FB0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9CF048BD-6753-88E4-D3F8-3DE62470AD85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FF54E029-C63C-9B12-DD6C-9940FC423E4F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F1C3C613-124F-F867-3DE0-A8C5E197A3E3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5C7F8C67-E45D-D4B3-445C-2B9190B246F0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5FCA3690-1B91-CCE3-D917-2F3B303EC427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E420BF4D-2557-D340-3F7D-EA8A5111B0FB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1C009646-D5B7-BCA1-50BE-0726A1732F4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3CEDA6BC-C682-C87E-EFE9-0C3F7354F4F0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50C55345-060C-54A7-CA54-209CF897BAAE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317F54D2-E17E-AF8E-E7C2-1B6B0F2961EF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93525597-8529-4FAB-3BE1-A0DDA89D6C47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3D0C3EFC-7F4D-92B9-62B7-67B329AC2ACC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F256E83-8248-7B89-2493-F93B9B4DD150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916BA676-3D3B-E880-3028-5AAB341558CB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2DEC5798-1C1E-DA2F-6EBC-7F6F997D470E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BB7B8727-31FB-6C74-0309-1ED43DF7A0B1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1386403D-EF4D-A1FE-5E0D-D334E9DBB329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8DA29A55-2FD9-A638-AA8A-605CF82105CA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E78ED6BD-4691-1B92-20DF-BF56F0B2519E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00F7D301-93E4-F567-C0D9-158568BAFBD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A9D70C88-033A-391F-90E2-4D4ABB3C59A2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4BFE2113-3F7B-717B-D108-96F563451727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0E0818E2-F706-2FA1-6666-99AD12839DE4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76A0CDAC-356A-1178-C2AA-47A5D2B0E1D9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51999403-956C-0327-96FA-66AB36D2BE0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F800546C-AE7F-088B-990A-36E6200ACDE3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A9132C79-2D06-8719-2C8B-BED583D3F29A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B4A02569-FDF6-7BCA-798E-062150A66EC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35E8F9C9-B753-75E7-B264-1D53EFD2BC2D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9E18E789-7E5C-94B9-5406-91114BC96FBD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011AECF4-B1D6-6D48-2164-AA1A2425D69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0F4F1703-BECB-9235-FDB7-FA11A2B8A47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28B88D09-CC90-FB54-17FB-88FE51694F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MACHINE LEARNING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Modelos de Machine Learning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5439BD3B-07FD-7242-67DC-980211916AB2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8E1DA924-88AE-ADFD-CB4A-25E3E42A758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0864D4B2-A701-8317-D96C-6F6109C824F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6" name="object 71">
            <a:extLst>
              <a:ext uri="{FF2B5EF4-FFF2-40B4-BE49-F238E27FC236}">
                <a16:creationId xmlns:a16="http://schemas.microsoft.com/office/drawing/2014/main" id="{EB059667-660F-0AB3-DAB7-874481A99B61}"/>
              </a:ext>
            </a:extLst>
          </p:cNvPr>
          <p:cNvSpPr txBox="1">
            <a:spLocks/>
          </p:cNvSpPr>
          <p:nvPr/>
        </p:nvSpPr>
        <p:spPr>
          <a:xfrm>
            <a:off x="1509065" y="3556704"/>
            <a:ext cx="17495592" cy="55521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Um modelo de aprendizagem de máquina (ou de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machine learning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) é um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programa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computador que aprende 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reconhecer padrões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em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dados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e 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tomar decisões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ou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previsões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sem precisar ser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programado de forma direta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para cada ação.</a:t>
            </a:r>
            <a:endParaRPr lang="pt-BR" sz="6000" kern="0" dirty="0"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14405177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AAFF062-6DAA-9435-B8FF-879ABAB2B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27C77BC-8CB1-C81C-3F91-F707BDDB37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FE85827-C20B-4F0C-0182-CF530A648C3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35CAE-9FA0-7341-64C1-D74984B3607B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D558FE4-1606-EB90-80DC-AC3B7A406817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EF9C6F48-F1C6-705D-A4D0-5FBFB421060A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BCFF60B-39D8-1E5C-BB18-DA4B65BFA897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A0E7B57-D72B-068A-D4E0-30A6A4A926CF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8A7DE59-17D3-5B23-B550-C76B19C135A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109F590-E252-64A1-2603-A024C9F73762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BBD11A1-6D22-A070-C38F-614F8679ECE4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7A80879-37DA-631F-C93B-66AC11BE647A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C12A35F-016C-F5AE-5CCE-6189A6E35F62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BB39229-4F6D-5CF9-CCA7-81CCE68E743E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ABE653E-0BBD-76B3-C18F-BE6E00CAA02A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B9846C5-B8ED-9789-6DBA-A2A70E86846C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55D6730D-189F-0A65-C7FA-0CA9DCAE383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6AB887C-F5DD-B97B-C9E5-D6B3C3BA6EAF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5FBD4DEB-9674-736D-123F-7ABF85A6972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72073CE-22F7-6D61-D5BA-23FE3A19027C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CEB629E-D19E-E5A1-8F75-1690B64860A4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A12CB3C-8D3C-570E-B61C-E18301AFBACE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27D44921-6A0A-59B7-CBBA-39991A0DDEFD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C7FB032-6CB4-4ACE-9C93-77AE1106D8D8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5387A734-139B-D4D2-7506-831F478314DD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6417EAD-BCFD-425A-2892-F5BBC8A5997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222B5535-EBF0-9B3C-6813-B00DFD039D93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AADE953-4E12-6049-FC40-883386D085B0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152A6C52-8290-680A-9896-9E31F0009BD2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0B162B28-527F-9ADB-89AA-7856E3D2D638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2C806C01-B3A6-FB26-24B2-6CC7D867838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D3507504-964C-F0C0-EBF0-45337E9C5F8B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D899EFD8-709A-7905-FE51-F8A59A16AE6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FF524231-9935-4E24-28D1-F3CC5F539734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EF9DA98B-37D3-5282-DE4B-5509A6F301A7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F88D144E-A140-4DC0-304B-68C1C21CB91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83721CDA-FC5E-1DE2-F33E-3A35FFFF7CE5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77C64F7C-6D2E-ED1F-39BC-CC2E674788FD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CD267159-9E88-FE05-C36E-AF1F30C0EC44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ADD7872B-1D19-79C3-0CD1-37C249A15D69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7AF597C7-246A-6A5D-AD71-266F25230A29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F47BD4BC-B187-F839-85BB-5079BCE3B2E9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E39E8590-3912-65EF-1A9D-741839A0187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B878668C-2F39-5401-606C-4D6AD272C63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7CD01480-2217-6D87-268D-D05BFF766C13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8426D85D-A3A0-1A9C-5AB5-C2093815E8A7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3CF0A3D8-DDB8-AF21-C834-79084CCEE6F5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A9F6E59-32A3-B457-9978-562952D0DDF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5DE4E714-202C-44CF-3642-82501863034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D063AF90-61F4-514F-5C07-334DBA0908CF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8A72571C-02D0-81C3-336F-CA2496A2D398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B5466DCC-29BB-670C-5C82-832EA748FA31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05FC6045-22A7-FB30-A8AE-5C4BA37A1C53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2026684E-08C0-B2E8-E814-4131318B268B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77264DBA-1349-2D67-7052-9105D841AB37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1D5935B-13E1-7569-AED7-DE94AC4DB670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B9057438-18F3-62D9-3B64-D3D12C68DA6E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68FF41EB-92C5-4492-B233-20EC175AB1DA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918360A1-96FD-C28D-E615-B5EBD45C562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69407B39-A515-1A07-D656-8041A9F76784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12CB72EA-DB93-0B89-3EB6-D74FD3D71D7B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9C376662-1102-137C-15DF-D8C1E255599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9F060211-CB51-D997-BDFA-4E99F9C0FD64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FB327DC0-CCAA-7D07-1220-8A157E1F3BC8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A5EA8F91-28A6-53D2-9822-A44C45C2EBB8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40F26067-C048-19E0-D184-FF44BA3DFCDE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A10931B9-B99A-9AD3-2DCB-516132F93F19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FBDAC6FB-386D-8E95-A719-88C14384C214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138EA0D1-413D-35AC-549A-790FCF54686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B5FCD112-2AF5-5ED7-065B-3A9570FD32D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C9052EBB-8DEF-9E43-D263-3DD82F5377E6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Modelos de Machine Learning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C1366A78-039B-03AA-CB79-414BE346DAA8}"/>
              </a:ext>
            </a:extLst>
          </p:cNvPr>
          <p:cNvSpPr txBox="1">
            <a:spLocks/>
          </p:cNvSpPr>
          <p:nvPr/>
        </p:nvSpPr>
        <p:spPr>
          <a:xfrm>
            <a:off x="1522768" y="3443786"/>
            <a:ext cx="17481888" cy="5427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95"/>
              </a:spcBef>
            </a:pP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Em vez de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seguir regras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fixas escritas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por humanos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, o modelo utiliza a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lgoritmos matemáticos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e grandes quantidades de exemplos (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dados de treino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) para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ajustar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seus parâmetros internos e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melhorar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seu desempenho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sozinho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com o tempo.</a:t>
            </a:r>
            <a:endParaRPr lang="pt-BR" sz="48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30680072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BB9806-2640-7829-DF78-2FDD1D134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D52691-7416-8A05-FE45-2D6819226733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C087D44D-C118-D236-35A4-5A4712DD14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4961F64-0473-9E9D-AC90-B764D3ED8D1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04CA169-FEA5-B1DC-5B65-8F779E47501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F805AA3-49D0-3BB1-6D66-D645032592F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6E4E7076-A793-B533-005B-0F0897501369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B36581E-F0FC-BAC5-AECE-9DDE6370B145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5EEBDAA5-EC41-6F6F-3FF6-20426ED93DA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D512559-36FA-6067-958D-A4F1CEFCDCBF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2A0E4BD-A930-322C-36D5-40EB499037AB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3181943-6866-E751-E01C-0BA26770EEAB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78AA50C-DD42-F7A9-0B01-A1493E13B1DD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65D93558-7F1A-0BF1-905E-727C04712D00}"/>
              </a:ext>
            </a:extLst>
          </p:cNvPr>
          <p:cNvSpPr txBox="1"/>
          <p:nvPr/>
        </p:nvSpPr>
        <p:spPr>
          <a:xfrm>
            <a:off x="12332678" y="6086775"/>
            <a:ext cx="6158865" cy="202382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O sistema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recebe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um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histórico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de informações (como fotos, preços de imóveis ou textos).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4DBE573F-F9D1-E4FD-6247-28AA34C6E184}"/>
              </a:ext>
            </a:extLst>
          </p:cNvPr>
          <p:cNvSpPr txBox="1"/>
          <p:nvPr/>
        </p:nvSpPr>
        <p:spPr>
          <a:xfrm>
            <a:off x="12332678" y="4098774"/>
            <a:ext cx="4194810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COLETA DE</a:t>
            </a:r>
            <a:r>
              <a:rPr sz="3600" b="0" spc="9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DADOS.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AC737A70-29B3-5D4F-88C1-C811255F36E7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Modelos de Machine Learning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B161E6C1-A04B-1B01-FE3E-EDC23DCD16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76"/>
          <a:stretch>
            <a:fillRect/>
          </a:stretch>
        </p:blipFill>
        <p:spPr>
          <a:xfrm>
            <a:off x="0" y="3557055"/>
            <a:ext cx="11821629" cy="75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25112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F45298D-805A-B679-81C2-5342E85D7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A21A94-CF59-53A3-891E-967CF4A9D74D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B0CD135C-4548-1EC8-0E78-1A2FF14C2F2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C10C56-4C05-DAAC-3B45-295EFBF7742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9545122-9580-BE8C-43D7-4D16638FB73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D64844-18DF-1514-B852-291326B41CB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1B79BD3-C487-10B6-B26F-FC5BAE8C968C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1D574DD-7B67-4FBD-AAF7-76F24A4DF097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17254682-A6DE-5780-82D7-3BE4483B925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7FD15B8-D20A-66AB-CD24-83D8A16EC750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3C928789-5AAD-8CB5-B1C1-362521474EED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3DEA71E-FE68-14D5-F347-51CACB688152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D85F6F5-0CF3-0898-0399-17CD73B29736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6B1B0B8D-461D-A870-E227-4A65D9FFD464}"/>
              </a:ext>
            </a:extLst>
          </p:cNvPr>
          <p:cNvSpPr txBox="1"/>
          <p:nvPr/>
        </p:nvSpPr>
        <p:spPr>
          <a:xfrm>
            <a:off x="12332678" y="6086775"/>
            <a:ext cx="6158865" cy="2023824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O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algoritmo processa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esses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dados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para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identificar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conexões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lógicas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e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padrões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ocultos.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60E124A-807F-8F2E-B24B-378190D63917}"/>
              </a:ext>
            </a:extLst>
          </p:cNvPr>
          <p:cNvSpPr txBox="1"/>
          <p:nvPr/>
        </p:nvSpPr>
        <p:spPr>
          <a:xfrm>
            <a:off x="12332678" y="4098774"/>
            <a:ext cx="4194810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TREINA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MENTO.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DA953D6B-C63F-90E1-2629-7E68ED8F272C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Modelos de Machine Learning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B8E2D032-32D0-FB93-5312-1AC4F31374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32" r="1728"/>
          <a:stretch>
            <a:fillRect/>
          </a:stretch>
        </p:blipFill>
        <p:spPr>
          <a:xfrm>
            <a:off x="1" y="3551866"/>
            <a:ext cx="11837340" cy="759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14585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70B0223-31BE-91F4-5B6D-2BC0E6991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069718-148A-9203-5FBB-C9070D4146A9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651060B7-176D-F41E-297B-200F243F6BE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25C406B-6EF3-198C-A7DC-76DEA830B24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CBB5AEF-3306-0BE2-8205-5EF49E3581C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984035E-D0BC-A64C-3BEC-BEE60501E69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079A7DCE-DB9C-AEF4-5C0A-C74AEAA2ECA3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25DA0B1-98C6-BA7E-2556-DFF7C7B397A1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84608497-6E35-4114-1765-804C5763B6E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87ED130-0781-B9D7-F142-827A6FE74A1D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78682FA-72FF-24BD-149B-D1DF398B5FCF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9094035-55FA-F21E-5BEB-3C0037DC738E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2E99C99-0130-720E-8A7D-5D8FB7C668DA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F44F5E7D-B5D7-EA13-E897-1DAD36BA5A68}"/>
              </a:ext>
            </a:extLst>
          </p:cNvPr>
          <p:cNvSpPr txBox="1"/>
          <p:nvPr/>
        </p:nvSpPr>
        <p:spPr>
          <a:xfrm>
            <a:off x="12332678" y="6086775"/>
            <a:ext cx="6158865" cy="340881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Quando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recebe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uma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informação nova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que ele nunca viu antes, o modelo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aplica o que aprendeu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para dar uma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resposta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ou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palpite correto.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A3F501B-C9C2-C978-8A40-7375CD2B77EC}"/>
              </a:ext>
            </a:extLst>
          </p:cNvPr>
          <p:cNvSpPr txBox="1"/>
          <p:nvPr/>
        </p:nvSpPr>
        <p:spPr>
          <a:xfrm>
            <a:off x="12332678" y="4098774"/>
            <a:ext cx="4194810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PRE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VISÃO.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64B7A0D2-33AB-5D98-B7E0-0B709CADDEFA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Modelos de Machine Learning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19" name="Imagem 18" descr="5 passos para obter previsão de vendas com machine learning">
            <a:extLst>
              <a:ext uri="{FF2B5EF4-FFF2-40B4-BE49-F238E27FC236}">
                <a16:creationId xmlns:a16="http://schemas.microsoft.com/office/drawing/2014/main" id="{41C7A5D5-7F9F-838A-3BB2-F82516ABE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17"/>
          <a:stretch>
            <a:fillRect/>
          </a:stretch>
        </p:blipFill>
        <p:spPr>
          <a:xfrm>
            <a:off x="-210" y="3556766"/>
            <a:ext cx="11821629" cy="759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76929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BA45EE-62C1-5DD1-CFF0-A8A1533B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7B5875-197A-06F8-F5C2-DA11926A6038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B275476-0F3C-9DB8-B6C9-145F930B251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DFE855A-A21B-52DD-6075-7F149853CFA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6515E8A-DABB-6B38-7299-C660ACCA061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88D217-6F4B-A036-93CD-53DC6635A48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7AD85D6D-6538-3831-43EC-A0DADC014A8D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2424C6F-64D9-D806-8857-B0872F46F565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DA459253-73A8-0186-90A3-C75F8AE788B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D0D1829-A460-0E57-134E-A1C281149BC5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95A4B768-53A3-5F63-D55B-CE03617C2C01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4803C20-F0B4-DF8D-1548-E628F97BD2FC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DDCD8A0-F9D5-DD27-7A05-9140F63D452B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706B2D25-5097-C835-399E-87B8104FB907}"/>
              </a:ext>
            </a:extLst>
          </p:cNvPr>
          <p:cNvSpPr txBox="1"/>
          <p:nvPr/>
        </p:nvSpPr>
        <p:spPr>
          <a:xfrm>
            <a:off x="12332678" y="5730875"/>
            <a:ext cx="6482372" cy="481946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Usa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dados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que já vêm com a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resposta correta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(rótulos). O modelo funciona como um aluno estudando com um gabarito. </a:t>
            </a:r>
          </a:p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b="1" spc="-20" dirty="0">
                <a:solidFill>
                  <a:srgbClr val="7030A0"/>
                </a:solidFill>
                <a:latin typeface="Montserrat"/>
                <a:cs typeface="Montserrat"/>
              </a:rPr>
              <a:t>Exemplo: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prever o preço de uma casa ou detectar se um e-mail é spam.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565B916-B6D1-8DE2-CC2A-C6D4D57DD694}"/>
              </a:ext>
            </a:extLst>
          </p:cNvPr>
          <p:cNvSpPr txBox="1"/>
          <p:nvPr/>
        </p:nvSpPr>
        <p:spPr>
          <a:xfrm>
            <a:off x="12332678" y="4098774"/>
            <a:ext cx="6329972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MODELO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SUPERVISIONADO.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2A5997AF-FFCE-59A5-4753-149823B12710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Modelos de Machine Learning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19" name="Imagem 18" descr="O que é Machine Learning e Como Funciona | OpenCadd">
            <a:extLst>
              <a:ext uri="{FF2B5EF4-FFF2-40B4-BE49-F238E27FC236}">
                <a16:creationId xmlns:a16="http://schemas.microsoft.com/office/drawing/2014/main" id="{D35718EF-046D-47ED-3EDD-8A2F7EC353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31" r="2853"/>
          <a:stretch>
            <a:fillRect/>
          </a:stretch>
        </p:blipFill>
        <p:spPr>
          <a:xfrm>
            <a:off x="-17513" y="3563437"/>
            <a:ext cx="11839142" cy="7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3723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6A81880-818F-1AFF-13C1-9B5D0195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EC6514A-6382-7A96-D914-851701F89E14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CB415CA-DBA6-6A38-EFBD-51653F87EA8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8611AB6-B75B-43F8-C2AB-2CF9F1AB933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BA1BDFB-98EA-DEC7-AAD3-7D9EE76D5B0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3F859AB-E024-FA9B-B46F-8492A716C17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B9C7784C-B290-10C9-1136-8A0E83EB7DD0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F0E3C52-D74B-DD7B-38EC-1EEEA6179D6F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6A07894F-A6DC-2E9F-9165-CDC65B988D4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8E95781-7916-701D-0199-B98C5B5D4612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1C62075-24BC-1119-CBD0-70AC818505B1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3DF23657-8F0E-3420-1208-8375D07C380D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6E463C8-48F1-7F92-97D4-3AC2AA175BB3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505CAE76-2EB1-097E-2ECC-E65A74A17072}"/>
              </a:ext>
            </a:extLst>
          </p:cNvPr>
          <p:cNvSpPr txBox="1"/>
          <p:nvPr/>
        </p:nvSpPr>
        <p:spPr>
          <a:xfrm>
            <a:off x="12332678" y="5807075"/>
            <a:ext cx="6158865" cy="481946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Usa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dados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que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não têm rótulos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ou explicações. O sistema tenta achar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semelhanças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e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agrupar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as informações por conta própria. </a:t>
            </a:r>
          </a:p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b="1" spc="-20" dirty="0">
                <a:solidFill>
                  <a:srgbClr val="7030A0"/>
                </a:solidFill>
                <a:latin typeface="Montserrat"/>
                <a:cs typeface="Montserrat"/>
              </a:rPr>
              <a:t>Exemplo: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segmentar clientes por hábitos de compra.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861DCAD-A312-B318-F960-1DAC31DCC3EF}"/>
              </a:ext>
            </a:extLst>
          </p:cNvPr>
          <p:cNvSpPr txBox="1"/>
          <p:nvPr/>
        </p:nvSpPr>
        <p:spPr>
          <a:xfrm>
            <a:off x="12332678" y="4098774"/>
            <a:ext cx="6329972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MODELO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NÃO SUPERVISIONADO.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A663758B-A6D6-6E27-997F-B6647888DBC0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Modelos de Machine Learning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19" name="Imagem 18" descr="Machine Learning: o que todo profissional de TI precisa saber">
            <a:extLst>
              <a:ext uri="{FF2B5EF4-FFF2-40B4-BE49-F238E27FC236}">
                <a16:creationId xmlns:a16="http://schemas.microsoft.com/office/drawing/2014/main" id="{7BD0A1F7-78F1-91DA-FEC9-10EAEFC942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33"/>
          <a:stretch>
            <a:fillRect/>
          </a:stretch>
        </p:blipFill>
        <p:spPr>
          <a:xfrm>
            <a:off x="-12211" y="3542638"/>
            <a:ext cx="11849552" cy="760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4811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4A117BF-BF05-B705-4DA2-C4E302F1A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4D36A9A-970A-9A59-5897-6F4B8C26136D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74618FAC-61A0-9EF2-B827-925A403355E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F087CF-A31F-5D22-73C3-3E83EFE39C5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44EA038-CA0B-CE32-8B09-25F443208DC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F0470CB-DB16-A39A-59F4-AB61B060A5B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C63E9126-0566-5AAD-55F9-5AE835810917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3AA1C23-5F85-2C77-2225-9EBC32C9EB26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5DEF1A53-06A0-B42F-3266-682F5E62C2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B47B52C-EC21-072A-380B-8881EEB6739C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F8505D9-DB8A-D175-8D9C-8FFE5CA4D8D3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55A8B0A-A5F0-9655-3630-977F62D3514A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EF040E44-6ED4-4829-02B2-15E2F91A6E83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A37F226D-B1B7-CF3B-EE79-037C0B797715}"/>
              </a:ext>
            </a:extLst>
          </p:cNvPr>
          <p:cNvSpPr txBox="1"/>
          <p:nvPr/>
        </p:nvSpPr>
        <p:spPr>
          <a:xfrm>
            <a:off x="12332678" y="5807075"/>
            <a:ext cx="6158865" cy="484510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O modelo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aprende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por meio de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tentativas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,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erros, punições e recompensas.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</a:p>
          <a:p>
            <a:pPr marL="12700" marR="5080">
              <a:lnSpc>
                <a:spcPct val="150000"/>
              </a:lnSpc>
              <a:spcBef>
                <a:spcPts val="190"/>
              </a:spcBef>
            </a:pPr>
            <a:endParaRPr lang="pt-BR" sz="3000" spc="-20" dirty="0">
              <a:solidFill>
                <a:srgbClr val="4D4D4D"/>
              </a:solidFill>
              <a:latin typeface="Montserrat"/>
              <a:cs typeface="Montserrat"/>
            </a:endParaRPr>
          </a:p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b="1" spc="-20" dirty="0">
                <a:solidFill>
                  <a:srgbClr val="7030A0"/>
                </a:solidFill>
                <a:latin typeface="Montserrat"/>
                <a:cs typeface="Montserrat"/>
              </a:rPr>
              <a:t>Exemplo: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Robôs aspiradores ou inteligências que aprendem a jogar videogame.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A8C16DC-5ECB-AE93-0D74-E74ED2E4C492}"/>
              </a:ext>
            </a:extLst>
          </p:cNvPr>
          <p:cNvSpPr txBox="1"/>
          <p:nvPr/>
        </p:nvSpPr>
        <p:spPr>
          <a:xfrm>
            <a:off x="12332678" y="4098774"/>
            <a:ext cx="6329972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MODELO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POR REFORÇO.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48EBEF72-F1D5-D4E6-F567-15A8BBB0588B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Modelos de Machine Learning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A39BB05D-F437-40CA-C6C1-5BEC897AC0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79" r="6720"/>
          <a:stretch>
            <a:fillRect/>
          </a:stretch>
        </p:blipFill>
        <p:spPr>
          <a:xfrm>
            <a:off x="1" y="3563438"/>
            <a:ext cx="11837340" cy="75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868277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067DE-5332-156F-1666-166EFDB7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m 75" descr="Tudo sobre o Criador de Sites FRAMER: Um Guia Completo para Designers e  Desenvolvedores - Felipe Belloni - Blog sobre Marketing / AI / Design /  Wordpress &amp; Elementor">
            <a:extLst>
              <a:ext uri="{FF2B5EF4-FFF2-40B4-BE49-F238E27FC236}">
                <a16:creationId xmlns:a16="http://schemas.microsoft.com/office/drawing/2014/main" id="{75BFAC8E-712E-DBDB-7C3B-E44D0D492BE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3358" r="13450"/>
          <a:stretch>
            <a:fillRect/>
          </a:stretch>
        </p:blipFill>
        <p:spPr>
          <a:xfrm>
            <a:off x="-18073" y="0"/>
            <a:ext cx="14331773" cy="11151076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13F56E4B-2633-9661-C0BA-854058117C40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47315F7-6A65-0B63-D87F-80871ED44886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767BEB9-EB21-9209-19C7-573E2FD2C9A5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3194E7F8-5F82-F5F1-3DC1-B83EEB03F5D9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4FB6FBB-9D50-0D7E-C543-37681AC675E1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61E83F8-DF09-F112-5E57-F308E088B9CF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E51B25C-0F64-C246-1A8D-D01BA05E72AC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1BC92D0-23FC-4058-25EF-723C38056C5B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D07550B-9BC1-FD16-E6CE-3305C11C8512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37A2F28-61D8-154B-9E99-8D14E1BC4988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AB77BB2-EE0E-E0FC-78DD-D10C5D4515A7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4A5F902-D92B-3C52-0CD7-951C664F9AF9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925EC42-BE32-C946-4E95-EEF3A6C024C0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230CDE2-FD9F-605A-3597-ED5BD05763D1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EFD28E9-E10B-A074-FEC2-E3823630364F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01526BB-C919-A875-3917-907FB818535B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BA3EFB2-065A-9895-992E-B91AAEC600A1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730CBD5-06D0-580F-A697-7CF8897F12BE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C2C7DA18-AAD3-C292-D488-81C15DCF8B20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BC229BF-6B4F-DA48-18D0-CBAAEA7773FE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C47A467-5F0A-5DDC-0C29-BCDC2254E437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E3D2148-C2AC-579A-5825-E68118BD1EBC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E491829-5290-A821-418D-E6B8F53C8852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E8C9C8C-A3A4-FD55-AD40-A43621A70A61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F65E9A1C-0350-CC15-05F8-196FB826DEEA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2C2BA6F-25B2-8636-2308-8EB6DD9D6E7E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5AD2834-27D8-6C28-4716-4E703C04E675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7669A2C-C4DD-41C6-F7CA-0A14CBEE52BC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7B6AE828-600A-FEAF-8253-F6F9F6E4F8B5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24BE9FC-E5DC-2570-FB33-1E3A94856B98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AB536844-16D3-CB97-76B6-10C1A9A22424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8ECFAFC9-6598-E319-DF5A-117C12849ADF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6F41DF38-10A4-4141-77F2-42E0398AFE28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8F32EA82-2BDE-1879-FF87-B568346684E7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04096EE-81BE-D6D7-372A-038F340AF534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BCF0996-666A-5B1F-08D1-ECDDAE34D5BD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83EA0FBF-A0BA-8F6D-0919-2C7443A50CEB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1E3BAC96-F2F7-9EE2-1A69-840D1244AFC8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F7B82588-EDA0-45EA-3200-E08ECD7BB523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934F38BA-A572-C034-D682-23DDC452A551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50C94329-74FA-9C56-80CD-49BD8C37CD3F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9E058C01-2FED-3EBE-C6D5-2B47EC71626D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405C23DD-497D-187E-557E-B169FA1862B8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B4F1B82F-80FB-4032-A0EC-9884C253E747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7AE6E1D0-826C-C5DC-289D-8AEC424C9DD1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9942430D-BDFE-0350-9408-EAE407BACF21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C191C483-6916-3003-4456-65B376AF766B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0FED52FC-0F63-9818-AE98-DB1CCFDBE0A4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28516B91-06CE-F990-5AA6-FD8587CCD512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4953F295-755B-1ED0-4BCC-5A52CB13FE02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1291B6E6-65B1-9EDB-6A94-1FA48920ED91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EC9E83BD-8239-18EE-422C-CF1A3BB3F3D5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CC21F2B3-A5B4-3C79-0470-4D22E6915B22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C12C8A26-ADEB-0D7C-573C-31FC7286AAB4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AB2E583B-80E6-C26B-6196-3B24B10BF02A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7B690C8B-1D93-0E13-9332-E01D9B58F790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44C5A68E-AB2B-23A9-2D69-1F8BEE23593D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13F64BD9-6C6D-9120-D83D-393FC3086BB1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D1976DC9-A88F-2753-2FFD-4573FEC82C95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4D48A485-4901-EF5F-F02F-D8C1CAE06182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1ED9C225-E211-2A50-1D24-60F73717A13E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7FAC241B-8CDE-4C0A-17E0-2A09ABF5DA91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20F42A0E-67EC-5AE4-A0C6-F8050F726688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3A238181-08E1-7C22-EC17-A60E4DB6D09E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F68E46BA-C49B-CA5A-0020-A2E7222CE47E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F5729805-E71E-A67C-FC1E-B4FD6EBC0558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7A1773C4-CD7E-B587-390E-1471E72A780D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18FBD0E7-12D6-C54A-FCCF-39D7200AA688}"/>
              </a:ext>
            </a:extLst>
          </p:cNvPr>
          <p:cNvSpPr/>
          <p:nvPr/>
        </p:nvSpPr>
        <p:spPr>
          <a:xfrm>
            <a:off x="5395174" y="7776085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E56D3644-3E72-A985-8A7E-023ADCF7AC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7904" y="3799940"/>
            <a:ext cx="12158345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11500" spc="10" dirty="0">
                <a:solidFill>
                  <a:srgbClr val="FFFFFF"/>
                </a:solidFill>
              </a:rPr>
              <a:t>FERRAMENTAS</a:t>
            </a:r>
            <a:br>
              <a:rPr lang="pt-BR" sz="11500" spc="10" dirty="0">
                <a:solidFill>
                  <a:srgbClr val="FFFFFF"/>
                </a:solidFill>
              </a:rPr>
            </a:br>
            <a:r>
              <a:rPr lang="pt-BR" sz="115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NO-CODE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BC92A315-0B1C-6E3B-312A-A440EC58D97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5727344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43584D0-E691-20A9-F075-056784B90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C754B9-2CD1-C50C-676E-2FFA6EA23FCD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DECC1644-6BB1-26D1-9F17-BF3F4040350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AE169AB-5B1B-8585-866D-0F615FCF941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8FD756-A902-1212-BB51-A7238A04C37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D38085D-F285-D53A-C216-E99DAEE8543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61E393D3-23D3-69D9-42B9-950E2B7F4863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E036077-219A-D0BF-26D2-C4E524971626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E1A7AF6-D543-B640-C95D-FDC6A5905E7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97E1028C-2FA8-BFE1-BA34-6CA0A58E2C8B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38AFC6B-523D-4B88-54D8-6453A19CAE28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9E48A5D-506D-2526-5431-3F4718E7A9BA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F3ABBFED-3E0D-ACF2-56D6-E09B2779706A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A1B18019-37E0-B7FD-9A97-AEA1F031394C}"/>
              </a:ext>
            </a:extLst>
          </p:cNvPr>
          <p:cNvSpPr txBox="1"/>
          <p:nvPr/>
        </p:nvSpPr>
        <p:spPr>
          <a:xfrm>
            <a:off x="12332678" y="5890062"/>
            <a:ext cx="6406172" cy="479381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Ferramentas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no-code (sem código)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são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plataformas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de desenvolvimento visual que permitem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criar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sites, aplicativos, sistemas e automações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sem escrever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nenhuma linha de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código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de programação.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3BD525A-D97A-BACB-8C0C-83F69DFDA440}"/>
              </a:ext>
            </a:extLst>
          </p:cNvPr>
          <p:cNvSpPr txBox="1"/>
          <p:nvPr/>
        </p:nvSpPr>
        <p:spPr>
          <a:xfrm>
            <a:off x="12332678" y="4098774"/>
            <a:ext cx="4194810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No-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CODE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A9383967-4D82-0CBC-4F62-E2D6DA616A9E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Ferramentas No-Code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19" name="Imagem 18" descr="Framer Tutorial: How I Use Framer To Build Websites In Minutes - WIZE®  Templates">
            <a:extLst>
              <a:ext uri="{FF2B5EF4-FFF2-40B4-BE49-F238E27FC236}">
                <a16:creationId xmlns:a16="http://schemas.microsoft.com/office/drawing/2014/main" id="{48867DC5-A46B-9C2E-6077-B77EE316D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4" r="2955"/>
          <a:stretch>
            <a:fillRect/>
          </a:stretch>
        </p:blipFill>
        <p:spPr>
          <a:xfrm>
            <a:off x="1" y="3556765"/>
            <a:ext cx="11821628" cy="7636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823603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23A588-8733-143E-E63F-ACC18F54E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28AA3C-05E1-BAC5-6626-412F7A85241D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4A9C39FD-A6E6-8F3D-403E-406ED828DF5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3A0E70E-DCA8-B33C-074E-EC46FAB5C5A2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1D071C-10EE-499A-74AE-455863D3A5C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C7F8FBE-E26D-525F-8E07-451711D08E1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7B6209BD-9E41-4363-366D-90AFE724CC2B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1EBB1C6-8FBC-83D5-9AC2-41FA6B5992CB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A613E8BA-7AA2-3157-CE1F-E0C65AD41A7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4F1984E-47E5-0F67-720B-D52E94CCB90C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0539496-4189-5AEC-DD05-AF9DB6A584BB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4DF5C88-1D39-BCAD-2E74-932E4CA3AE58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B9E7307-DC96-A9D4-E239-7D8F3D9D5860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278C0D39-88AF-4A55-0169-7FA5508038C8}"/>
              </a:ext>
            </a:extLst>
          </p:cNvPr>
          <p:cNvSpPr txBox="1"/>
          <p:nvPr/>
        </p:nvSpPr>
        <p:spPr>
          <a:xfrm>
            <a:off x="12332678" y="5890062"/>
            <a:ext cx="6406172" cy="4793813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Em vez de digitar códigos complexos, você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usa interfaces gráficas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baseadas em lógica visual, comandos de arrastar e soltar (drag-and-drop) e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blocos prontos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que se encaixam como peças de Lego.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D011846-3C1F-938E-9054-7BC1071F1529}"/>
              </a:ext>
            </a:extLst>
          </p:cNvPr>
          <p:cNvSpPr txBox="1"/>
          <p:nvPr/>
        </p:nvSpPr>
        <p:spPr>
          <a:xfrm>
            <a:off x="12332678" y="4098774"/>
            <a:ext cx="4194810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No-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CODE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536C3F59-E210-CD02-D416-0B9786B64A02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Ferramentas No-Code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19" name="Imagem 18" descr="Desenvolvimento no-code: Criando Aplicações Em Tempo Record">
            <a:extLst>
              <a:ext uri="{FF2B5EF4-FFF2-40B4-BE49-F238E27FC236}">
                <a16:creationId xmlns:a16="http://schemas.microsoft.com/office/drawing/2014/main" id="{7F7BCA8D-09A1-1F40-C97B-9F9BB1D765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972" b="22264"/>
          <a:stretch>
            <a:fillRect/>
          </a:stretch>
        </p:blipFill>
        <p:spPr>
          <a:xfrm>
            <a:off x="-209" y="3557054"/>
            <a:ext cx="11837549" cy="759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518742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6139D6-9EBA-846D-28DF-03C2F211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C49BC6F-8C70-23C2-53E7-B1467758A8FE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864B209-1A8E-0E4E-CBF7-71BC1D1BCCD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2A0212D-E0B4-9BD3-F0A6-EE5C577F136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29902DB-CD33-5FDA-A43F-F3912C1B5F8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69D47C4-FA5A-E8AF-624D-5725942FB8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0747093F-3436-D7DD-C942-56873D4F96DC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64481B90-FDAA-9674-7CFC-1287A579F389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7EB0AE2-AB6E-AE13-E7A5-4D2C1714427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4E13A9D-D68E-0D81-E61A-C707AF0F88DF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A2A2BDB-3AAA-311F-6BE7-C6677E042EB1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AC2A987-FBDA-A1F1-9993-32E3AF1D5C47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DC84D0B3-2171-2677-12C1-5FC68CCCAFB2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6F59AFE9-911C-3671-52F6-80BA92C76ED8}"/>
              </a:ext>
            </a:extLst>
          </p:cNvPr>
          <p:cNvSpPr txBox="1"/>
          <p:nvPr/>
        </p:nvSpPr>
        <p:spPr>
          <a:xfrm>
            <a:off x="12332678" y="5890062"/>
            <a:ext cx="6406172" cy="340881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As ferramentas no-code para machine learning permitem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criar modelos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de inteligência artificial </a:t>
            </a: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usando interfaces visuais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em vez de linhas de código.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CD801F6-91FD-8C18-63A0-7DF6BA35A467}"/>
              </a:ext>
            </a:extLst>
          </p:cNvPr>
          <p:cNvSpPr txBox="1"/>
          <p:nvPr/>
        </p:nvSpPr>
        <p:spPr>
          <a:xfrm>
            <a:off x="12332678" y="4098774"/>
            <a:ext cx="6406172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Machine Learning com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No-CODE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8FC3D342-D917-22E0-696C-2D5ABF94B31F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Ferramentas No-Code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19" name="Imagem 18" descr="Criando Vídeos com Claude Code e Remotion">
            <a:extLst>
              <a:ext uri="{FF2B5EF4-FFF2-40B4-BE49-F238E27FC236}">
                <a16:creationId xmlns:a16="http://schemas.microsoft.com/office/drawing/2014/main" id="{D533B098-ACBD-57CC-C4AC-7C49225A0D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15" r="6276"/>
          <a:stretch>
            <a:fillRect/>
          </a:stretch>
        </p:blipFill>
        <p:spPr>
          <a:xfrm>
            <a:off x="1" y="3542637"/>
            <a:ext cx="11837340" cy="760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272050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E05A661-63D0-CA27-327C-6E5217973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20A03B-051D-9C8E-5D16-81A7F2D36584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0255FA-03CD-D41E-37BA-C340A10E25C9}"/>
              </a:ext>
            </a:extLst>
          </p:cNvPr>
          <p:cNvSpPr/>
          <p:nvPr/>
        </p:nvSpPr>
        <p:spPr>
          <a:xfrm>
            <a:off x="0" y="8167290"/>
            <a:ext cx="20104100" cy="2984500"/>
          </a:xfrm>
          <a:custGeom>
            <a:avLst/>
            <a:gdLst/>
            <a:ahLst/>
            <a:cxnLst/>
            <a:rect l="l" t="t" r="r" b="b"/>
            <a:pathLst>
              <a:path w="20104100" h="2984500">
                <a:moveTo>
                  <a:pt x="0" y="2984202"/>
                </a:moveTo>
                <a:lnTo>
                  <a:pt x="20104099" y="2984202"/>
                </a:lnTo>
                <a:lnTo>
                  <a:pt x="20104099" y="0"/>
                </a:lnTo>
                <a:lnTo>
                  <a:pt x="0" y="0"/>
                </a:lnTo>
                <a:lnTo>
                  <a:pt x="0" y="298420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C16A1878-7C17-2DB8-01E3-DCF9DF0FF080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B114E55-6C4D-F90E-7D45-2F7F6C03D9DB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1B505BD-E275-E837-4D59-2793C95F1D75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8C8A2B17-575D-031F-FD89-D9B9FE7BCCE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159FF655-CAA2-333B-BEB8-16706D2CD137}"/>
              </a:ext>
            </a:extLst>
          </p:cNvPr>
          <p:cNvGrpSpPr/>
          <p:nvPr/>
        </p:nvGrpSpPr>
        <p:grpSpPr>
          <a:xfrm>
            <a:off x="261772" y="5821812"/>
            <a:ext cx="7329805" cy="5487035"/>
            <a:chOff x="261772" y="5821812"/>
            <a:chExt cx="7329805" cy="5487035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0E671742-7478-A131-91D7-DDA7D6A876A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72" y="5821812"/>
              <a:ext cx="7329619" cy="5486743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FE1A1ED3-A86E-01AD-65FE-45E0B3319990}"/>
                </a:ext>
              </a:extLst>
            </p:cNvPr>
            <p:cNvSpPr/>
            <p:nvPr/>
          </p:nvSpPr>
          <p:spPr>
            <a:xfrm>
              <a:off x="1047088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998206FB-DF30-D8E8-4A3C-1C5B520204FD}"/>
              </a:ext>
            </a:extLst>
          </p:cNvPr>
          <p:cNvGrpSpPr/>
          <p:nvPr/>
        </p:nvGrpSpPr>
        <p:grpSpPr>
          <a:xfrm>
            <a:off x="6387239" y="5821812"/>
            <a:ext cx="13455650" cy="5487035"/>
            <a:chOff x="6387239" y="5821812"/>
            <a:chExt cx="13455650" cy="548703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AF90CE95-F25B-97E4-00BC-E14CB98A34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5821812"/>
              <a:ext cx="7329619" cy="5486743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7E15756-8FCD-D627-66F6-E8AE179E5CC7}"/>
                </a:ext>
              </a:extLst>
            </p:cNvPr>
            <p:cNvSpPr/>
            <p:nvPr/>
          </p:nvSpPr>
          <p:spPr>
            <a:xfrm>
              <a:off x="13298024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0ABE68E4-9B82-CAC4-C9E1-83D329370D6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5821812"/>
              <a:ext cx="7329619" cy="5486743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E5AB466-BCE2-9073-560A-72DE09C5F996}"/>
                </a:ext>
              </a:extLst>
            </p:cNvPr>
            <p:cNvSpPr/>
            <p:nvPr/>
          </p:nvSpPr>
          <p:spPr>
            <a:xfrm>
              <a:off x="7172556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E0BDBD9D-1F9A-BB43-87E6-BA980649ECEB}"/>
              </a:ext>
            </a:extLst>
          </p:cNvPr>
          <p:cNvSpPr/>
          <p:nvPr/>
        </p:nvSpPr>
        <p:spPr>
          <a:xfrm>
            <a:off x="235594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94F2159-D342-291F-C7C1-1C61F23037C5}"/>
              </a:ext>
            </a:extLst>
          </p:cNvPr>
          <p:cNvSpPr/>
          <p:nvPr/>
        </p:nvSpPr>
        <p:spPr>
          <a:xfrm>
            <a:off x="497367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7151FB8-6E9E-CA4C-43EB-DB2AA2512440}"/>
              </a:ext>
            </a:extLst>
          </p:cNvPr>
          <p:cNvSpPr/>
          <p:nvPr/>
        </p:nvSpPr>
        <p:spPr>
          <a:xfrm>
            <a:off x="759139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9E3438F-522D-DCD1-C939-258B3DE52D5A}"/>
              </a:ext>
            </a:extLst>
          </p:cNvPr>
          <p:cNvSpPr/>
          <p:nvPr/>
        </p:nvSpPr>
        <p:spPr>
          <a:xfrm>
            <a:off x="235594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80DD2FE-7D9B-F5A5-400A-D4A0E6B72B6D}"/>
              </a:ext>
            </a:extLst>
          </p:cNvPr>
          <p:cNvSpPr/>
          <p:nvPr/>
        </p:nvSpPr>
        <p:spPr>
          <a:xfrm>
            <a:off x="497367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753D6AE-EDEA-40F2-E464-9E763E347F40}"/>
              </a:ext>
            </a:extLst>
          </p:cNvPr>
          <p:cNvSpPr/>
          <p:nvPr/>
        </p:nvSpPr>
        <p:spPr>
          <a:xfrm>
            <a:off x="759139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D10ACB46-54BD-660C-45F7-8A615901A164}"/>
              </a:ext>
            </a:extLst>
          </p:cNvPr>
          <p:cNvSpPr/>
          <p:nvPr/>
        </p:nvSpPr>
        <p:spPr>
          <a:xfrm>
            <a:off x="235594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91037D2-4A8B-269F-F61F-EC26DE738ADA}"/>
              </a:ext>
            </a:extLst>
          </p:cNvPr>
          <p:cNvSpPr/>
          <p:nvPr/>
        </p:nvSpPr>
        <p:spPr>
          <a:xfrm>
            <a:off x="497367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B1BF8ED-C455-61E8-56A6-9BFC7F92E3F7}"/>
              </a:ext>
            </a:extLst>
          </p:cNvPr>
          <p:cNvSpPr/>
          <p:nvPr/>
        </p:nvSpPr>
        <p:spPr>
          <a:xfrm>
            <a:off x="759139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2117392-4B4D-02A2-3ABA-752DD3DCFA93}"/>
              </a:ext>
            </a:extLst>
          </p:cNvPr>
          <p:cNvSpPr/>
          <p:nvPr/>
        </p:nvSpPr>
        <p:spPr>
          <a:xfrm>
            <a:off x="235594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3BD146E-0C36-799B-BB21-5308C5C5CEE6}"/>
              </a:ext>
            </a:extLst>
          </p:cNvPr>
          <p:cNvSpPr/>
          <p:nvPr/>
        </p:nvSpPr>
        <p:spPr>
          <a:xfrm>
            <a:off x="497367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4FD10CD4-1C3C-67C1-5905-2AB71D85A815}"/>
              </a:ext>
            </a:extLst>
          </p:cNvPr>
          <p:cNvSpPr/>
          <p:nvPr/>
        </p:nvSpPr>
        <p:spPr>
          <a:xfrm>
            <a:off x="759139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9F9F463-7768-7D0C-63C4-B0EFE06ACA90}"/>
              </a:ext>
            </a:extLst>
          </p:cNvPr>
          <p:cNvSpPr/>
          <p:nvPr/>
        </p:nvSpPr>
        <p:spPr>
          <a:xfrm>
            <a:off x="235594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7960AB5-CC41-86CF-5DF0-9E792931BD79}"/>
              </a:ext>
            </a:extLst>
          </p:cNvPr>
          <p:cNvSpPr/>
          <p:nvPr/>
        </p:nvSpPr>
        <p:spPr>
          <a:xfrm>
            <a:off x="497367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68B57C8-D3E1-A60C-7D89-7FAF7027FABA}"/>
              </a:ext>
            </a:extLst>
          </p:cNvPr>
          <p:cNvSpPr/>
          <p:nvPr/>
        </p:nvSpPr>
        <p:spPr>
          <a:xfrm>
            <a:off x="759139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55A915D-6B29-E70C-F07C-C5853EB8D120}"/>
              </a:ext>
            </a:extLst>
          </p:cNvPr>
          <p:cNvSpPr/>
          <p:nvPr/>
        </p:nvSpPr>
        <p:spPr>
          <a:xfrm>
            <a:off x="235594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4E6AFAF8-516C-4BB8-6F93-FCCA0162BA13}"/>
              </a:ext>
            </a:extLst>
          </p:cNvPr>
          <p:cNvSpPr/>
          <p:nvPr/>
        </p:nvSpPr>
        <p:spPr>
          <a:xfrm>
            <a:off x="497367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0CB681A-05ED-10D6-EFA6-2F68ADDDBFB0}"/>
              </a:ext>
            </a:extLst>
          </p:cNvPr>
          <p:cNvSpPr/>
          <p:nvPr/>
        </p:nvSpPr>
        <p:spPr>
          <a:xfrm>
            <a:off x="759139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5EF8986C-3F45-5A35-608C-A95EE335B33B}"/>
              </a:ext>
            </a:extLst>
          </p:cNvPr>
          <p:cNvSpPr/>
          <p:nvPr/>
        </p:nvSpPr>
        <p:spPr>
          <a:xfrm>
            <a:off x="235594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28BC108A-F777-A057-6BB9-9EDFE3228415}"/>
              </a:ext>
            </a:extLst>
          </p:cNvPr>
          <p:cNvSpPr/>
          <p:nvPr/>
        </p:nvSpPr>
        <p:spPr>
          <a:xfrm>
            <a:off x="497367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7EF7F55-9B81-D15F-0CB5-4ABD49B146E0}"/>
              </a:ext>
            </a:extLst>
          </p:cNvPr>
          <p:cNvSpPr/>
          <p:nvPr/>
        </p:nvSpPr>
        <p:spPr>
          <a:xfrm>
            <a:off x="759139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C5655F2-9A5D-5634-90D6-A7B3D993830E}"/>
              </a:ext>
            </a:extLst>
          </p:cNvPr>
          <p:cNvSpPr/>
          <p:nvPr/>
        </p:nvSpPr>
        <p:spPr>
          <a:xfrm>
            <a:off x="235594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D9171403-1D5E-9386-597C-A55B060F79B5}"/>
              </a:ext>
            </a:extLst>
          </p:cNvPr>
          <p:cNvSpPr/>
          <p:nvPr/>
        </p:nvSpPr>
        <p:spPr>
          <a:xfrm>
            <a:off x="497367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D9AEB0EE-BAD4-C16B-9D1D-A66AECDB7F11}"/>
              </a:ext>
            </a:extLst>
          </p:cNvPr>
          <p:cNvSpPr/>
          <p:nvPr/>
        </p:nvSpPr>
        <p:spPr>
          <a:xfrm>
            <a:off x="759139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DA63CE86-4361-2513-800C-D955A83AB8DB}"/>
              </a:ext>
            </a:extLst>
          </p:cNvPr>
          <p:cNvSpPr/>
          <p:nvPr/>
        </p:nvSpPr>
        <p:spPr>
          <a:xfrm>
            <a:off x="19292606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744E4976-8B96-4E01-5B62-1948F44B3C67}"/>
              </a:ext>
            </a:extLst>
          </p:cNvPr>
          <p:cNvSpPr/>
          <p:nvPr/>
        </p:nvSpPr>
        <p:spPr>
          <a:xfrm>
            <a:off x="19554378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E226B963-517B-9FFE-3378-70E3937996E5}"/>
              </a:ext>
            </a:extLst>
          </p:cNvPr>
          <p:cNvSpPr/>
          <p:nvPr/>
        </p:nvSpPr>
        <p:spPr>
          <a:xfrm>
            <a:off x="19816150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D1DC23AD-F3BC-20B4-8B76-41903CE58DCC}"/>
              </a:ext>
            </a:extLst>
          </p:cNvPr>
          <p:cNvSpPr/>
          <p:nvPr/>
        </p:nvSpPr>
        <p:spPr>
          <a:xfrm>
            <a:off x="19292606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1D5CF897-3D9D-87B3-9F68-53D6CA9270C1}"/>
              </a:ext>
            </a:extLst>
          </p:cNvPr>
          <p:cNvSpPr/>
          <p:nvPr/>
        </p:nvSpPr>
        <p:spPr>
          <a:xfrm>
            <a:off x="19554378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1DDE4DFB-9FEC-8A70-A879-698E7F6EEB76}"/>
              </a:ext>
            </a:extLst>
          </p:cNvPr>
          <p:cNvSpPr/>
          <p:nvPr/>
        </p:nvSpPr>
        <p:spPr>
          <a:xfrm>
            <a:off x="19816150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7B6E4BAC-DA27-52FC-7D1A-F09F3504ACF5}"/>
              </a:ext>
            </a:extLst>
          </p:cNvPr>
          <p:cNvSpPr/>
          <p:nvPr/>
        </p:nvSpPr>
        <p:spPr>
          <a:xfrm>
            <a:off x="19292606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09621A17-8F66-29DC-A702-C6A681E88EA1}"/>
              </a:ext>
            </a:extLst>
          </p:cNvPr>
          <p:cNvSpPr/>
          <p:nvPr/>
        </p:nvSpPr>
        <p:spPr>
          <a:xfrm>
            <a:off x="19554378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4F265518-7832-3871-340D-F0F9196C56D7}"/>
              </a:ext>
            </a:extLst>
          </p:cNvPr>
          <p:cNvSpPr/>
          <p:nvPr/>
        </p:nvSpPr>
        <p:spPr>
          <a:xfrm>
            <a:off x="19816150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09D7B0C7-100A-9E37-912F-3F94911C540F}"/>
              </a:ext>
            </a:extLst>
          </p:cNvPr>
          <p:cNvSpPr/>
          <p:nvPr/>
        </p:nvSpPr>
        <p:spPr>
          <a:xfrm>
            <a:off x="19292606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5EFF958D-B1F2-1637-6983-E5ECDB388454}"/>
              </a:ext>
            </a:extLst>
          </p:cNvPr>
          <p:cNvSpPr/>
          <p:nvPr/>
        </p:nvSpPr>
        <p:spPr>
          <a:xfrm>
            <a:off x="19554378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5E001BBC-6B91-6469-7638-986A66E61152}"/>
              </a:ext>
            </a:extLst>
          </p:cNvPr>
          <p:cNvSpPr/>
          <p:nvPr/>
        </p:nvSpPr>
        <p:spPr>
          <a:xfrm>
            <a:off x="19816150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23847C6D-CC5D-246A-B2D0-88843F61B2C9}"/>
              </a:ext>
            </a:extLst>
          </p:cNvPr>
          <p:cNvSpPr/>
          <p:nvPr/>
        </p:nvSpPr>
        <p:spPr>
          <a:xfrm>
            <a:off x="19292606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743FD8B9-9D38-166C-F65C-AD2D60B1E74B}"/>
              </a:ext>
            </a:extLst>
          </p:cNvPr>
          <p:cNvSpPr/>
          <p:nvPr/>
        </p:nvSpPr>
        <p:spPr>
          <a:xfrm>
            <a:off x="19554378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27D0A6EE-2FA5-4983-8630-9DE6A16488F0}"/>
              </a:ext>
            </a:extLst>
          </p:cNvPr>
          <p:cNvSpPr/>
          <p:nvPr/>
        </p:nvSpPr>
        <p:spPr>
          <a:xfrm>
            <a:off x="19816150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86C28D23-A85E-A357-956A-B6D87FC691B1}"/>
              </a:ext>
            </a:extLst>
          </p:cNvPr>
          <p:cNvSpPr/>
          <p:nvPr/>
        </p:nvSpPr>
        <p:spPr>
          <a:xfrm>
            <a:off x="19292606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09375653-09B4-D304-1887-4995DF36D73C}"/>
              </a:ext>
            </a:extLst>
          </p:cNvPr>
          <p:cNvSpPr/>
          <p:nvPr/>
        </p:nvSpPr>
        <p:spPr>
          <a:xfrm>
            <a:off x="19554378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582FD3C-BBB8-3436-AE90-DD2502865675}"/>
              </a:ext>
            </a:extLst>
          </p:cNvPr>
          <p:cNvSpPr/>
          <p:nvPr/>
        </p:nvSpPr>
        <p:spPr>
          <a:xfrm>
            <a:off x="19816150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C2ECC02-ADD6-DC26-D830-AACBE7FC5432}"/>
              </a:ext>
            </a:extLst>
          </p:cNvPr>
          <p:cNvSpPr/>
          <p:nvPr/>
        </p:nvSpPr>
        <p:spPr>
          <a:xfrm>
            <a:off x="19292606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FE3360F8-0158-0988-F47C-B3BC8D34CB13}"/>
              </a:ext>
            </a:extLst>
          </p:cNvPr>
          <p:cNvSpPr/>
          <p:nvPr/>
        </p:nvSpPr>
        <p:spPr>
          <a:xfrm>
            <a:off x="19554378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535A552E-6BF6-E09A-674F-ABBAEBFAEF66}"/>
              </a:ext>
            </a:extLst>
          </p:cNvPr>
          <p:cNvSpPr/>
          <p:nvPr/>
        </p:nvSpPr>
        <p:spPr>
          <a:xfrm>
            <a:off x="19816150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36235E9C-D63C-273E-89F6-BEDEFA1F9B25}"/>
              </a:ext>
            </a:extLst>
          </p:cNvPr>
          <p:cNvSpPr/>
          <p:nvPr/>
        </p:nvSpPr>
        <p:spPr>
          <a:xfrm>
            <a:off x="19292606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F6835BE0-C2A9-E5A9-ECD8-366E23144B35}"/>
              </a:ext>
            </a:extLst>
          </p:cNvPr>
          <p:cNvSpPr/>
          <p:nvPr/>
        </p:nvSpPr>
        <p:spPr>
          <a:xfrm>
            <a:off x="19554378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ED5F7226-9EC3-2DCC-22D5-11A479958A2E}"/>
              </a:ext>
            </a:extLst>
          </p:cNvPr>
          <p:cNvSpPr/>
          <p:nvPr/>
        </p:nvSpPr>
        <p:spPr>
          <a:xfrm>
            <a:off x="19816150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2732E159-5A81-1560-8B2D-3E4A5F860D3B}"/>
              </a:ext>
            </a:extLst>
          </p:cNvPr>
          <p:cNvSpPr/>
          <p:nvPr/>
        </p:nvSpPr>
        <p:spPr>
          <a:xfrm>
            <a:off x="2879493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750A7781-3295-EA04-552F-DF639087E946}"/>
              </a:ext>
            </a:extLst>
          </p:cNvPr>
          <p:cNvSpPr txBox="1"/>
          <p:nvPr/>
        </p:nvSpPr>
        <p:spPr>
          <a:xfrm>
            <a:off x="1573934" y="9151492"/>
            <a:ext cx="4705985" cy="1483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Permite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treinar modelos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personalizados com poucos cliques e dados organizados.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4F69FE71-23BD-0418-D27A-B20DB8D82110}"/>
              </a:ext>
            </a:extLst>
          </p:cNvPr>
          <p:cNvSpPr txBox="1"/>
          <p:nvPr/>
        </p:nvSpPr>
        <p:spPr>
          <a:xfrm>
            <a:off x="1335388" y="7163492"/>
            <a:ext cx="5205897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Google Cloud Vertex</a:t>
            </a:r>
          </a:p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AI / AutoML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DD49231E-FFD0-255C-08A7-B9D3FE288A92}"/>
              </a:ext>
            </a:extLst>
          </p:cNvPr>
          <p:cNvSpPr/>
          <p:nvPr/>
        </p:nvSpPr>
        <p:spPr>
          <a:xfrm>
            <a:off x="15130429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FDA6B6CC-815E-EB6D-8D2A-AD28ECE4B4EA}"/>
              </a:ext>
            </a:extLst>
          </p:cNvPr>
          <p:cNvSpPr txBox="1"/>
          <p:nvPr/>
        </p:nvSpPr>
        <p:spPr>
          <a:xfrm>
            <a:off x="13824870" y="9151492"/>
            <a:ext cx="4705985" cy="1483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Conta com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recursos visuais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do tipo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arrastar e soltar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para gerenciar o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ciclo de vida da IA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E7AA9E81-36B9-C10B-EDC9-895CB1A2E39E}"/>
              </a:ext>
            </a:extLst>
          </p:cNvPr>
          <p:cNvSpPr/>
          <p:nvPr/>
        </p:nvSpPr>
        <p:spPr>
          <a:xfrm>
            <a:off x="9004961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F61619DC-25DE-3CA1-DE18-570E7DA49993}"/>
              </a:ext>
            </a:extLst>
          </p:cNvPr>
          <p:cNvSpPr txBox="1"/>
          <p:nvPr/>
        </p:nvSpPr>
        <p:spPr>
          <a:xfrm>
            <a:off x="7699402" y="9151492"/>
            <a:ext cx="4705985" cy="1483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Possibilita que equipes criem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previsões de machine learning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sem escrever códigos.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8A8E1E85-C77A-0451-0C61-4085C21C411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1" name="object 71">
            <a:extLst>
              <a:ext uri="{FF2B5EF4-FFF2-40B4-BE49-F238E27FC236}">
                <a16:creationId xmlns:a16="http://schemas.microsoft.com/office/drawing/2014/main" id="{512FD486-847A-4A6B-5CEB-98F8F94D8D0C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Ferramentas No-Code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82" name="object 69">
            <a:extLst>
              <a:ext uri="{FF2B5EF4-FFF2-40B4-BE49-F238E27FC236}">
                <a16:creationId xmlns:a16="http://schemas.microsoft.com/office/drawing/2014/main" id="{AF342549-037F-7BBB-69FA-BE138A61FD3C}"/>
              </a:ext>
            </a:extLst>
          </p:cNvPr>
          <p:cNvSpPr txBox="1"/>
          <p:nvPr/>
        </p:nvSpPr>
        <p:spPr>
          <a:xfrm>
            <a:off x="7460855" y="7121146"/>
            <a:ext cx="5205897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Amazon SageMaker</a:t>
            </a:r>
          </a:p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Canvas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3" name="object 69">
            <a:extLst>
              <a:ext uri="{FF2B5EF4-FFF2-40B4-BE49-F238E27FC236}">
                <a16:creationId xmlns:a16="http://schemas.microsoft.com/office/drawing/2014/main" id="{3E35FDD4-90E5-62EF-EA69-CDCFDE16D942}"/>
              </a:ext>
            </a:extLst>
          </p:cNvPr>
          <p:cNvSpPr txBox="1"/>
          <p:nvPr/>
        </p:nvSpPr>
        <p:spPr>
          <a:xfrm>
            <a:off x="13586322" y="7078800"/>
            <a:ext cx="5205897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Microsoft Azure</a:t>
            </a:r>
          </a:p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Machine Learning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pic>
        <p:nvPicPr>
          <p:cNvPr id="77" name="Imagem 76" descr="O que é o Vertex AI? Definição, Usos e Mais [2026] | Guru">
            <a:extLst>
              <a:ext uri="{FF2B5EF4-FFF2-40B4-BE49-F238E27FC236}">
                <a16:creationId xmlns:a16="http://schemas.microsoft.com/office/drawing/2014/main" id="{8CF31B11-76A1-7697-0D78-43FF3176C7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70" r="5886"/>
          <a:stretch>
            <a:fillRect/>
          </a:stretch>
        </p:blipFill>
        <p:spPr>
          <a:xfrm>
            <a:off x="1043869" y="3379527"/>
            <a:ext cx="5758987" cy="3261384"/>
          </a:xfrm>
          <a:prstGeom prst="rect">
            <a:avLst/>
          </a:prstGeom>
        </p:spPr>
      </p:pic>
      <p:pic>
        <p:nvPicPr>
          <p:cNvPr id="80" name="Imagem 79" descr="Serviço de machine learning – Amazon Sagemaker AI – AWS">
            <a:extLst>
              <a:ext uri="{FF2B5EF4-FFF2-40B4-BE49-F238E27FC236}">
                <a16:creationId xmlns:a16="http://schemas.microsoft.com/office/drawing/2014/main" id="{8E6F3712-939A-9AFB-89B2-F279A0538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694" y="3376686"/>
            <a:ext cx="5752629" cy="3261383"/>
          </a:xfrm>
          <a:prstGeom prst="rect">
            <a:avLst/>
          </a:prstGeom>
        </p:spPr>
      </p:pic>
      <p:pic>
        <p:nvPicPr>
          <p:cNvPr id="86" name="Imagem 85" descr="Introdução ao destino de computação Kubernetes - Azure Machine Learning |  Microsoft Learn">
            <a:extLst>
              <a:ext uri="{FF2B5EF4-FFF2-40B4-BE49-F238E27FC236}">
                <a16:creationId xmlns:a16="http://schemas.microsoft.com/office/drawing/2014/main" id="{ABB14D86-B0C9-F295-846C-3ED078F5A9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00" r="3923"/>
          <a:stretch>
            <a:fillRect/>
          </a:stretch>
        </p:blipFill>
        <p:spPr>
          <a:xfrm>
            <a:off x="13297480" y="3396088"/>
            <a:ext cx="5752629" cy="323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076463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59" name="Imagem 58" descr="Melhores ferramentas no-code: guia completo">
            <a:extLst>
              <a:ext uri="{FF2B5EF4-FFF2-40B4-BE49-F238E27FC236}">
                <a16:creationId xmlns:a16="http://schemas.microsoft.com/office/drawing/2014/main" id="{C316AD61-87CA-E49B-2868-FB9AC3023E3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l="12436" r="27388"/>
          <a:stretch>
            <a:fillRect/>
          </a:stretch>
        </p:blipFill>
        <p:spPr>
          <a:xfrm>
            <a:off x="-3348" y="6176"/>
            <a:ext cx="10052050" cy="111448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0366176" y="2816668"/>
            <a:ext cx="9476740" cy="8230234"/>
            <a:chOff x="10366176" y="2816668"/>
            <a:chExt cx="9476740" cy="823023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6176" y="2816668"/>
              <a:ext cx="9476151" cy="344492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53377" y="3603879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10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66176" y="5204030"/>
              <a:ext cx="9476151" cy="34553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1153377" y="5997587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66176" y="7601862"/>
              <a:ext cx="9476151" cy="344492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153377" y="8391304"/>
              <a:ext cx="7903845" cy="1870710"/>
            </a:xfrm>
            <a:custGeom>
              <a:avLst/>
              <a:gdLst/>
              <a:ahLst/>
              <a:cxnLst/>
              <a:rect l="l" t="t" r="r" b="b"/>
              <a:pathLst>
                <a:path w="7903844" h="1870709">
                  <a:moveTo>
                    <a:pt x="7903633" y="0"/>
                  </a:moveTo>
                  <a:lnTo>
                    <a:pt x="0" y="0"/>
                  </a:lnTo>
                  <a:lnTo>
                    <a:pt x="0" y="1870162"/>
                  </a:lnTo>
                  <a:lnTo>
                    <a:pt x="7903633" y="1870162"/>
                  </a:lnTo>
                  <a:lnTo>
                    <a:pt x="79036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object 10"/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/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/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/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/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/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/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/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/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/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/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/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/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/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/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/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/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/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/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/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/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6" name="object 46"/>
          <p:cNvGrpSpPr/>
          <p:nvPr/>
        </p:nvGrpSpPr>
        <p:grpSpPr>
          <a:xfrm>
            <a:off x="0" y="9319088"/>
            <a:ext cx="20104100" cy="1989884"/>
            <a:chOff x="0" y="9319088"/>
            <a:chExt cx="20104100" cy="1989884"/>
          </a:xfrm>
        </p:grpSpPr>
        <p:sp>
          <p:nvSpPr>
            <p:cNvPr id="48" name="object 48"/>
            <p:cNvSpPr/>
            <p:nvPr/>
          </p:nvSpPr>
          <p:spPr>
            <a:xfrm>
              <a:off x="1047076" y="9319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2779915" y="545020"/>
                  </a:moveTo>
                  <a:lnTo>
                    <a:pt x="2753652" y="265760"/>
                  </a:lnTo>
                  <a:lnTo>
                    <a:pt x="2750807" y="265760"/>
                  </a:lnTo>
                  <a:lnTo>
                    <a:pt x="2600236" y="545020"/>
                  </a:lnTo>
                  <a:lnTo>
                    <a:pt x="2779915" y="545020"/>
                  </a:lnTo>
                  <a:close/>
                </a:path>
                <a:path w="3693160" h="942975">
                  <a:moveTo>
                    <a:pt x="3692995" y="0"/>
                  </a:moveTo>
                  <a:lnTo>
                    <a:pt x="3424605" y="0"/>
                  </a:lnTo>
                  <a:lnTo>
                    <a:pt x="3424605" y="134556"/>
                  </a:lnTo>
                  <a:lnTo>
                    <a:pt x="3281794" y="806462"/>
                  </a:lnTo>
                  <a:lnTo>
                    <a:pt x="3095612" y="806462"/>
                  </a:lnTo>
                  <a:lnTo>
                    <a:pt x="3238538" y="134556"/>
                  </a:lnTo>
                  <a:lnTo>
                    <a:pt x="3424605" y="134556"/>
                  </a:lnTo>
                  <a:lnTo>
                    <a:pt x="3424605" y="0"/>
                  </a:lnTo>
                  <a:lnTo>
                    <a:pt x="3024936" y="0"/>
                  </a:lnTo>
                  <a:lnTo>
                    <a:pt x="3024936" y="806462"/>
                  </a:lnTo>
                  <a:lnTo>
                    <a:pt x="2814574" y="806462"/>
                  </a:lnTo>
                  <a:lnTo>
                    <a:pt x="2797822" y="675284"/>
                  </a:lnTo>
                  <a:lnTo>
                    <a:pt x="2525166" y="675284"/>
                  </a:lnTo>
                  <a:lnTo>
                    <a:pt x="2453538" y="806462"/>
                  </a:lnTo>
                  <a:lnTo>
                    <a:pt x="2267369" y="806462"/>
                  </a:lnTo>
                  <a:lnTo>
                    <a:pt x="2675420" y="134556"/>
                  </a:lnTo>
                  <a:lnTo>
                    <a:pt x="2902534" y="134556"/>
                  </a:lnTo>
                  <a:lnTo>
                    <a:pt x="3024936" y="806462"/>
                  </a:lnTo>
                  <a:lnTo>
                    <a:pt x="3024936" y="0"/>
                  </a:lnTo>
                  <a:lnTo>
                    <a:pt x="2341295" y="0"/>
                  </a:lnTo>
                  <a:lnTo>
                    <a:pt x="2341295" y="134556"/>
                  </a:lnTo>
                  <a:lnTo>
                    <a:pt x="2198471" y="806462"/>
                  </a:lnTo>
                  <a:lnTo>
                    <a:pt x="1940674" y="806462"/>
                  </a:lnTo>
                  <a:lnTo>
                    <a:pt x="1822043" y="291833"/>
                  </a:lnTo>
                  <a:lnTo>
                    <a:pt x="1820164" y="291833"/>
                  </a:lnTo>
                  <a:lnTo>
                    <a:pt x="1710842" y="806462"/>
                  </a:lnTo>
                  <a:lnTo>
                    <a:pt x="1543304" y="806462"/>
                  </a:lnTo>
                  <a:lnTo>
                    <a:pt x="1686128" y="134556"/>
                  </a:lnTo>
                  <a:lnTo>
                    <a:pt x="1946744" y="134556"/>
                  </a:lnTo>
                  <a:lnTo>
                    <a:pt x="2065489" y="635266"/>
                  </a:lnTo>
                  <a:lnTo>
                    <a:pt x="2067687" y="633399"/>
                  </a:lnTo>
                  <a:lnTo>
                    <a:pt x="2173757" y="134556"/>
                  </a:lnTo>
                  <a:lnTo>
                    <a:pt x="2341295" y="134556"/>
                  </a:lnTo>
                  <a:lnTo>
                    <a:pt x="2341295" y="0"/>
                  </a:lnTo>
                  <a:lnTo>
                    <a:pt x="1580997" y="0"/>
                  </a:lnTo>
                  <a:lnTo>
                    <a:pt x="1580997" y="134556"/>
                  </a:lnTo>
                  <a:lnTo>
                    <a:pt x="1553146" y="264820"/>
                  </a:lnTo>
                  <a:lnTo>
                    <a:pt x="1227404" y="264820"/>
                  </a:lnTo>
                  <a:lnTo>
                    <a:pt x="1197978" y="403555"/>
                  </a:lnTo>
                  <a:lnTo>
                    <a:pt x="1497660" y="403555"/>
                  </a:lnTo>
                  <a:lnTo>
                    <a:pt x="1470012" y="533819"/>
                  </a:lnTo>
                  <a:lnTo>
                    <a:pt x="1170330" y="533819"/>
                  </a:lnTo>
                  <a:lnTo>
                    <a:pt x="1140079" y="676224"/>
                  </a:lnTo>
                  <a:lnTo>
                    <a:pt x="1465922" y="676224"/>
                  </a:lnTo>
                  <a:lnTo>
                    <a:pt x="1438071" y="806462"/>
                  </a:lnTo>
                  <a:lnTo>
                    <a:pt x="926261" y="806462"/>
                  </a:lnTo>
                  <a:lnTo>
                    <a:pt x="1027150" y="331825"/>
                  </a:lnTo>
                  <a:lnTo>
                    <a:pt x="1069086" y="134556"/>
                  </a:lnTo>
                  <a:lnTo>
                    <a:pt x="1580997" y="134556"/>
                  </a:lnTo>
                  <a:lnTo>
                    <a:pt x="1580997" y="0"/>
                  </a:lnTo>
                  <a:lnTo>
                    <a:pt x="908481" y="0"/>
                  </a:lnTo>
                  <a:lnTo>
                    <a:pt x="908481" y="281914"/>
                  </a:lnTo>
                  <a:lnTo>
                    <a:pt x="899668" y="331825"/>
                  </a:lnTo>
                  <a:lnTo>
                    <a:pt x="713600" y="331825"/>
                  </a:lnTo>
                  <a:lnTo>
                    <a:pt x="716407" y="313486"/>
                  </a:lnTo>
                  <a:lnTo>
                    <a:pt x="715314" y="297522"/>
                  </a:lnTo>
                  <a:lnTo>
                    <a:pt x="690435" y="263029"/>
                  </a:lnTo>
                  <a:lnTo>
                    <a:pt x="634746" y="250888"/>
                  </a:lnTo>
                  <a:lnTo>
                    <a:pt x="603135" y="255765"/>
                  </a:lnTo>
                  <a:lnTo>
                    <a:pt x="574814" y="268998"/>
                  </a:lnTo>
                  <a:lnTo>
                    <a:pt x="553199" y="288531"/>
                  </a:lnTo>
                  <a:lnTo>
                    <a:pt x="541667" y="312254"/>
                  </a:lnTo>
                  <a:lnTo>
                    <a:pt x="545172" y="343458"/>
                  </a:lnTo>
                  <a:lnTo>
                    <a:pt x="566483" y="364985"/>
                  </a:lnTo>
                  <a:lnTo>
                    <a:pt x="598474" y="379704"/>
                  </a:lnTo>
                  <a:lnTo>
                    <a:pt x="634022" y="390474"/>
                  </a:lnTo>
                  <a:lnTo>
                    <a:pt x="710349" y="409155"/>
                  </a:lnTo>
                  <a:lnTo>
                    <a:pt x="749363" y="420395"/>
                  </a:lnTo>
                  <a:lnTo>
                    <a:pt x="786155" y="434962"/>
                  </a:lnTo>
                  <a:lnTo>
                    <a:pt x="844702" y="480275"/>
                  </a:lnTo>
                  <a:lnTo>
                    <a:pt x="862253" y="514121"/>
                  </a:lnTo>
                  <a:lnTo>
                    <a:pt x="869188" y="557479"/>
                  </a:lnTo>
                  <a:lnTo>
                    <a:pt x="863434" y="611924"/>
                  </a:lnTo>
                  <a:lnTo>
                    <a:pt x="848969" y="656336"/>
                  </a:lnTo>
                  <a:lnTo>
                    <a:pt x="826350" y="695312"/>
                  </a:lnTo>
                  <a:lnTo>
                    <a:pt x="796582" y="728903"/>
                  </a:lnTo>
                  <a:lnTo>
                    <a:pt x="760666" y="757161"/>
                  </a:lnTo>
                  <a:lnTo>
                    <a:pt x="719607" y="780161"/>
                  </a:lnTo>
                  <a:lnTo>
                    <a:pt x="674420" y="797941"/>
                  </a:lnTo>
                  <a:lnTo>
                    <a:pt x="626097" y="810577"/>
                  </a:lnTo>
                  <a:lnTo>
                    <a:pt x="575640" y="818121"/>
                  </a:lnTo>
                  <a:lnTo>
                    <a:pt x="524078" y="820610"/>
                  </a:lnTo>
                  <a:lnTo>
                    <a:pt x="473163" y="818794"/>
                  </a:lnTo>
                  <a:lnTo>
                    <a:pt x="425475" y="812838"/>
                  </a:lnTo>
                  <a:lnTo>
                    <a:pt x="382117" y="801992"/>
                  </a:lnTo>
                  <a:lnTo>
                    <a:pt x="344208" y="785520"/>
                  </a:lnTo>
                  <a:lnTo>
                    <a:pt x="312864" y="762660"/>
                  </a:lnTo>
                  <a:lnTo>
                    <a:pt x="289217" y="732675"/>
                  </a:lnTo>
                  <a:lnTo>
                    <a:pt x="274358" y="694804"/>
                  </a:lnTo>
                  <a:lnTo>
                    <a:pt x="269405" y="648309"/>
                  </a:lnTo>
                  <a:lnTo>
                    <a:pt x="275488" y="592455"/>
                  </a:lnTo>
                  <a:lnTo>
                    <a:pt x="461670" y="592455"/>
                  </a:lnTo>
                  <a:lnTo>
                    <a:pt x="460590" y="634403"/>
                  </a:lnTo>
                  <a:lnTo>
                    <a:pt x="477113" y="665022"/>
                  </a:lnTo>
                  <a:lnTo>
                    <a:pt x="508863" y="683780"/>
                  </a:lnTo>
                  <a:lnTo>
                    <a:pt x="553478" y="690143"/>
                  </a:lnTo>
                  <a:lnTo>
                    <a:pt x="587768" y="685965"/>
                  </a:lnTo>
                  <a:lnTo>
                    <a:pt x="622020" y="673404"/>
                  </a:lnTo>
                  <a:lnTo>
                    <a:pt x="649998" y="652462"/>
                  </a:lnTo>
                  <a:lnTo>
                    <a:pt x="665429" y="623125"/>
                  </a:lnTo>
                  <a:lnTo>
                    <a:pt x="665492" y="593737"/>
                  </a:lnTo>
                  <a:lnTo>
                    <a:pt x="664705" y="592455"/>
                  </a:lnTo>
                  <a:lnTo>
                    <a:pt x="652437" y="572452"/>
                  </a:lnTo>
                  <a:lnTo>
                    <a:pt x="628243" y="556996"/>
                  </a:lnTo>
                  <a:lnTo>
                    <a:pt x="594918" y="545071"/>
                  </a:lnTo>
                  <a:lnTo>
                    <a:pt x="508914" y="522744"/>
                  </a:lnTo>
                  <a:lnTo>
                    <a:pt x="460248" y="507771"/>
                  </a:lnTo>
                  <a:lnTo>
                    <a:pt x="410464" y="487222"/>
                  </a:lnTo>
                  <a:lnTo>
                    <a:pt x="371932" y="459282"/>
                  </a:lnTo>
                  <a:lnTo>
                    <a:pt x="348348" y="421398"/>
                  </a:lnTo>
                  <a:lnTo>
                    <a:pt x="339166" y="375475"/>
                  </a:lnTo>
                  <a:lnTo>
                    <a:pt x="343865" y="323443"/>
                  </a:lnTo>
                  <a:lnTo>
                    <a:pt x="361454" y="274574"/>
                  </a:lnTo>
                  <a:lnTo>
                    <a:pt x="386054" y="233654"/>
                  </a:lnTo>
                  <a:lnTo>
                    <a:pt x="416737" y="200101"/>
                  </a:lnTo>
                  <a:lnTo>
                    <a:pt x="452526" y="173329"/>
                  </a:lnTo>
                  <a:lnTo>
                    <a:pt x="492467" y="152742"/>
                  </a:lnTo>
                  <a:lnTo>
                    <a:pt x="535597" y="137756"/>
                  </a:lnTo>
                  <a:lnTo>
                    <a:pt x="580986" y="127787"/>
                  </a:lnTo>
                  <a:lnTo>
                    <a:pt x="627646" y="122237"/>
                  </a:lnTo>
                  <a:lnTo>
                    <a:pt x="674649" y="120523"/>
                  </a:lnTo>
                  <a:lnTo>
                    <a:pt x="720369" y="122428"/>
                  </a:lnTo>
                  <a:lnTo>
                    <a:pt x="764184" y="128524"/>
                  </a:lnTo>
                  <a:lnTo>
                    <a:pt x="804697" y="139306"/>
                  </a:lnTo>
                  <a:lnTo>
                    <a:pt x="840486" y="155308"/>
                  </a:lnTo>
                  <a:lnTo>
                    <a:pt x="892327" y="205041"/>
                  </a:lnTo>
                  <a:lnTo>
                    <a:pt x="908481" y="281914"/>
                  </a:lnTo>
                  <a:lnTo>
                    <a:pt x="908481" y="0"/>
                  </a:lnTo>
                  <a:lnTo>
                    <a:pt x="0" y="0"/>
                  </a:lnTo>
                  <a:lnTo>
                    <a:pt x="0" y="137388"/>
                  </a:lnTo>
                  <a:lnTo>
                    <a:pt x="198323" y="137388"/>
                  </a:lnTo>
                  <a:lnTo>
                    <a:pt x="198323" y="162204"/>
                  </a:lnTo>
                  <a:lnTo>
                    <a:pt x="0" y="162204"/>
                  </a:lnTo>
                  <a:lnTo>
                    <a:pt x="0" y="295605"/>
                  </a:lnTo>
                  <a:lnTo>
                    <a:pt x="198323" y="295605"/>
                  </a:lnTo>
                  <a:lnTo>
                    <a:pt x="198323" y="320408"/>
                  </a:lnTo>
                  <a:lnTo>
                    <a:pt x="0" y="320408"/>
                  </a:lnTo>
                  <a:lnTo>
                    <a:pt x="0" y="458101"/>
                  </a:lnTo>
                  <a:lnTo>
                    <a:pt x="198323" y="458101"/>
                  </a:lnTo>
                  <a:lnTo>
                    <a:pt x="198323" y="482930"/>
                  </a:lnTo>
                  <a:lnTo>
                    <a:pt x="0" y="482930"/>
                  </a:lnTo>
                  <a:lnTo>
                    <a:pt x="0" y="622820"/>
                  </a:lnTo>
                  <a:lnTo>
                    <a:pt x="198323" y="622820"/>
                  </a:lnTo>
                  <a:lnTo>
                    <a:pt x="198323" y="647623"/>
                  </a:lnTo>
                  <a:lnTo>
                    <a:pt x="0" y="647623"/>
                  </a:lnTo>
                  <a:lnTo>
                    <a:pt x="0" y="781545"/>
                  </a:lnTo>
                  <a:lnTo>
                    <a:pt x="198323" y="781545"/>
                  </a:lnTo>
                  <a:lnTo>
                    <a:pt x="198323" y="806361"/>
                  </a:lnTo>
                  <a:lnTo>
                    <a:pt x="0" y="806361"/>
                  </a:lnTo>
                  <a:lnTo>
                    <a:pt x="0" y="942378"/>
                  </a:lnTo>
                  <a:lnTo>
                    <a:pt x="3692995" y="942378"/>
                  </a:lnTo>
                  <a:lnTo>
                    <a:pt x="3692995" y="820610"/>
                  </a:lnTo>
                  <a:lnTo>
                    <a:pt x="3692995" y="806462"/>
                  </a:lnTo>
                  <a:lnTo>
                    <a:pt x="3494557" y="806361"/>
                  </a:lnTo>
                  <a:lnTo>
                    <a:pt x="3494557" y="781545"/>
                  </a:lnTo>
                  <a:lnTo>
                    <a:pt x="3692995" y="781545"/>
                  </a:lnTo>
                  <a:lnTo>
                    <a:pt x="3692995" y="647623"/>
                  </a:lnTo>
                  <a:lnTo>
                    <a:pt x="3494557" y="647623"/>
                  </a:lnTo>
                  <a:lnTo>
                    <a:pt x="3494557" y="622820"/>
                  </a:lnTo>
                  <a:lnTo>
                    <a:pt x="3692995" y="622820"/>
                  </a:lnTo>
                  <a:lnTo>
                    <a:pt x="3692995" y="482930"/>
                  </a:lnTo>
                  <a:lnTo>
                    <a:pt x="3494557" y="482930"/>
                  </a:lnTo>
                  <a:lnTo>
                    <a:pt x="3494557" y="458101"/>
                  </a:lnTo>
                  <a:lnTo>
                    <a:pt x="3692995" y="458101"/>
                  </a:lnTo>
                  <a:lnTo>
                    <a:pt x="3692995" y="320408"/>
                  </a:lnTo>
                  <a:lnTo>
                    <a:pt x="3494557" y="320408"/>
                  </a:lnTo>
                  <a:lnTo>
                    <a:pt x="3494557" y="295605"/>
                  </a:lnTo>
                  <a:lnTo>
                    <a:pt x="3692995" y="295605"/>
                  </a:lnTo>
                  <a:lnTo>
                    <a:pt x="3692995" y="162204"/>
                  </a:lnTo>
                  <a:lnTo>
                    <a:pt x="3494557" y="162204"/>
                  </a:lnTo>
                  <a:lnTo>
                    <a:pt x="3494557" y="137388"/>
                  </a:lnTo>
                  <a:lnTo>
                    <a:pt x="3692995" y="137388"/>
                  </a:lnTo>
                  <a:lnTo>
                    <a:pt x="3692995" y="134556"/>
                  </a:lnTo>
                  <a:lnTo>
                    <a:pt x="3692995" y="120523"/>
                  </a:lnTo>
                  <a:lnTo>
                    <a:pt x="36929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9" name="object 49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1643501" y="3979601"/>
            <a:ext cx="79502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01</a:t>
            </a:r>
            <a:endParaRPr sz="6100" dirty="0">
              <a:latin typeface="Montserrat Light"/>
              <a:cs typeface="Montserrat Ligh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2855096" y="4282052"/>
            <a:ext cx="5940493" cy="75187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Reduz o tempo de desenvolvimento de meses para dias.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562143" y="6373312"/>
            <a:ext cx="95758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0" spc="-10" dirty="0">
                <a:solidFill>
                  <a:srgbClr val="C1272C"/>
                </a:solidFill>
                <a:latin typeface="Montserrat Light"/>
                <a:cs typeface="Montserrat Light"/>
              </a:rPr>
              <a:t>02</a:t>
            </a:r>
            <a:endParaRPr sz="6100" dirty="0">
              <a:latin typeface="Montserrat Light"/>
              <a:cs typeface="Montserrat Ligh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567567" y="8767025"/>
            <a:ext cx="939800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6100" b="0" spc="-65" dirty="0">
                <a:solidFill>
                  <a:srgbClr val="C1272C"/>
                </a:solidFill>
                <a:latin typeface="Montserrat Light"/>
                <a:cs typeface="Montserrat Light"/>
              </a:rPr>
              <a:t>03</a:t>
            </a:r>
            <a:endParaRPr sz="6100" dirty="0">
              <a:latin typeface="Montserrat Light"/>
              <a:cs typeface="Montserrat Light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11086438" y="320675"/>
            <a:ext cx="8494468" cy="180434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lang="pt-BR" sz="5400" b="1" spc="-15" dirty="0">
                <a:latin typeface="Montserrat ExtraBold"/>
                <a:cs typeface="Montserrat ExtraBold"/>
              </a:rPr>
              <a:t>MACHINE LEARNING</a:t>
            </a:r>
            <a:endParaRPr sz="5400" b="1" dirty="0">
              <a:latin typeface="Montserrat ExtraBold"/>
              <a:cs typeface="Montserrat ExtraBold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pt-BR" sz="5400" spc="-40" dirty="0"/>
              <a:t>Ferramentas No-Code</a:t>
            </a:r>
            <a:endParaRPr sz="5400" spc="-40" dirty="0"/>
          </a:p>
        </p:txBody>
      </p:sp>
      <p:sp>
        <p:nvSpPr>
          <p:cNvPr id="57" name="object 56">
            <a:extLst>
              <a:ext uri="{FF2B5EF4-FFF2-40B4-BE49-F238E27FC236}">
                <a16:creationId xmlns:a16="http://schemas.microsoft.com/office/drawing/2014/main" id="{582D0F34-1FB3-87F6-CA38-997A12D42EE0}"/>
              </a:ext>
            </a:extLst>
          </p:cNvPr>
          <p:cNvSpPr txBox="1">
            <a:spLocks/>
          </p:cNvSpPr>
          <p:nvPr/>
        </p:nvSpPr>
        <p:spPr>
          <a:xfrm>
            <a:off x="11092120" y="2492893"/>
            <a:ext cx="8494468" cy="570669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spcBef>
                <a:spcPts val="610"/>
              </a:spcBef>
            </a:pPr>
            <a:r>
              <a:rPr lang="pt-BR" sz="3200" b="1" kern="0" spc="-15" dirty="0">
                <a:latin typeface="Montserrat ExtraBold"/>
                <a:cs typeface="Montserrat ExtraBold"/>
              </a:rPr>
              <a:t>Vantagens</a:t>
            </a:r>
            <a:endParaRPr lang="pt-BR" sz="3200" b="1" kern="0" dirty="0">
              <a:latin typeface="Montserrat ExtraBold"/>
              <a:cs typeface="Montserrat ExtraBold"/>
            </a:endParaRPr>
          </a:p>
        </p:txBody>
      </p:sp>
      <p:sp>
        <p:nvSpPr>
          <p:cNvPr id="58" name="object 51">
            <a:extLst>
              <a:ext uri="{FF2B5EF4-FFF2-40B4-BE49-F238E27FC236}">
                <a16:creationId xmlns:a16="http://schemas.microsoft.com/office/drawing/2014/main" id="{3554222A-4D33-6B8E-72EC-A2E62E10FA01}"/>
              </a:ext>
            </a:extLst>
          </p:cNvPr>
          <p:cNvSpPr txBox="1"/>
          <p:nvPr/>
        </p:nvSpPr>
        <p:spPr>
          <a:xfrm>
            <a:off x="12855096" y="3826899"/>
            <a:ext cx="5401310" cy="37997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400" b="1" spc="-20" dirty="0">
                <a:solidFill>
                  <a:srgbClr val="4D4D4D"/>
                </a:solidFill>
                <a:latin typeface="Montserrat ExtraBold" panose="00000900000000000000" pitchFamily="2" charset="0"/>
                <a:cs typeface="Montserrat"/>
              </a:rPr>
              <a:t>AGILIDADE</a:t>
            </a:r>
            <a:endParaRPr sz="2400" b="1" dirty="0">
              <a:latin typeface="Montserrat ExtraBold" panose="00000900000000000000" pitchFamily="2" charset="0"/>
              <a:cs typeface="Montserrat"/>
            </a:endParaRPr>
          </a:p>
        </p:txBody>
      </p:sp>
      <p:sp>
        <p:nvSpPr>
          <p:cNvPr id="60" name="object 51">
            <a:extLst>
              <a:ext uri="{FF2B5EF4-FFF2-40B4-BE49-F238E27FC236}">
                <a16:creationId xmlns:a16="http://schemas.microsoft.com/office/drawing/2014/main" id="{E3006083-13DB-A69A-6A22-B5F838168455}"/>
              </a:ext>
            </a:extLst>
          </p:cNvPr>
          <p:cNvSpPr txBox="1"/>
          <p:nvPr/>
        </p:nvSpPr>
        <p:spPr>
          <a:xfrm>
            <a:off x="13064164" y="6669414"/>
            <a:ext cx="5940493" cy="112376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Permite que analistas e profissionais de negócios criem modelos sem precisar de programação avançada.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62" name="object 51">
            <a:extLst>
              <a:ext uri="{FF2B5EF4-FFF2-40B4-BE49-F238E27FC236}">
                <a16:creationId xmlns:a16="http://schemas.microsoft.com/office/drawing/2014/main" id="{7BEE1655-721C-45A6-7A1B-F69198CC53C5}"/>
              </a:ext>
            </a:extLst>
          </p:cNvPr>
          <p:cNvSpPr txBox="1"/>
          <p:nvPr/>
        </p:nvSpPr>
        <p:spPr>
          <a:xfrm>
            <a:off x="13064164" y="6214261"/>
            <a:ext cx="5401310" cy="37997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400" b="1" spc="-20" dirty="0">
                <a:solidFill>
                  <a:srgbClr val="4D4D4D"/>
                </a:solidFill>
                <a:latin typeface="Montserrat ExtraBold" panose="00000900000000000000" pitchFamily="2" charset="0"/>
                <a:cs typeface="Montserrat"/>
              </a:rPr>
              <a:t>DEMOCRATIZAÇÃO</a:t>
            </a:r>
            <a:endParaRPr sz="2400" b="1" dirty="0">
              <a:latin typeface="Montserrat ExtraBold" panose="00000900000000000000" pitchFamily="2" charset="0"/>
              <a:cs typeface="Montserrat"/>
            </a:endParaRPr>
          </a:p>
        </p:txBody>
      </p:sp>
      <p:sp>
        <p:nvSpPr>
          <p:cNvPr id="63" name="object 51">
            <a:extLst>
              <a:ext uri="{FF2B5EF4-FFF2-40B4-BE49-F238E27FC236}">
                <a16:creationId xmlns:a16="http://schemas.microsoft.com/office/drawing/2014/main" id="{DD459264-2743-9DCA-55AA-B025855E3459}"/>
              </a:ext>
            </a:extLst>
          </p:cNvPr>
          <p:cNvSpPr txBox="1"/>
          <p:nvPr/>
        </p:nvSpPr>
        <p:spPr>
          <a:xfrm>
            <a:off x="13064164" y="9002268"/>
            <a:ext cx="5940493" cy="751872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Realiza a seleção e o ajuste de algoritmos de forma automática.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64" name="object 51">
            <a:extLst>
              <a:ext uri="{FF2B5EF4-FFF2-40B4-BE49-F238E27FC236}">
                <a16:creationId xmlns:a16="http://schemas.microsoft.com/office/drawing/2014/main" id="{5FF3CF71-9C46-4B49-EAF2-C63A51956651}"/>
              </a:ext>
            </a:extLst>
          </p:cNvPr>
          <p:cNvSpPr txBox="1"/>
          <p:nvPr/>
        </p:nvSpPr>
        <p:spPr>
          <a:xfrm>
            <a:off x="13064164" y="8547115"/>
            <a:ext cx="5401310" cy="379976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R="5080">
              <a:lnSpc>
                <a:spcPts val="2870"/>
              </a:lnSpc>
              <a:spcBef>
                <a:spcPts val="195"/>
              </a:spcBef>
            </a:pPr>
            <a:r>
              <a:rPr lang="pt-BR" sz="2400" b="1" spc="-20" dirty="0">
                <a:solidFill>
                  <a:srgbClr val="4D4D4D"/>
                </a:solidFill>
                <a:latin typeface="Montserrat ExtraBold" panose="00000900000000000000" pitchFamily="2" charset="0"/>
                <a:cs typeface="Montserrat"/>
              </a:rPr>
              <a:t>AUTOMAÇÃO</a:t>
            </a:r>
            <a:endParaRPr sz="2400" b="1" dirty="0">
              <a:latin typeface="Montserrat ExtraBold" panose="00000900000000000000" pitchFamily="2" charset="0"/>
              <a:cs typeface="Montserrat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D5845-A6D1-4526-029D-5D790D1E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m 75" descr="Linear Regression | Implementing Linear Regression from Scratch">
            <a:extLst>
              <a:ext uri="{FF2B5EF4-FFF2-40B4-BE49-F238E27FC236}">
                <a16:creationId xmlns:a16="http://schemas.microsoft.com/office/drawing/2014/main" id="{85839CC7-6608-DECC-D630-D101B4F40CC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5872" r="11933"/>
          <a:stretch>
            <a:fillRect/>
          </a:stretch>
        </p:blipFill>
        <p:spPr>
          <a:xfrm>
            <a:off x="13219" y="9096"/>
            <a:ext cx="14300481" cy="11141980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C93C7FDB-CCC5-615E-817B-68B77768FB1A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5AE2824-91C4-6144-9FA4-9C482D88F605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CCAEF097-0774-A55D-7B5B-3760E94382AD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D3E7C456-AE8B-D587-E795-B3947594B9EC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5FB0D83-6FF3-8E79-735C-58CE329E1F5B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A20BF9A-1DBD-DF00-5AAE-DDF67E649F85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55679DE-6072-35A4-1EF2-CF676E413492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735D1299-8BD6-0AAE-ECE1-B47863E550F0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457C523-433E-00AE-AB00-9F962D1F7360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1981D3-A6DB-4047-AE5C-A9FA875C31DD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3BD7C67-8F39-4C5D-E5CC-ED5262737F84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739054D-1B5A-52A9-8A3C-1F487BBBEB99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5F4EB45-18E7-87C5-C45A-88AF6819F6B8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32FFD1F-8B03-D5F1-7690-136804AB2735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92D86A3-E9B4-1A40-13E5-CC4170BF1056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46ECAD4-0D84-0F1A-D53E-2399C3BB67A5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79D481A-138D-5546-F9A1-1C06111ACAB0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F34BFD8-E056-12A2-20C6-471DDFBF116E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74921A8-C68D-7134-D8CE-43B4CD5B51B0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63A5B278-DAF3-99EF-E469-933CB7F14D1D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033966C-AC4B-AEC6-2609-E4F9D419DFBA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3026788-6666-8F21-5990-07F38A76885C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00D98BA1-9229-F06E-31B2-EFAB99C1F1F0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C36483B-B916-90AE-A45B-0588D33B0435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24A3FEAD-C02A-DE0B-9656-0DE47098FCAF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C4222660-D588-AAF8-C576-460B7045DFED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7C1DDE-16EB-A571-3EE0-31651B06F3F3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4172D3F-DAA7-EEC8-17E6-ACDB98A28886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ECBAE7BB-9B87-0641-986B-A4117E4DE1AC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54CFA40-4CF2-2DE2-B204-95324EEB38AC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28ED2B4D-61AE-665E-1B9D-AA38F07009BC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58A85F5F-E9DE-2E3F-5FAE-77641CA5DC8C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74B2E0A-D2FA-9B27-4046-06C1E9A54F88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FB0F314-C4E0-13CC-B4DF-C3997BC99528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63E2BF70-298A-315B-E251-5D085B2D36E7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0067BCDB-2D93-C2C6-C1C7-292515703F32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59279F5B-C5D4-8F1C-04A9-C29CCB61095B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B575A947-C67A-627D-BD35-6C5D3C3B46C2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B779B9E7-627B-CFF5-28F5-DC7DBDEE839B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6E686D9E-B16B-6E40-4720-7A26465217D5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D9C37ECA-F12B-EE6D-6CD3-638B266F6651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BACD2E30-12BE-2AE1-56F7-DA9632F38399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74C70A6B-B9BB-F1BD-82A7-7A2D1000BF62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36640A5-8E64-4881-B9D0-95404266667C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A8FA75C2-CD51-0F05-A061-49F1D02111F7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4514CCD1-E1C5-D918-30B4-7DCD253BE84E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2BD57173-BCDE-AA8B-030F-BA8AE6379160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1CAA48AC-97E1-7DAC-E125-987D2853D2A3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0F4F7B2B-9785-B471-7862-70023828240E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5E596D85-53CA-A997-CE63-C5E621258F0A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73BB2169-E17C-248B-F163-97125BA9352E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2EBDF18A-7D80-87A5-242E-D1AA72379D5E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EC16EF38-ED6D-B82B-623C-78FC62E75BE7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037CAC3B-B5B6-5FB2-F47C-B05D058EEB17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08B1DC8F-2C41-4FDE-1960-2F07B4ABAFC4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709E3A0-E201-6458-CD8C-F858D1C3C25B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C9AA8754-BE04-4CFD-7E51-4F3CBC6C9F6B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71D51BE-BCC8-B7DA-F60B-C188B3E917C2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24891897-597C-E89E-265A-7018D4FC99A1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10A4E6C6-4AE3-F3BC-7672-96F27794EC4C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E0CDB857-4AE5-A3BD-6495-6FB58525B5D6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70819752-40FD-534E-6EF0-BF6B302797E0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0E6BB8F4-516E-D52B-63CE-79009CDD1C86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7E2F6E9B-E4D4-167B-9B61-09640C9D7C64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DECC5FE5-6265-46E3-2F81-BBFC98524003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6853F0FF-78B3-1FE7-57A7-5B816E45AB99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A084E1C0-FE09-023B-C223-4674B4788F7D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5CBE255E-F9F1-F506-5304-9FF247B9FD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7904" y="3799940"/>
            <a:ext cx="12158345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11500" spc="10" dirty="0">
                <a:solidFill>
                  <a:srgbClr val="FFFFFF"/>
                </a:solidFill>
              </a:rPr>
              <a:t>REGRESSÃO</a:t>
            </a:r>
            <a:br>
              <a:rPr lang="pt-BR" sz="11500" spc="10" dirty="0">
                <a:solidFill>
                  <a:srgbClr val="FFFFFF"/>
                </a:solidFill>
              </a:rPr>
            </a:br>
            <a:r>
              <a:rPr lang="pt-BR" sz="115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LINEAR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6BF97135-F73E-41FE-8F2E-37BBCC455AB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9701867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9AE03-BFC5-DF6D-4961-541919F6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2DB855-C368-5CA7-13DB-942933AC463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2EC46B7-A134-D324-7541-113B47333F59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4B2D87B-A4FC-D23E-BB30-DB2E9740E5C8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26084C9-E60F-A089-E968-838FD13FC3B9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5185CD5-9560-13C5-D554-8E72CEF30AE3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21B6462-14DC-8A10-DDFD-FFC196895443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3F5443B-D4D4-BF88-FCBF-675E9578127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DFA5C9F-B05D-96DB-296B-A5E01FB94E31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47B72C4-1C6E-EBD2-C737-8097F6A8F096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59F0B78-0AF5-AA75-AE77-F3DCA9C02A87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7AA7DC81-FD93-A46D-077E-9116926C5D75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4CFE5B6-28A6-3A42-897F-455745BC232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B83482F-0FFA-977D-0AD4-855C20D2B6E8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FB432D6-2D4D-D54C-9BFC-AC124776D581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751E649-8DFA-D6A0-BA10-082CFD911190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8DFC1C71-E900-2F6A-015F-08B76BEFF360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C2AE6AB-C5EE-B85E-E8E1-44E0162E5D83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76F20BE-DB75-B56B-6557-14A37BCB3C26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980722E-DFBF-AC01-6DFD-5D450CEF7594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BA7F7DA-B2D1-6DCF-F41E-65E2FBE52E79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C6DD6F5B-816F-9348-A117-5427749B54BB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DBCC2E5C-04D9-BF4F-3DDE-A455BA2E15E6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0FCD620-7862-B5CF-48BB-D1B05FD9FFE3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A8536F28-B53A-6208-E94B-4B99DFD85716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0B6623D7-1552-A64E-FE5F-242BB721CC8E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7D3363B-8F49-39A3-9185-89619BA3C1F5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02C8EB7-72A1-9CAE-FF26-5FDE197DD3C8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AE88D10-A30D-14B0-6F65-FD3D6CED5904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1A8F309-E0E5-DD27-71DB-B70BEE16AB76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C21B4A9-2724-944A-9D1C-CDCB8570B158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235C1E0-07C9-C22C-C386-63B618FA0970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4FC05BE3-59B9-31D4-1E61-4C776FBFAE5D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67D07084-2E77-A61A-2513-D95994D5F64E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5A5B3CEB-433F-DDCB-51B7-2D77399C0D9F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F0685F7-CB2C-7620-0622-EA8EBBF5471A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28E7A275-2340-E598-8507-3363FE98E6E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3766EAF9-AA47-D704-DC54-708050EE44F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8203A4C-9379-C006-8658-9C3D4F69968A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290D1A30-50CD-2B2B-1B47-3FD972948F6E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36754368-301E-ABC5-DA77-0ADDCADE7030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A8AF20DE-7333-79A7-2B7C-F73EE3B243E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5CDAFFA9-8287-7E98-35BD-218E0366DA43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82556491-5CE7-0410-90CA-6268FD8C6B52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4E1F7106-DBA8-8D8A-3F27-B6A583E570A6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E2FF7636-9965-F549-F414-7B5A54C765D7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1D25CEAF-3470-AC41-358C-BE36D774156E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6B56360A-83D5-8CD0-E448-2FFB4003ED00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6995AA9E-1D64-00D4-197F-D05DA02D33BB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95EB8724-772C-8427-553E-7C14E607D54E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A1C40B63-2E19-97DB-95A2-7D44A423AC2B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469A56F1-71F1-4746-B599-1262053441CD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8397599A-9945-90F9-4D0B-C089259BE22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EB81EADB-DF9E-FE38-C79D-E9886266E38F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19F48564-161F-FBA0-CCB5-B421F37D197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A1F48A06-736E-7E81-B060-F7F4730224BC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D317DE75-3544-7447-DDC0-C2640187A55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E7ADC79D-7ED3-2928-C0AF-B6A86EEAE407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DBD211CD-DD76-EEE2-49DB-89328E3ABF5D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77A7316-908D-8C40-FF9F-D72D190DD85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24B3B15B-0BCC-252C-5B0B-0D5E2E87C637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BBE0B0F2-9C24-EC63-E602-602A9268DB64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F3377C43-4340-28ED-C80F-B6BD69D8CA9F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BE381790-0403-96B5-5445-222871739E45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351A85C1-EFE9-4BE9-2E78-97CC3420F426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361A0240-0576-E865-DF89-FF4E021AAE7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24362C6D-6ED5-6368-20DA-01246B79E5F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366A4517-825D-17C5-35CD-166900A506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MACHINE LEARNING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Regressão Linear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8F414832-7546-436D-7716-51AD252371C4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8244413D-511B-A624-BCE5-0EC41947DC6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4C5C098C-D222-4D8D-1850-2B4D08A7E50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6" name="object 71">
            <a:extLst>
              <a:ext uri="{FF2B5EF4-FFF2-40B4-BE49-F238E27FC236}">
                <a16:creationId xmlns:a16="http://schemas.microsoft.com/office/drawing/2014/main" id="{933D888A-EDF4-6701-95F5-6E2A7D6EA4E1}"/>
              </a:ext>
            </a:extLst>
          </p:cNvPr>
          <p:cNvSpPr txBox="1">
            <a:spLocks/>
          </p:cNvSpPr>
          <p:nvPr/>
        </p:nvSpPr>
        <p:spPr>
          <a:xfrm>
            <a:off x="1509065" y="3556704"/>
            <a:ext cx="17495592" cy="46288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A regressão linear é um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algoritmo supervisionado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aprendizado de máquina usado para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prever um valor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saída numérico e contínuo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com base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em uma ou mais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variáveis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entrada.</a:t>
            </a:r>
            <a:endParaRPr lang="pt-BR" sz="6000" kern="0" dirty="0"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87960528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4E096E-FBBA-EBF8-6AF3-1186C78B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873726-A8ED-D59F-D582-9FC49615B2F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307D4C2-EA32-79ED-2B3F-2B47455AA2F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66F8140-1D58-25E6-C8C6-DAE5EF0AD087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048AA71-7C5D-DFE6-11F6-6B74A28B2D8D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10F525E-D141-E82C-2561-D4E189550B1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2DC179B-80B4-D1C5-7D89-EADC44AB2003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600CE0F-520D-E030-3B01-729AA8A66BA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86F0522-2C3D-1255-7E8E-B1B2F534F51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6DA7622-0E1E-F98D-2644-9F4929F44C59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E6F5EA0-3ACA-620E-78CC-1061825B6562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B9144A2-C2DF-2F18-5BF3-8D3442A71424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1BBD5F6-535B-862F-537E-9F17D757FAE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2CBF2C5-EE03-E2CE-B296-BF4639834D4F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21EE06D-12DC-D4BA-AC2B-92B6C381BAD3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942295A-6C37-D245-8929-AA1697791644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4D24B37-EA97-92D2-0D5F-C6A1D600046C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8F89BCC-CDB5-A505-E722-D0320DBA3CD1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6A28E64-1054-F915-F08A-0A388C428B75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D4D23CD-B32C-41B5-9795-599FCC6B74F0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1AB69A1-9137-9DDC-1F32-F7DE93095E28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E78109A-5CCD-694D-1CCC-D8319C2B80A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9AFB37C-2086-DA91-39EF-5ADB2566A73E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AAA20A0-DAF5-2AA6-6B2E-2D0875C953B1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C26EC4A-A176-20A8-EEAF-C467136A97C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1E4DD66C-1FC4-DC64-A74E-9FDDB6F30BD9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AF5699-7574-5D64-EA35-73C64C3A4D2E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8FDC233D-E8C7-2D03-F725-8914836368FC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262E437C-D1AD-5628-A6C9-FB7828A54454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F89A61A5-29DF-1D89-A3FC-15267D44381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731C0078-0FA2-7EB4-2F37-9990517DF70D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FDFEB9E-2907-9581-9402-654C6B4871EB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7708F97-1E9A-555F-7DC2-64511154EBEA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B15CFEA3-E853-8318-AF1B-69F92163AFAA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4443BFDA-6439-90B8-5292-1F5B9B3058FB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D855E7D-5B8F-F983-F583-53FAF5F3A88E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1A894583-4C6F-2AD3-8CE1-1BA0EA1285E2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6373A71C-78BB-55CE-62A3-70A8D693BBE5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08C84FE9-D41E-2B97-47E8-C81992359121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19D1B82F-A1E4-3A8F-D9F3-405FF7C5E203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95E9912A-2ADE-8D5C-4FB1-F76E8CEF2E89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98D2EF45-B39C-BE70-0358-3E053CD3FA36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A6A3D5F2-CF0E-152B-37BA-BE1C10485CE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CE670AA6-A7E5-A209-A7D7-F49153C83A1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DA512B3-7979-925E-D63A-E6070AD2EED4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3BC4524A-0E9A-1235-07D5-195CA57A6166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9CB5CD8B-F614-36A7-E085-442459337CC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C7E0622E-6ECE-9BEF-DEED-F5A6F5BE766A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D64CE196-54B1-C3DD-4EFF-E120B13804D5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67FF56D4-9F7F-7398-C6D3-E9F170034746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27497A73-28DB-7809-449F-47AF24233DE2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2D587680-0B85-92F4-9361-B0B032A64F98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5181BC3D-42DA-6D31-104C-5EE847383F96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9400701-9BDA-B722-70F2-46CBFE0CC812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7CCFFB19-4F0E-0F89-E68A-CB34B2286575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AA857FFC-C75C-6B42-6549-1D452AAE6B38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F0606058-BF35-C727-A0A7-7792C603AEA4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4020DDB1-6C93-EDA1-241D-A2163BE00C21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942BD5D8-9D43-95C4-43E1-BF7561483C2E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AA63ADC6-60AD-4F30-8DA4-124EBD628383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C4ACA724-5DC2-D435-6597-FB1847FDFF86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5CD70455-E3C2-3BC1-CD14-97379C943A2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B39303EA-6911-998C-DF6B-43B4C13BE5E7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CF208946-0F74-FA23-915B-20A8EBAD926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4095C1AB-DF03-C0E7-CFF7-0373FE5C21B0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99D4D9B1-2E81-0FA6-A7CD-A2EEBE256FEB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24B46CB9-7827-67E6-FB02-A834B5A8E96B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6C2E113F-2758-7362-049D-F46C0416C90A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6A238DB7-941F-24C3-4CAD-28120191218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E5AE376F-337C-BC0A-537C-1E7E69B118C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D0FA5508-C78F-FF9D-50F0-109E2F9D7756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Regressão Linear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A274B75E-A133-D196-C3C9-0D536CC293D8}"/>
              </a:ext>
            </a:extLst>
          </p:cNvPr>
          <p:cNvSpPr txBox="1">
            <a:spLocks/>
          </p:cNvSpPr>
          <p:nvPr/>
        </p:nvSpPr>
        <p:spPr>
          <a:xfrm>
            <a:off x="1522768" y="3443786"/>
            <a:ext cx="17481888" cy="431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95"/>
              </a:spcBef>
            </a:pP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A técnica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modela a relação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entre uma variável dependente (o alvo que você quer prever) e uma ou mais variáveis independentes (os atributos de entrada) traçando uma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linha reta matemática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.</a:t>
            </a:r>
            <a:endParaRPr lang="pt-BR" sz="48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593154858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07AAAB2-9D7F-3EE4-D703-F0C71BCE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1325176-5974-BA94-AEBC-C671CA6CD60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A58725E-C35D-DC0C-C9F4-44548C409BF6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A36F342-5085-96B6-0D68-58CBC74E6E9B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34F7FEC-6633-6DAA-7788-9AE31EBCB676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346B0F5-613B-0E43-EE80-3722FF420B6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1422F35-0054-0FA1-BA85-7DEBACF3961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4354E56-8D08-5813-95E0-313E87B1DEA3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8B193D5-4574-EA00-CB6F-49D0FBACBB4B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365DA81-4A9F-961A-CCEB-32E9B295CDF8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83D9C2F-9FDE-0BDE-ECA4-71F8AB2035E8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8399CBB-66E3-EFDB-FA8F-F6AD19EB77A4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AD0440E-55E8-A3BE-725F-C42B4833647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F5BDE1E-2B08-9F32-8146-D46998396C1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43A7E67-DE5F-24FF-FA1D-AD536BF1C44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DC5C957-C93C-EC96-89B1-B7A015DE9EF0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1F922FF-3DAB-A6E1-5231-B8ADE355F53A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45D32EB-F7C4-AEE5-001F-1578EB7C7FA0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10B4804-F9A5-1DDB-9F78-1266FF3D6A4A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9AF1656-319C-A5F1-9399-E31FFFEC4B42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4FDAB1D-6BE6-0CDC-5A39-D82E232412AF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5139AB5-94C1-B9B9-2F3E-85467A7028E8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FB0DDD6-155A-4532-5737-8C2B15366774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04217FE-5255-6B9F-9F5C-9D09E963DAC6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AC59D7B3-DCB6-7F80-5874-EA6CEC122E6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3F9DF2E-2662-2F63-2E57-BE3B54AE705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EDA3E5B1-E82A-8FBB-F977-DFFCE156E3C9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73C3053-17E5-6F1F-7162-4D44FC4BC6A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4F9F9F23-6130-FC52-8D77-6B8F12D88AB1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E8D737AE-3367-C205-6840-811434F08738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DB33379E-5A0E-16B7-D765-5FA35C5017A3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363B6283-B874-C8F0-74A1-E30B25D581C2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D56CE9DE-072D-84D3-7B52-DB64AD6E11FE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05FC07B1-A628-530F-73BA-C323F31C6E8F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14F1EB8C-2303-CA77-DD9A-FBFFE5082044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B154A6B9-0D60-A491-A258-D05019AA4C43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54F605FB-7957-2419-AB41-E18A7A514D1D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792285A8-4D48-AF03-3C08-B3E3050427E9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20FCB79-D1F8-7600-05CA-F866EE8AB7A6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0308145E-E232-C6AD-83A8-7E5DAAB18D83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77087502-5C43-F8EB-D667-A604528E15E6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8920A0C0-156F-C13F-E043-5C8E714E7C84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207B4ABF-DD69-2073-136D-A0F2AFFB0556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69ECBAA1-50B8-61AF-25F0-B039CA1A6FB6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97CFB258-D7B4-91A1-FBA3-F7BD810D8A1C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A05CEE0D-9CE2-341F-D2A1-C6B618284E09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2320F72C-F60A-42E1-0109-3DFF242FDD5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EE64EB9F-2182-218E-D403-AB85B44301F4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FA8EE022-0465-DB94-1C80-30DDB55BBCCA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61C84093-BA74-AA47-28B5-BCAF1A91D2C4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BCCD4431-DA6F-4BE9-547C-FB540828299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6143269F-3AD4-11A8-B578-04DB5899B56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BA25EE43-5BBB-30F2-892F-B38B582BB0A8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CFF4D395-9A8F-3D31-19C8-236F0E5EE73F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5DE682C6-1A7F-843A-CF36-B435DC58F12D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BFFD1FE-A730-A10E-FA52-41766F3850DC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28394787-3DB1-C7C1-0B1E-DFF0E260CD53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00CDC774-F3CB-3DB8-102D-B346AA0DE5A7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DAE7995F-084E-8B82-EE45-665179E92601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ED9390D4-E241-93E5-CD02-3B1043A67A2F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F7BB8C4E-7D10-1539-5B6B-B40D99D54F2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EF066571-19AF-E2BA-7852-DAB99049FC82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23D3746C-3A21-503B-0B40-101B938FD1BA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7B5B62E9-D80E-99A9-5CEE-50B2C1C35451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F301FEE0-1DD4-EE14-E610-77678E6DD94A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2703751A-BCF3-FAFC-4556-CBE8539024C3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B8BCA656-92EF-C703-499D-784FD01A4C1F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4AB88278-1BE6-44E2-375B-C726EF774745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F667F26-3ABB-F424-6D82-358CC449AEE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73E2780E-144C-B143-6564-7A204D220E6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189B9E86-8950-7B72-5D32-5F5B654F19DE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Regressão Linear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98E6509D-EA22-F765-53B9-D04A790AE447}"/>
              </a:ext>
            </a:extLst>
          </p:cNvPr>
          <p:cNvSpPr txBox="1">
            <a:spLocks/>
          </p:cNvSpPr>
          <p:nvPr/>
        </p:nvSpPr>
        <p:spPr>
          <a:xfrm>
            <a:off x="1522768" y="3443786"/>
            <a:ext cx="6624282" cy="76432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Construindo juntos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uma análise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conceitual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de aprendizagem de máquina que </a:t>
            </a:r>
            <a:r>
              <a:rPr lang="pt-BR" sz="4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simule uma regressão linear</a:t>
            </a:r>
            <a:r>
              <a:rPr lang="pt-BR" sz="4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.</a:t>
            </a:r>
            <a:endParaRPr lang="pt-BR" sz="48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4" name="Imagem 3" descr="Regressão Linear: o que é, para que serve, por que é importante, tipos e  exemplos de uso">
            <a:extLst>
              <a:ext uri="{FF2B5EF4-FFF2-40B4-BE49-F238E27FC236}">
                <a16:creationId xmlns:a16="http://schemas.microsoft.com/office/drawing/2014/main" id="{9D25B8C4-C8E6-2F5B-DE2E-E49856916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6523" y="3220667"/>
            <a:ext cx="97536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47467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E79F-1EFB-F352-8740-0025A879F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5D93FCA9-210C-1607-55EA-CAE6F6F7BAF4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744547B-79B2-7C64-24F4-DCB6CF1C526F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5F925C-D209-B1D9-C227-A905F7EDE327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ECC9323B-F596-D45F-73AF-CDBDB03CEEF3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3497952-4595-435F-2496-3EB505244E9A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D479223-DF56-AC47-8C9D-E5E5F83BF4E8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A90A08C-AD58-852E-F491-378CC7576C98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54E151C-4D7D-4863-C39E-50C80EBBA405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2C8E9B4-6448-4915-58EE-2EDE2BE3FFF4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D797078-C6BC-765A-E129-24CA7F7C50A6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2F80D79-A0FB-B808-5321-C6FFF1A44D48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585DD17-875C-BBA5-C9B1-00D7B45E3AC7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5DF36C3-A98B-A4BB-BFDF-608563842F7E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CB36F5B-ED51-9698-BA59-DA4E80497034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1204514-E683-988B-A5E5-8D3D31656589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EC7847F-B3E0-E612-0A55-78E810C85550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03253B24-D0BC-D0BB-674E-406FCCC160F7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D6B1AEC-D5E9-64D9-CC9B-47CD68ED0E05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592D6E2-DB21-6233-EE76-FAA7BCF06BF8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CF6FF6-7B73-6313-2BDB-8C00967226CC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1EE903A6-CF76-76D2-FA61-00AE5877EFD4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0B85ECF0-51FC-1172-DA01-CCB7838DA25F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04B6AB4-A198-E07E-4B6D-28D12A28B03E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63C89D0-0AA8-B2CB-272D-3402511B5BB6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035643B3-8C8B-94B1-FB1E-3017105D161D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06D1BF8-F8C5-588A-9B2C-FAB7AA1D1FEA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E11F3F3A-1F5C-0222-56F8-DE073A172F6A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268869FA-25C5-58CF-6BC4-65CDAD02C9B7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1614E02-3AD2-7108-4B0A-70E6FEDFDFD0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3EC64CC-E057-1B4C-DE63-D02A250F56C5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4A1C6F3-DE0D-7869-4900-EF1DE3E76B38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E71D9ABF-2087-0142-7752-91BB4037A8ED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D69B2E51-4D6C-1372-6ABE-D7FB1C0C2A7E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5D02D8A1-680D-E515-D340-03C492CE45FC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ACFBEE6-5362-A0DD-66A0-D3BFD6C4147B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9C8A3E9-9D81-E11D-485C-E2778A80C6F1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635F1942-EE81-F2C2-24FA-954489FA4116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92A225F-808B-AF5D-AFCF-C695B51457B3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C46A4CAE-5DF6-F9B0-F42F-764F1E4C73F4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F3C0FA7-A490-953B-6706-36EF1F218F86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77F249D5-2AEE-705B-A2D1-15ACE601F956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FE51EEC4-DF7E-5FFD-1DC1-83FDF7263985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2B336642-0746-C977-AB4E-5E83E5059781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E47A3BE4-C2F0-FFAF-2984-4A4DEFD91E9B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66028708-E56D-7020-A58A-133164CA3D7C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8109B7BB-F65B-576A-C7C4-2A1124F7011E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0BDC2029-59BF-969A-6F69-1DB52B5DF50D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4C586CC4-A45B-275F-0D0B-8B4CAC97E517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BE1BC884-2BDA-6875-A724-895922422911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E219F08C-C78C-C6C8-F695-6E260B393308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45A5BB3D-6128-56D4-1D56-6A7D5CF6E459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0ABA91B2-72DD-1A3D-65DF-1C40E1B32522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5D83C809-52E2-0858-553C-86CAEBCD365E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F92DA600-3C7D-608F-4C8B-BCFBD4C28ED0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5C17B29D-2E21-2851-4931-14D61C16932D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C6AD69C3-3B54-CFDA-6631-212E39D01ABD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E99D3FC3-52FA-8994-14A8-89448AFA3852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8990364-4B22-6717-B4A7-F5C752A4A5EF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07D44A8-0725-CEBA-153D-0E601B1FFFCC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746C502E-2045-A058-7CE0-CE2A6560BDC6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A05FC3D5-5375-BFB2-5360-0F3ED53532BF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E834A7DA-72C1-89A5-081F-8C6C863A64E3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3825C50B-0F9C-9625-8B65-33A8713154FA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DA0199B7-CB2B-87E3-4F3B-F8019FEA3082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9F3715CC-0616-15C8-E557-62371AC06D0E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21BC3852-ED64-2FE3-01B8-5C24CE000FB1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31E2AF3C-4E8D-B20C-7619-3BEF5BE6074D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69" name="object 69">
            <a:extLst>
              <a:ext uri="{FF2B5EF4-FFF2-40B4-BE49-F238E27FC236}">
                <a16:creationId xmlns:a16="http://schemas.microsoft.com/office/drawing/2014/main" id="{C8D3D60D-3497-C254-3FC7-8C3D2B58F2B1}"/>
              </a:ext>
            </a:extLst>
          </p:cNvPr>
          <p:cNvGrpSpPr/>
          <p:nvPr/>
        </p:nvGrpSpPr>
        <p:grpSpPr>
          <a:xfrm>
            <a:off x="0" y="0"/>
            <a:ext cx="14314169" cy="11308715"/>
            <a:chOff x="0" y="0"/>
            <a:chExt cx="14314169" cy="11308715"/>
          </a:xfrm>
        </p:grpSpPr>
        <p:pic>
          <p:nvPicPr>
            <p:cNvPr id="70" name="object 70">
              <a:extLst>
                <a:ext uri="{FF2B5EF4-FFF2-40B4-BE49-F238E27FC236}">
                  <a16:creationId xmlns:a16="http://schemas.microsoft.com/office/drawing/2014/main" id="{C5166B55-7BB8-96F9-0E7A-B19592A3AA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4313700" cy="11308556"/>
            </a:xfrm>
            <a:prstGeom prst="rect">
              <a:avLst/>
            </a:prstGeom>
          </p:spPr>
        </p:pic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22035E07-005A-A234-5DDD-05535D6DADC3}"/>
                </a:ext>
              </a:extLst>
            </p:cNvPr>
            <p:cNvSpPr/>
            <p:nvPr/>
          </p:nvSpPr>
          <p:spPr>
            <a:xfrm>
              <a:off x="5395174" y="7776085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2" name="object 72">
            <a:extLst>
              <a:ext uri="{FF2B5EF4-FFF2-40B4-BE49-F238E27FC236}">
                <a16:creationId xmlns:a16="http://schemas.microsoft.com/office/drawing/2014/main" id="{5DF10976-0505-AE9D-E0A7-84AAF2B51D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7904" y="3799940"/>
            <a:ext cx="13129665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11500" spc="10" dirty="0">
                <a:solidFill>
                  <a:srgbClr val="FFFFFF"/>
                </a:solidFill>
              </a:rPr>
              <a:t>MODELO POR </a:t>
            </a:r>
            <a:br>
              <a:rPr lang="pt-BR" sz="11500" spc="10" dirty="0">
                <a:solidFill>
                  <a:srgbClr val="FFFFFF"/>
                </a:solidFill>
              </a:rPr>
            </a:br>
            <a:r>
              <a:rPr lang="pt-BR" sz="11500" b="1" spc="10" dirty="0">
                <a:solidFill>
                  <a:srgbClr val="FFFFFF"/>
                </a:solidFill>
                <a:latin typeface="Montserrat ExtraBold"/>
              </a:rPr>
              <a:t>C</a:t>
            </a:r>
            <a:r>
              <a:rPr lang="pt-BR" sz="115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LASSIFICAÇÃO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2CA20E32-82C3-243F-E33A-08080A7ADCAF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9715130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DCE26-69BB-ABD5-263E-AADF9E062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EEF70C-79EC-574D-7378-DA2481F3920A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8147736-2D88-D3BB-FFAC-49C525D3D28D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4B9D313-3D62-EDC9-271C-94A0004B5013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8118496-D06F-B289-D960-C247CC9E223C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2243BDB-6325-177D-2770-B88DDCF3F995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9F8795D-A3DD-1C85-7BCB-BD5339E38F7B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E492718-9AF9-37EE-1416-FAE14FC57ABB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7B17494-4420-BCEA-5F59-DAD92B213DEB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3C0296D-5968-667E-2C51-036FC5322192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9722327-341D-3F7A-464A-0928CACBA43E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08614BE-CE80-917C-A480-F57656F65342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456299A-2517-43EF-9775-AC81BFFFF75E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1703064E-5329-BFDE-AB35-14AAE46B13AD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E2FDF9E-31EC-3ED6-E018-1D145D947963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9890712-0639-EF17-A9A7-1C2868ADB5A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FCFC727-BF3D-8DF7-54A5-6F13DD6CAD8A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AACF5B7-0375-4098-42B4-28421B548DCD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BAC552D-83F3-3405-531E-72F25EB7C03C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9C3DF88-E67E-68A7-9831-2B1189C72667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5780F17E-E16B-DB8D-C347-1BA403F072A3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9842180-9AD8-B5C4-B6B8-9102A25D1311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21F4F38-0839-AE40-1FFE-C9F1A5AC496F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6E7C9E9A-09C8-A723-0D1B-5304E59F453B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BC541A0D-6733-4698-91C3-196DA7B816E8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45380180-D33B-464D-8085-671431E3A20C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4C5A5872-5AFD-E163-9EEF-953646E214AD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C2ADDFE1-3769-2A19-D6D7-58BB190DAD26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D2D2B4B-1AF6-028A-E8F2-137E36D38D7D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EB23727E-4C81-5308-C8EE-AA6499A0C7A0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0895CC2-91E6-C05A-6A73-38787A7D232C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B5491C0-9022-E156-9910-A2FCC0D5E07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7C59CE47-1066-C8AA-BEB5-F7FA43ABC66F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16BDAFBB-720A-FBCB-9442-ACF2C547DC4F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EDF92651-359C-26EC-7931-DC8A8CF990E6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3C54D32-0095-8D99-80B6-33E9286F671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9B5ED74F-821A-BD42-B0C3-E02255B8940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0706C4FD-0ACC-2DA3-A071-171432AEB64F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BFDE43D7-3B50-24B4-114D-210D8E8287C5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3B286B85-BAE9-BEB0-DE41-D7184DB9E51C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5CD33E36-0932-D32C-0CA7-37C0ED7A9DCC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287DA1E4-C718-FD81-8B85-AFC72DFEAD82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2742943A-2A73-CD31-AF21-9D7E9AAE5A83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91DFF914-65DE-6C3D-727A-25B33435F0E5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20E4EE22-C5E0-6DD3-8725-9E4A988097E2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388B030-035B-80DC-1B7E-5995D398110B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A866B98A-3C07-D440-951E-DBC99DA02451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D73AB233-A130-B089-81E8-2396D72AB221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A2A8B850-AFB8-9772-7A05-A1F2E718E427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7CB54B24-A4D7-1393-8528-2FF8FB14850B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669819DE-B0DD-C819-AF91-2C176AB4EBE6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E613F16C-E002-8021-8B19-026BAEB5FBBE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618779C9-9DE9-56A2-8C57-AFE6FD7B6926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69C3630E-51C3-908D-FB94-16F30913707B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D69ACBB6-DCA1-306E-DA1D-000435EF0D69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33901C56-7F59-695B-B953-BB4579BFFC68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5F3AFCFA-346A-997E-C124-7FDF8A55DC9E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4814AECC-080F-D91F-B567-639DABD5CEBA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8C220EF1-BD03-1914-0D0B-3B2C0D93E5AF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8154E922-B874-5F80-3BA8-811B5111D7EF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3BC3DA4-A59D-547A-5F74-C62118A8BE6E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2891E206-BD66-8F61-6006-69CAB2090B9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2EE74260-89A4-E0A4-178C-6E370104BB32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9085AAEC-C977-A6D5-6D21-138BAC1840C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946DC980-6837-E377-E62D-259B245D5972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39010F0A-527B-8301-F007-054FF57FA71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979738B3-F3AB-F8CB-9FB6-1756E141F43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5C210C52-C918-669E-8D58-76A8499C2F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MACHINE LEARNING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Modelo por Classificação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32770DD5-B65A-DC8C-5134-213F22DF19EF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D82B18F5-586E-0237-954E-D05B8DE647B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00B2AA38-8357-D342-F3AE-54A041F2F77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6" name="object 71">
            <a:extLst>
              <a:ext uri="{FF2B5EF4-FFF2-40B4-BE49-F238E27FC236}">
                <a16:creationId xmlns:a16="http://schemas.microsoft.com/office/drawing/2014/main" id="{0B8AD18B-5FBE-9F4D-EF89-B2BCECACE549}"/>
              </a:ext>
            </a:extLst>
          </p:cNvPr>
          <p:cNvSpPr txBox="1">
            <a:spLocks/>
          </p:cNvSpPr>
          <p:nvPr/>
        </p:nvSpPr>
        <p:spPr>
          <a:xfrm>
            <a:off x="1509065" y="3556704"/>
            <a:ext cx="17495592" cy="46288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classificação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em machine learning é uma tarefa de aprendizado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supervisionado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que usa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algoritmos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para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prever o rótulo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ou a categoria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correta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para um conjunto de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dados de entrada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.</a:t>
            </a:r>
            <a:endParaRPr lang="pt-BR" sz="6000" kern="0" dirty="0"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9747004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3DF3BB-A962-E800-B41C-A55F599D1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F188B67-3EE6-C0F9-8612-4674A453CC9B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55D8422-C3CE-C266-3E2A-3CBE4B1BDCB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05E8EAD-0BF9-E52B-467E-C088444BB2D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C2E484F-0DB9-B905-B8DC-B1CB43009F3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F17BA48-BD73-F9A5-6A14-32A0472E03B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A7A0AB79-8DA5-24ED-1171-A8CCABB4DF63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D2FD246-182C-66A5-0170-47311A336E42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B761159B-447C-1449-B147-CD9A4A4E0C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9B02ABB-0FC3-2CDE-6D01-23C54573493B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DA06B9C-9103-8284-4C29-20C735B09452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C134601-C04C-B34A-D803-987F0BB34BEE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CD74135A-FA8C-67CC-87EA-221F7AC0344C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0472B8B6-34C4-8BB7-E5AF-0DB51F393286}"/>
              </a:ext>
            </a:extLst>
          </p:cNvPr>
          <p:cNvSpPr txBox="1"/>
          <p:nvPr/>
        </p:nvSpPr>
        <p:spPr>
          <a:xfrm>
            <a:off x="12332678" y="5890062"/>
            <a:ext cx="6406172" cy="271632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3000" b="1" spc="-20" dirty="0">
                <a:solidFill>
                  <a:srgbClr val="4D4D4D"/>
                </a:solidFill>
                <a:latin typeface="Montserrat"/>
                <a:cs typeface="Montserrat"/>
              </a:rPr>
              <a:t>Encontrar padrões</a:t>
            </a:r>
            <a:r>
              <a:rPr lang="pt-BR" sz="3000" spc="-20" dirty="0">
                <a:solidFill>
                  <a:srgbClr val="4D4D4D"/>
                </a:solidFill>
                <a:latin typeface="Montserrat"/>
                <a:cs typeface="Montserrat"/>
              </a:rPr>
              <a:t> nos dados de entrada para atribuir uma nova observação a uma categoria específica.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9FF8003-42D3-12F3-6F8E-115A3A961BD1}"/>
              </a:ext>
            </a:extLst>
          </p:cNvPr>
          <p:cNvSpPr txBox="1"/>
          <p:nvPr/>
        </p:nvSpPr>
        <p:spPr>
          <a:xfrm>
            <a:off x="12332678" y="4098774"/>
            <a:ext cx="4194810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Qual seu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OBJETIVO?</a:t>
            </a:r>
            <a:endParaRPr sz="3600" dirty="0">
              <a:latin typeface="Montserrat ExtraBold"/>
              <a:cs typeface="Montserrat ExtraBold"/>
            </a:endParaRPr>
          </a:p>
        </p:txBody>
      </p:sp>
      <p:sp>
        <p:nvSpPr>
          <p:cNvPr id="21" name="object 71">
            <a:extLst>
              <a:ext uri="{FF2B5EF4-FFF2-40B4-BE49-F238E27FC236}">
                <a16:creationId xmlns:a16="http://schemas.microsoft.com/office/drawing/2014/main" id="{C1776413-77B6-BE13-4C48-E74455FE147D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 por Classificação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19" name="Imagem 18" descr="Programming Image Classification with Machine Learning">
            <a:extLst>
              <a:ext uri="{FF2B5EF4-FFF2-40B4-BE49-F238E27FC236}">
                <a16:creationId xmlns:a16="http://schemas.microsoft.com/office/drawing/2014/main" id="{9E5A7979-1896-183C-03E5-036C54D3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11" r="3339"/>
          <a:stretch>
            <a:fillRect/>
          </a:stretch>
        </p:blipFill>
        <p:spPr>
          <a:xfrm>
            <a:off x="0" y="3563437"/>
            <a:ext cx="11837340" cy="758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386244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FC0A6B-E64E-9FCB-6055-6E2625950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46148D4-4487-A077-00B4-58752D5D724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2802926-BCFD-0635-772A-C100D0BD827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4A63CA1-3DA7-9A3F-BC61-AF7ABCBD9D5F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DD3F06B-3433-D668-B938-403217BB4F0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BA2C6D3-C2DF-E6C4-26A0-CEE9108B823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A2C7ECB-5B45-DFCA-3814-DB53B6039D60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AF8D10F-250D-6CC3-60A1-C93640172CFB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AC1E18D-B759-448C-2BC8-FC143E106D2D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3151EE9-ED42-74B7-927B-F7549180D8A7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1B8B783-64C9-B7AB-B230-F878623F347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C53300F-CB8C-6D8C-2575-AF2C86017338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DBE3528-CF70-5046-737C-B96508A0E51E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A658860-53BE-5D44-FE1F-A134B9C5D54A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653E522-5E85-72B1-C16B-743EDEC4C318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E538EAC-F3E7-7F07-6EDA-A1F1DB9762EB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EE74F3D-1A98-4A1E-13DF-437CD5D47B3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15CE073-0112-4A7A-2740-85DDDCFA0FD8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6A6A200-8D6F-275E-19B3-C05BDB9D45E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26C2AC2D-0CC8-D98A-7AE6-A8621915169C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EE4D5D-DFFF-D4F2-7D08-14631C76B18E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493E916-3925-8DFF-7E25-E28B504DC6DF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05DF48F5-9FD0-6AC5-65CC-424F1DA849B5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BA4E85D-D8F9-0D11-661F-7865D914CCA0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3CC2A3-58E2-2FAC-AA0B-A86E7A516807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1E88905-5BE5-8066-8E10-A3FE92C6C875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95E35F15-28CF-5549-D999-4F711FDF5F21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C113D35-E371-FD17-804E-23964BF62E5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7779E2D9-CCDE-D6F1-CFC0-B8E4262DE54F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990E4069-DE6A-C265-2C0F-4BBBD5CC5D2C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76C02F99-37AA-6183-7862-A696CFF824B3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77EA9C84-7C29-2E99-0B7E-81A6007FCDC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7D3BA89-CCC2-CFBD-2F9B-FB865A2CF5FE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BF52EB65-3A50-564C-0621-174B10F0C4AD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65103BC7-D6E3-47E6-F5E7-6A5A100F52BE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A7282678-43EE-D7B5-8D00-B87921E6F8B1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730E40B7-19D9-44CA-6C6B-60AE52AF8C4F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07148FC0-A282-C33D-BA84-4AA295F6F4FA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9F909DB3-18AF-C0A2-8CD7-4CB4FBD526CD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86FC4342-167B-D40E-DF05-233DEAED0D14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61E39C3F-6E9E-CAD2-F0D5-B11BCB6E328C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8D2E637D-81EA-9EDB-9D36-12102744F772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3236B2FC-21B7-901D-9CEC-4794C692BF1B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84275104-2F68-E4F4-1640-3F9EBF2BEF10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FAC23501-F4F8-B62E-6B17-669FFECC69EA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2CF498C3-11BC-E5CE-9B63-BDD1F686348A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502713E9-C54B-83F7-BE25-E470FEC67D52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C402390E-C83A-B610-5909-88FFE77CE73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C408F966-2CDC-CD0B-4E43-E17798C87B34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F262D6D2-5230-6672-6849-0AA2F32A8DD8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8F22531C-7F4D-97F1-34DF-850A1F7E1375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2C26F6B6-3A97-E23F-8B88-A0A50C3381BC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1865F9E3-FDA3-40D0-0A9B-0697F3618630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C3BC23E7-9432-DC30-4985-FC4F01A5D06E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EEF40153-0491-A46D-34CA-F923FD40653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CFBDFC86-98D6-D18E-80F3-1804A2899AA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418356C7-AFD0-0F89-1786-10064A634ACA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A7F4035A-2D3B-C352-14AB-E77D2CC0B4C3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DC10B3EC-C3BF-F5AF-2C61-91B20FBDCCAF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B81FF394-5CF1-CDA9-17E1-2AAB27AD7395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2424E4D9-8164-023E-4A45-6713705C6040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995CE3D6-456D-EFBE-1DC6-849CDB4172F9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FA49CFD0-D996-B66C-903B-F281FC387BC0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AB6744B3-1411-F520-264C-C27695902B43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D7087681-5BE1-B7D2-6783-B13C3D7ED883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06D480AF-F407-6FCB-419F-676E86CCA8E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75E3DCFE-EBC5-8461-806A-8E7F5C21671E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1DD06923-A70A-D296-8F28-C53294B19FB8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E85453DF-D45C-5193-EDFE-9532805D2C1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A8A3D8FF-F609-0671-1530-BBFB7104A6E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58F68B6C-DDB2-3E45-7673-E674E10FAC32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 por Classificação</a:t>
            </a: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A407B0FF-598D-4D4D-C49A-FA4E7247E01D}"/>
              </a:ext>
            </a:extLst>
          </p:cNvPr>
          <p:cNvSpPr txBox="1">
            <a:spLocks/>
          </p:cNvSpPr>
          <p:nvPr/>
        </p:nvSpPr>
        <p:spPr>
          <a:xfrm>
            <a:off x="1522768" y="3443786"/>
            <a:ext cx="6624282" cy="66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95"/>
              </a:spcBef>
            </a:pPr>
            <a:r>
              <a:rPr lang="pt-BR" sz="3200" b="1" kern="0" spc="-15" dirty="0">
                <a:solidFill>
                  <a:srgbClr val="0070C0"/>
                </a:solidFill>
                <a:latin typeface="Montserrat" panose="00000500000000000000" pitchFamily="2" charset="0"/>
                <a:cs typeface="Montserrat"/>
              </a:rPr>
              <a:t>REGRESSÃO</a:t>
            </a:r>
            <a:endParaRPr lang="pt-BR" sz="3200" b="1" kern="0" dirty="0">
              <a:solidFill>
                <a:srgbClr val="0070C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6" name="object 71">
            <a:extLst>
              <a:ext uri="{FF2B5EF4-FFF2-40B4-BE49-F238E27FC236}">
                <a16:creationId xmlns:a16="http://schemas.microsoft.com/office/drawing/2014/main" id="{DF239202-8135-F7CD-AAD0-CC2E8D0528C7}"/>
              </a:ext>
            </a:extLst>
          </p:cNvPr>
          <p:cNvSpPr txBox="1">
            <a:spLocks/>
          </p:cNvSpPr>
          <p:nvPr/>
        </p:nvSpPr>
        <p:spPr>
          <a:xfrm>
            <a:off x="12181000" y="3443786"/>
            <a:ext cx="6624282" cy="66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95"/>
              </a:spcBef>
            </a:pPr>
            <a:r>
              <a:rPr lang="pt-BR" sz="3200" b="1" kern="0" spc="-15" dirty="0">
                <a:solidFill>
                  <a:srgbClr val="0070C0"/>
                </a:solidFill>
                <a:latin typeface="Montserrat" panose="00000500000000000000" pitchFamily="2" charset="0"/>
                <a:cs typeface="Montserrat"/>
              </a:rPr>
              <a:t>CLASSIFICAÇÃO</a:t>
            </a:r>
            <a:endParaRPr lang="pt-BR" sz="3200" b="1" kern="0" dirty="0">
              <a:solidFill>
                <a:srgbClr val="0070C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71" name="Imagem 70" descr="Curso Machine Learning - Regressão Linear - Python [ #02 Tipos de Regressão  ]">
            <a:extLst>
              <a:ext uri="{FF2B5EF4-FFF2-40B4-BE49-F238E27FC236}">
                <a16:creationId xmlns:a16="http://schemas.microsoft.com/office/drawing/2014/main" id="{A0EDBCD0-32F2-BDFF-9589-68954E87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7" t="31773" r="66843" b="28470"/>
          <a:stretch>
            <a:fillRect/>
          </a:stretch>
        </p:blipFill>
        <p:spPr>
          <a:xfrm>
            <a:off x="2509505" y="4173082"/>
            <a:ext cx="5239122" cy="4673352"/>
          </a:xfrm>
          <a:prstGeom prst="rect">
            <a:avLst/>
          </a:prstGeom>
        </p:spPr>
      </p:pic>
      <p:pic>
        <p:nvPicPr>
          <p:cNvPr id="72" name="Imagem 71" descr="Curso Machine Learning - Regressão Linear - Python [ #02 Tipos de Regressão  ]">
            <a:extLst>
              <a:ext uri="{FF2B5EF4-FFF2-40B4-BE49-F238E27FC236}">
                <a16:creationId xmlns:a16="http://schemas.microsoft.com/office/drawing/2014/main" id="{5806B246-23F8-5503-D17C-2C89277F6F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005" t="33269" r="8692" b="31419"/>
          <a:stretch>
            <a:fillRect/>
          </a:stretch>
        </p:blipFill>
        <p:spPr>
          <a:xfrm>
            <a:off x="13052081" y="4468908"/>
            <a:ext cx="4623843" cy="4523854"/>
          </a:xfrm>
          <a:prstGeom prst="rect">
            <a:avLst/>
          </a:prstGeom>
        </p:spPr>
      </p:pic>
      <p:sp>
        <p:nvSpPr>
          <p:cNvPr id="76" name="object 71">
            <a:extLst>
              <a:ext uri="{FF2B5EF4-FFF2-40B4-BE49-F238E27FC236}">
                <a16:creationId xmlns:a16="http://schemas.microsoft.com/office/drawing/2014/main" id="{C4964E5E-7822-0ABF-8BA8-AA17FD0E1B24}"/>
              </a:ext>
            </a:extLst>
          </p:cNvPr>
          <p:cNvSpPr txBox="1">
            <a:spLocks/>
          </p:cNvSpPr>
          <p:nvPr/>
        </p:nvSpPr>
        <p:spPr>
          <a:xfrm>
            <a:off x="1817684" y="8851109"/>
            <a:ext cx="6624282" cy="1878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95"/>
              </a:spcBef>
            </a:pPr>
            <a:r>
              <a:rPr lang="pt-BR" sz="2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A regressão </a:t>
            </a:r>
            <a:r>
              <a:rPr lang="pt-BR" sz="2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prevê valores numéricos contínuos</a:t>
            </a:r>
            <a:r>
              <a:rPr lang="pt-BR" sz="2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 (como o preço de uma casa)</a:t>
            </a:r>
            <a:endParaRPr lang="pt-BR" sz="28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78" name="object 71">
            <a:extLst>
              <a:ext uri="{FF2B5EF4-FFF2-40B4-BE49-F238E27FC236}">
                <a16:creationId xmlns:a16="http://schemas.microsoft.com/office/drawing/2014/main" id="{721E42F2-FB17-A4BF-3E4B-F14B799AD433}"/>
              </a:ext>
            </a:extLst>
          </p:cNvPr>
          <p:cNvSpPr txBox="1">
            <a:spLocks/>
          </p:cNvSpPr>
          <p:nvPr/>
        </p:nvSpPr>
        <p:spPr>
          <a:xfrm>
            <a:off x="12051861" y="8737088"/>
            <a:ext cx="6624282" cy="1878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lnSpc>
                <a:spcPct val="150000"/>
              </a:lnSpc>
              <a:spcBef>
                <a:spcPts val="95"/>
              </a:spcBef>
            </a:pPr>
            <a:r>
              <a:rPr lang="pt-BR" sz="2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A classificação </a:t>
            </a:r>
            <a:r>
              <a:rPr lang="pt-BR" sz="2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prevê categorias discretas</a:t>
            </a:r>
            <a:r>
              <a:rPr lang="pt-BR" sz="2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 (como "spam" ou "não spam")</a:t>
            </a:r>
            <a:endParaRPr lang="pt-BR" sz="28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310575556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53C7F-3626-2438-98A9-494305A64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m 75" descr="CLUSTERING - MACHINE LEARNING">
            <a:extLst>
              <a:ext uri="{FF2B5EF4-FFF2-40B4-BE49-F238E27FC236}">
                <a16:creationId xmlns:a16="http://schemas.microsoft.com/office/drawing/2014/main" id="{97E27EEB-0A6D-F4E1-4D97-7B34825F74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3915" r="10511"/>
          <a:stretch>
            <a:fillRect/>
          </a:stretch>
        </p:blipFill>
        <p:spPr>
          <a:xfrm>
            <a:off x="0" y="0"/>
            <a:ext cx="14313700" cy="11151076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DA860EF8-43FD-3484-57C1-A064F9E3F8D0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6DF8B0C-8D1C-9732-D603-DAD3FCDF62BF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EB35956-AC9C-D051-8D7E-1EAE65440653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606F7164-4D05-D6DC-BA82-8423D2B3D58A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7CA466B-0AA8-84E0-E68C-779647B42E4C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C27FB5A-78A2-76A0-E409-3B17C84B0847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C895B5DB-FEF7-4774-B590-2B45BC4B3450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F892D87-721E-4193-8201-C99D233BF9CA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0571E6B-F22D-2132-A0DD-0974E9B43919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82C2D8E0-04AC-1C56-FAB4-DC6C02E2E8FC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4056F08-E753-C97D-3E01-E01C1C2EFE36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4B49940-C3EA-22FC-86B2-0B07FF10EEB9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5A2F6CA-38B1-6EF4-F3E7-E0A0365DE601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2898BBB-4746-4809-DCD3-C059C3987A56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6AAC68A-78CF-FBD8-4D33-8830FF1E3F84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BCDBD8D-E687-BA88-DB86-7FD608A2641D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CCA8E87-2F39-3171-D3B5-CDDE2DEA59DB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5CAD5C85-F380-6097-79BA-870793A4D06C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75E64C1-923E-E2D3-95D7-B9F644BC9738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D2944A84-29BF-8C59-830A-8D9BB5E5C5D6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FF83E38-96A9-B3E7-FEF8-82D0E292CD0C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26ED7C20-A882-8AD5-6D81-ABD888A1E732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B043CB1A-BCDC-BCC0-4A14-2600B6B838BA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D770109-E789-EDB3-DADD-8D9DEE94C2F1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8A46C1D-06E4-B2AD-825B-F70DC96A9B75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3EF96FD-6CCF-E636-10CF-E10F10C9E7C0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53E01DF-2877-3503-27F4-2A6CF5AE0D43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77680A9D-C345-D6B6-CAEA-757A3A5049B9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77BCD4A5-CB01-52BC-ADC7-69A0FA853051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DC4F87C-68F4-9B1D-934B-FC611E1AFC60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D6B881CD-D86B-4674-FFB3-7431C1CEB12B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67D251E0-2F05-5022-5613-1949BA169AA7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B584A8F-8766-7B78-7AA1-D0C675E5C5B4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5D698416-6F41-366B-885B-E710CFADA688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901F7A8-95AF-2423-C898-8F8A4E1F2682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F3FBB462-A8D1-AF2C-5DD5-F753D6DE5F88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E10B74F8-B755-1EBC-1091-B5C14F576426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221B322D-6D36-03CE-1779-3CA515B5F066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8D367A67-E257-647F-B3E0-09B3CFC56367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62ED59BA-9DCC-B10C-D9A6-398BCE22F292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78C3CFB7-1FBC-E89D-72ED-E501789E0DBB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30F0B89C-412B-21E2-CE47-EA132B122B84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BB856F52-92B1-352B-C20B-C206B3E308D1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20A85C57-8E37-A4B0-5AF5-D9FA06A93032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3AA4671C-6F26-BB6C-90C5-7A57342077BC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3A2D403B-70C6-46F3-3E81-F7A767D42003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CCA18A0E-A068-4EB0-A18B-FE23B747664E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E2B86A20-A87C-F2C4-56DC-EC85268307F6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A7B2873C-ECCA-20A7-C9F4-FF24BDE48DCB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11754E0D-B96F-C2F4-A790-168718070D0A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FAABED07-337D-2419-65A9-B03C03E54A72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3AC21439-6A26-FFA9-318E-B37A1B83DAEB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0C82F88E-6912-0DE0-5ECF-03F209B7888F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9F94A9CF-A5B5-2718-9229-3139E9F3ACD8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E1E80F19-15E0-1CEC-3387-41685616406E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C8A2380-892D-26E5-F966-7A9AE8F81850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4AE93D69-91B5-5F78-BFFE-6C7DA2C2E5FE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CEA54FE-84C5-5716-09CC-6B3DFBD60FE0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EB5C9408-34D8-6222-A40C-3F79C8F0307D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ADAF9E13-F7D6-C1FE-3549-FB5A6AB2AC4F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6C41A9B6-15DD-F0A8-7B7C-CF2BB57650F0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B0C26A6E-767A-5BE1-21FD-5CC4798008FB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71AD4373-33D3-A036-E92E-0A6647CE0303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8EDAB2BD-FA82-07F4-8749-4230283BBD93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42955FC4-6C8A-A825-2828-23F4E31A4C71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6F853E89-3EB5-3442-9A55-C288D7BB6806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3F4899E6-9D62-74DE-726C-43FD57FF0EC2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8078890F-BC93-B5AB-7BA8-FE8A6B7FE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2250" y="3799940"/>
            <a:ext cx="13925319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11500" spc="10" dirty="0">
                <a:solidFill>
                  <a:srgbClr val="FFFFFF"/>
                </a:solidFill>
              </a:rPr>
              <a:t>MODELO POR </a:t>
            </a:r>
            <a:br>
              <a:rPr lang="pt-BR" sz="11500" spc="10" dirty="0">
                <a:solidFill>
                  <a:srgbClr val="FFFFFF"/>
                </a:solidFill>
              </a:rPr>
            </a:br>
            <a:r>
              <a:rPr lang="pt-BR" sz="11500" b="1" spc="10" dirty="0">
                <a:solidFill>
                  <a:srgbClr val="FFFFFF"/>
                </a:solidFill>
                <a:latin typeface="Montserrat ExtraBold"/>
              </a:rPr>
              <a:t>C</a:t>
            </a:r>
            <a:r>
              <a:rPr lang="pt-BR" sz="11500" b="1" spc="10" dirty="0">
                <a:solidFill>
                  <a:srgbClr val="FFFFFF"/>
                </a:solidFill>
                <a:latin typeface="Montserrat ExtraBold"/>
                <a:cs typeface="Montserrat ExtraBold"/>
              </a:rPr>
              <a:t>LUSTERIZAÇÃO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63958FE5-C156-4AB2-26DE-89429A47C68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406397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4F75D-48BC-E683-B392-5C996C63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81F4D1-8BEE-15C3-40DE-BE3572D80A23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2CA8FA-C7C1-D8F1-3DA7-CC1E851BB7E3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165CC60-0107-61B4-C4EC-5EB32E5A765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E5118AB-F868-624E-638B-D61EB56B513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5018C06-E879-11A4-A07D-D7ECAAC87F91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5783FCA-AC74-3F03-D5B4-F64E76DC53B8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BC15539-F755-171E-69BA-506F9BCE10B0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D557099-4AF9-9ABA-124B-0F7F66A5E8DA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87A4DC0-1187-754B-20C0-2E5F43A0696E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75F678E-B6A9-C801-E32C-69C453B6C40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F30DC534-DAAC-B1E2-8413-E5C41751466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8AE36F57-C609-EB1C-E322-95A843775AA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09F5D58-5E2C-5EF2-9CE8-2B486E2D2904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121A805-7E08-10EA-6FF9-4F39F9CD176B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0F98AB4-4980-7484-2D83-1E5E4AD55BAE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F6D0069-D6B9-0BDA-E236-3313289035F7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246768B-7CBF-17B9-72FD-38D6FEE5D166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3C561F8-F438-747D-E40C-06434F78B331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FA91B55-F021-E32D-466F-2339B100D875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C9770EC-3AB4-CFC0-5DF5-F35D63EF8C3A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78ADD8-FCF9-0D3F-DADF-7BD5470A239E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8F12978-9DFE-CEAC-5CD4-528028560DD4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184C3F5-ACC6-C88F-8058-A3DE3DEF5C2A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6C14D56-C14F-F579-125B-AD7EF65C6136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4BA5528-8A2D-059D-A8FD-334C4AB7DAB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C2CD406C-68BA-6655-D692-41495FA6C224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19DC4A6-F6E9-3156-3681-C0E94E553C8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FF477CC-DA8A-942C-D7D7-827CDB102681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76D1D8F-627C-5C74-AE78-E0F83FC5CFA4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85D4A44-0994-8583-92EF-D9DEA99F3679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691CB1AD-B4E7-0360-79AC-B34236759BF9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BBF1F9CB-6BEA-9B2D-3D7C-F2E986BEE6D9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3C55A0F7-D9F8-E5F9-0870-34AD08867E8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FA5DB129-455B-B18C-7241-EE26AE650712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471D4EC-4747-193A-E7B7-E8E776EB4435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88C24173-F17D-F0E7-6E9E-9C8981EEA819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EAE5FF3E-2D9B-9E8A-1F82-FAE9931F7925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FB21BAAA-A7B1-47E8-CB85-459292AEF0A6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CCBF4F12-80B4-8988-718A-C026311E4D98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A928E9B7-94F7-F4BF-38D8-2F93C694DE9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C4D1EA2F-A642-F436-F1A2-88B26F4C9C2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9EFB25C7-6449-7112-30F9-4544D9D50449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62BD2AB-7374-5F01-0A2F-A24D9BBF267D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7F48B9F1-6983-3263-20CA-9030E12D6B6F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3B7167F-2C0E-1755-DF4A-01D0488783C3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CC6FB954-A8BD-37BA-AFEE-6BEFABFFF79E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0995EEC0-7F23-4FAA-525E-940A4183784A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2A930BEC-92F2-A412-B759-E4CC43E1E01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7DA96B65-EF7B-B359-A939-1EE2D55E9AE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0FBFF621-03CD-663C-E2C9-623172B0299F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74CF551C-4ECF-F7F2-997E-DBB8F6E63552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1BAA1A0D-F2B7-F877-CE94-EFCCFEF7E325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5CB98A35-5AA0-7D20-FEDF-B27C4C3CEB77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B641C948-B535-0589-2BC1-7A017A3A491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5F81B20C-145C-52E4-3C34-88C646D23656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FCB9A4E4-4F7D-B01F-1292-23341CC17A95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CA36F592-BCAC-57BE-5ADA-8C13931670F8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C7B963E-F9C9-82E8-E79D-BA574D1900EC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A41F6BB0-DD56-92FC-8D9F-54CBD763F69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ECC6063B-9489-9427-DD9F-F148B3651BE4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8B15F555-C86E-1B8C-D658-8B7E93A26A7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41573673-50FF-9174-89C5-6ACA26334633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4887C51B-AC93-E20C-70D2-338D62351EE4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34D6C876-0E56-A414-84B2-5DEBA1AC5BA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E2C2393B-B3D0-6924-D234-C7203787FD4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C58B8650-C0A6-DFF3-5D7E-143CB8D831B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4D428418-FFFA-FC3C-F09C-865C4F0711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MACHINE LEARNING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Modelo por Clusterização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F5767016-1F51-51FE-2304-833223EDDE8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F3546EA7-4B61-FE03-CEED-9027DAAE9EB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0EB68E45-2D1F-A78A-A2FD-A7348C05FF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6" name="object 71">
            <a:extLst>
              <a:ext uri="{FF2B5EF4-FFF2-40B4-BE49-F238E27FC236}">
                <a16:creationId xmlns:a16="http://schemas.microsoft.com/office/drawing/2014/main" id="{DE6006B7-94EB-EB7F-193F-8F2FEAE5D8EA}"/>
              </a:ext>
            </a:extLst>
          </p:cNvPr>
          <p:cNvSpPr txBox="1">
            <a:spLocks/>
          </p:cNvSpPr>
          <p:nvPr/>
        </p:nvSpPr>
        <p:spPr>
          <a:xfrm>
            <a:off x="1509065" y="3556704"/>
            <a:ext cx="17495592" cy="37055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clusterização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(ou clustering) é uma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técnica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Machine Learning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não supervisionada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que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divide dados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não rotulados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em grupos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itens semelhantes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chamados de clusters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.</a:t>
            </a:r>
            <a:endParaRPr lang="pt-BR" sz="6000" kern="0" dirty="0"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82683428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03C975C-8D4E-9715-58FA-EEF1717C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2BA87D-9A5B-8664-DD58-98116C53382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C329B9-FE01-04DB-29F2-9DEF68F56BC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C241AC34-7A6C-A5FA-8B32-D0AF12FFE02A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4555BC7-312F-D85D-10D0-0AF2EC62A5D2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5306F91-C1FF-EB34-28BC-03BAAA768C79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E04530D-7668-1BA8-674E-0AB07C8F893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2D3DED9-5252-FD64-2198-206C68849451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920C0D45-5B82-0D21-CFD7-FAF683F1A8F0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07D963C-E51A-6376-D819-91BC915BBCA7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6BCE6644-F7A2-2157-3C1F-EA3E68975CC8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41B6D91-0C7D-A9E5-D63E-241698253032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8A0C23D-669F-0EFE-C5D5-86477C2A07A4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92689D1-2C2E-2F99-0AE3-61238D13E45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E8DBB8AD-FB4F-CFF9-3ED5-07A0D46CF896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08B1A63-EADB-D7D9-0D33-C861EFFC0EB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373B7DA-2A26-8BD3-D1D1-166BA22A6C07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278BCC3-D2B7-020F-B684-122D89405D83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309A831-0CE6-5B49-FC3E-A2344F8F1A4D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EF8E15F-DB22-2363-828E-C683A57A7DC6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D8B3E70-AF06-5CDA-2B5A-6880C24114DC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BFD78C3-77EC-8EB8-F98A-E99A27325A19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D3080BE-056C-522A-143D-9F60E36C4688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88588202-53D2-3842-9D74-70CA0CA97E63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932DD0D-211A-FEC4-FDB4-404BC826FBBA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50002C5-3C7F-9004-C617-BCFCCC804A6A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ADBD24DF-B84C-CA60-665F-4D69B363A9D4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D2382B-26FD-4607-F015-A85783462A6B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D7409A10-F72C-27B1-678B-92ECFBE5D0AA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99107716-833F-BFBA-C42F-345AA8B291A6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FBE43957-FE38-B9FA-1C41-95DB51CA9B5F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C3306983-EDE5-1B3A-2079-85844AAE61A6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D00FCD9-5E9F-9D0C-E594-2273F15A8B67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7283087-8528-EDDC-398C-963EA580C758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81BBB623-5C83-C417-6D4D-422CC57ACCC1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F093E10C-EC88-A043-B97B-A36DFC11D843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B3A65A76-C508-D69B-1754-B0D409B9CC40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2B3C43D8-4F7B-F912-828F-AED46925BF21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01A2FAED-83BF-015B-9B76-DFC6404037AF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5D74BC3-EBAD-2832-61AC-9B36C7E63BFD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08DD372B-B5F2-C1D3-04B5-2A764DEA11CC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4CA59999-D5A4-9D58-F29F-A5C83DE83E50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BBEE7FA1-7909-B874-9E58-3A0F886583CC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21CAB3D8-942A-423F-F664-E142B1A9A896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31019223-9DEC-0748-0AE2-D6C282DCB478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29B8AC51-673D-890D-F618-E18181D1B19D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A754BC42-066D-EC35-7E6D-88DC85153019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0EC68B38-AF38-5F46-3AEC-BB31E0218AF3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334D5523-8403-031F-833E-940D0F2006B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D0EF6B9C-8572-4890-7B97-D9424BD675D6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FCECFC99-9BAA-1113-BBF3-1540618D43E0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36614429-E692-5940-2CA6-DD4771AEF5C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8857BD04-FD56-5F83-B1E5-8EC2F18DD50E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D8F1CFBF-BB3F-CB1B-0563-6A31E0BE99D1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5FFFCD9E-297E-3D6F-A2DD-F98BCA09412C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F4BE74C6-7E84-C7D6-C446-24039B6BBAB2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22DEA8EE-B283-2677-E601-3A3325DDB29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19FB1E53-B1B5-EFFB-F1A3-CF20DF81BA96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1D9952D0-4C09-5235-5D78-29663E8DBEF4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E551ECB7-2075-3669-51EA-EAD5FACD47A4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CB024FB9-FE4C-5650-516C-4189B9552BE6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60F05334-7198-A68B-0A29-C253EF7BBAEB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B81E2294-035F-3CA5-EA92-69291307BB4D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82249B04-D0C4-1301-4034-E02CE52FB340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2FA665A4-BABC-B88D-28D6-3E4E13F772D8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1FC4DC42-D64F-47D8-4CA2-049120743D7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93363DEF-548A-6E6E-107B-C2935709778B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8E0223C-7D85-9823-D451-ACA2BC31D282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1331B485-3342-7BCC-9AD7-450B32A57FE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9373B203-FDAC-F685-C9FA-00D70CC996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9F87A25B-18A5-62BB-E099-68B820834E76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 por Clusterização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C55F16DE-45B5-05F2-C193-8A585A238887}"/>
              </a:ext>
            </a:extLst>
          </p:cNvPr>
          <p:cNvSpPr txBox="1">
            <a:spLocks/>
          </p:cNvSpPr>
          <p:nvPr/>
        </p:nvSpPr>
        <p:spPr>
          <a:xfrm>
            <a:off x="1522767" y="4506548"/>
            <a:ext cx="7919683" cy="4524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Ajuda a </a:t>
            </a: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encontrar</a:t>
            </a:r>
            <a:r>
              <a:rPr lang="pt-BR" sz="40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estruturas ocultas, </a:t>
            </a: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resumir bases</a:t>
            </a:r>
            <a:r>
              <a:rPr lang="pt-BR" sz="40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de dados ou simplificar informações </a:t>
            </a: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separando-os em classes</a:t>
            </a:r>
            <a:r>
              <a:rPr lang="pt-BR" sz="40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(clusters).</a:t>
            </a:r>
            <a:endParaRPr lang="pt-BR" sz="40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6" name="Imagem 5" descr="Clustering: O que é Cluster Analysis e quais suas Aplicações?">
            <a:extLst>
              <a:ext uri="{FF2B5EF4-FFF2-40B4-BE49-F238E27FC236}">
                <a16:creationId xmlns:a16="http://schemas.microsoft.com/office/drawing/2014/main" id="{CB2F0A31-446F-CB61-E110-147E574495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83" t="10509" r="3582" b="8957"/>
          <a:stretch>
            <a:fillRect/>
          </a:stretch>
        </p:blipFill>
        <p:spPr>
          <a:xfrm>
            <a:off x="10079881" y="4845893"/>
            <a:ext cx="8938479" cy="44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60989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FAC998-7194-BCF3-E5D6-B5FBCA00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74D24A-3D3E-56DD-2A80-3B934CF9DCB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1E98C5E-11D0-AC27-21B4-88C82AA3621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28AE657-44B6-E6F2-3FD5-52F1AEA4891A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DBD44917-9ABC-287E-525C-14969F336E7C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653B45A0-05F4-2E9A-57CE-B5507E934A52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DE2DAD3-B46F-2AEA-B1A4-BDEB8B747F14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E09BF5E-8B40-90F6-C26F-D990A137E85E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CB9F905-E84B-DF3C-E141-A85C8C6144B6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B5CB901-8C3C-02BB-A497-A30F24B2864C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5549704-6DC6-5915-2FFF-A001669CF79E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FDF4EEC-4753-1616-D7A4-E2B9B4E31E28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26F7D69-89BC-CF7C-1C38-9286B60A357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0340949-7BA7-E324-13EB-53DC1348C771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F302F45-EE76-BFA1-CB45-E44E4545B014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10D003D-9890-0FD9-09C3-5CC4A60A7580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68F747C5-2452-D31A-84A2-A0BE74E2C0CF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F155653-123A-3959-9AA7-64B1B94FA40A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CB6AA37-0947-F344-1F54-8C9AF29BE5CE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E67C976-E838-2E0E-3D44-0479180D19EA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FAEC6846-DEF2-F53C-34E8-F4BCCB183E04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78A2D70-8A5C-48A1-A2C2-0878DEC78E98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868BB71-F2FE-B400-373C-974BDBC31B00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4897F93-D376-1EE6-3EC2-6A8D6340CAFD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50DFD23-0BBD-5ED8-2B05-307F5759CCC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CE733AF-84B0-17FB-50A7-88A53DF775B0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8BB4DD2-E6F9-92EE-FE72-08AFA07A2926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5C6EF223-2805-9589-C35B-8C2B9BA04BBE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A4BC20DC-C979-0F6E-60F7-8B0886EB9BEA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72C0A76D-F351-BC19-EA9A-4CD41DEDBFE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0F7267E-BA89-F035-3ABC-2929A5B42873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6D7ACD27-2486-474B-F963-453AFFB85250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5BD4F182-E3A3-1250-58AB-DFF720ADC6A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57A9E3A0-920C-901E-13EA-7BBAAB64BCE2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85DA6178-8992-8A90-EDF6-5DA083299897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F7B5D647-DBF9-055A-40D7-E8F20C8E3932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3076A9F6-6B11-2451-6FFD-8201E68E7A9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5836689C-47E4-D016-C1F3-7A3AE36453FC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FFD1DAAA-806F-5032-56D4-790A495BC81D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F2ADEC9B-8FFB-202A-3F14-C06DB1E97D74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A2B09CF7-0441-A617-A040-86D4337E660D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78CDDD5C-FF2B-B4CE-2DCA-D803E053F86B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F9943C43-9285-E285-0DBB-034DD99561CF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B4041E7C-C324-5FD3-80A6-B9398703F5FF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5266F3BA-022F-BE3B-7B42-C7A336567249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E33DEB5D-ECCE-969F-72ED-90FEF1B7905E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2AA9A193-71F2-93C5-45D9-16041B3F1A0F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1BABF355-D1EB-DAF5-A057-B7C827FECE3C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6B289F79-8ABB-452F-7D4A-26907422C37F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1658AEC7-9D96-64CE-529E-D6E1A857E551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8C5F9A3E-5A02-320C-05BF-075F1803D729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5C19B503-E05F-1FB5-CBDA-ABBAFB858865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1FEBA5DE-13BB-5274-ACD2-E4F6AB6A8B60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DA06C8C5-3FED-0D51-63F2-14FA734ECE00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2280CC59-ECD7-EE15-0214-40B82538C6BB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7D696FF-C544-E920-7B99-1DB5289FE68C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1502B6A0-7FB4-8D99-39B9-38F59D5A040F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36F7A803-9D18-37CB-40AB-A15FCF6F6718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D1DB32CF-4214-D4F1-A7DC-00C29BDCA10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95381E62-4875-2CC4-BFC1-FC5AEF40A63B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667547CA-8B7B-5E9C-7622-06CAC1AC8E4E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0746682D-877F-60A1-8325-B3BF1418C827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3126C30D-80CF-E709-7D4E-8C974CEC9E7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D33F04BD-E00F-6A7F-F0A6-09BEF8EBA6D6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AF32D19B-EB1B-3FE1-6065-47F640CAA57B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871DE32E-09D4-D019-53B2-62436A81C23A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E1F10E8C-30EA-759A-10A0-AA5C43C5C7A0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D4F8D19E-F0C0-699D-B97D-5DCD84190B4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FAFF5E8-A0A6-4A34-C283-A8F3396FDCC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FFB5B5F0-CD32-8DF7-BC63-496A7A433AF8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Modelo por Clusterização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C60BB0F-FBDB-C5D7-ADE8-EED802D798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11" y="2563145"/>
            <a:ext cx="14611119" cy="797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777437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76B90-BF3B-C5E7-7C0E-0685173E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Imagem 75" descr="Métricas de performance e funções de perda para Machine Learning - Viceri">
            <a:extLst>
              <a:ext uri="{FF2B5EF4-FFF2-40B4-BE49-F238E27FC236}">
                <a16:creationId xmlns:a16="http://schemas.microsoft.com/office/drawing/2014/main" id="{F5574B01-6390-EAF2-2089-75135877583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12780" r="1739"/>
          <a:stretch>
            <a:fillRect/>
          </a:stretch>
        </p:blipFill>
        <p:spPr>
          <a:xfrm>
            <a:off x="-1" y="-12200"/>
            <a:ext cx="14313701" cy="11163275"/>
          </a:xfrm>
          <a:prstGeom prst="rect">
            <a:avLst/>
          </a:prstGeom>
        </p:spPr>
      </p:pic>
      <p:grpSp>
        <p:nvGrpSpPr>
          <p:cNvPr id="2" name="object 2">
            <a:extLst>
              <a:ext uri="{FF2B5EF4-FFF2-40B4-BE49-F238E27FC236}">
                <a16:creationId xmlns:a16="http://schemas.microsoft.com/office/drawing/2014/main" id="{25D5CB69-500A-03FA-305B-E69102E038AF}"/>
              </a:ext>
            </a:extLst>
          </p:cNvPr>
          <p:cNvGrpSpPr/>
          <p:nvPr/>
        </p:nvGrpSpPr>
        <p:grpSpPr>
          <a:xfrm>
            <a:off x="15364003" y="9319087"/>
            <a:ext cx="3693160" cy="942975"/>
            <a:chOff x="15364003" y="9319087"/>
            <a:chExt cx="3693160" cy="942975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40D1AF09-5A67-7501-0164-790ECE1A0D77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536B5C3-F7BD-7C78-A645-3EFAD1476E47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5" name="object 5">
            <a:extLst>
              <a:ext uri="{FF2B5EF4-FFF2-40B4-BE49-F238E27FC236}">
                <a16:creationId xmlns:a16="http://schemas.microsoft.com/office/drawing/2014/main" id="{01535D20-9C47-4CAA-DA77-A7662FF85E6E}"/>
              </a:ext>
            </a:extLst>
          </p:cNvPr>
          <p:cNvSpPr/>
          <p:nvPr/>
        </p:nvSpPr>
        <p:spPr>
          <a:xfrm>
            <a:off x="17957569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05746B5-6483-8C2E-4173-2570B9551AE7}"/>
              </a:ext>
            </a:extLst>
          </p:cNvPr>
          <p:cNvSpPr/>
          <p:nvPr/>
        </p:nvSpPr>
        <p:spPr>
          <a:xfrm>
            <a:off x="18219340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C1466E8-1D35-E677-B608-F6097A2F52D9}"/>
              </a:ext>
            </a:extLst>
          </p:cNvPr>
          <p:cNvSpPr/>
          <p:nvPr/>
        </p:nvSpPr>
        <p:spPr>
          <a:xfrm>
            <a:off x="18481112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4891ABC-1558-AD49-B0D9-2ABEC7A01A98}"/>
              </a:ext>
            </a:extLst>
          </p:cNvPr>
          <p:cNvSpPr/>
          <p:nvPr/>
        </p:nvSpPr>
        <p:spPr>
          <a:xfrm>
            <a:off x="18742885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FCCD0D7-9794-972E-E177-25795017BFEA}"/>
              </a:ext>
            </a:extLst>
          </p:cNvPr>
          <p:cNvSpPr/>
          <p:nvPr/>
        </p:nvSpPr>
        <p:spPr>
          <a:xfrm>
            <a:off x="19004657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99C2AAC-4A4F-EDB8-0678-F429269EC773}"/>
              </a:ext>
            </a:extLst>
          </p:cNvPr>
          <p:cNvSpPr/>
          <p:nvPr/>
        </p:nvSpPr>
        <p:spPr>
          <a:xfrm>
            <a:off x="19266428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AFAF30F-0F70-701B-3745-E1DA030C4A33}"/>
              </a:ext>
            </a:extLst>
          </p:cNvPr>
          <p:cNvSpPr/>
          <p:nvPr/>
        </p:nvSpPr>
        <p:spPr>
          <a:xfrm>
            <a:off x="19528201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C549E43-053F-418A-E170-28ACE28F2EDD}"/>
              </a:ext>
            </a:extLst>
          </p:cNvPr>
          <p:cNvSpPr/>
          <p:nvPr/>
        </p:nvSpPr>
        <p:spPr>
          <a:xfrm>
            <a:off x="19789973" y="26177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DB5A396-BCF1-8AC3-E227-F4C20D0C0961}"/>
              </a:ext>
            </a:extLst>
          </p:cNvPr>
          <p:cNvSpPr/>
          <p:nvPr/>
        </p:nvSpPr>
        <p:spPr>
          <a:xfrm>
            <a:off x="17957569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13674A7-0CE5-BC25-B05B-45AFC5854BC6}"/>
              </a:ext>
            </a:extLst>
          </p:cNvPr>
          <p:cNvSpPr/>
          <p:nvPr/>
        </p:nvSpPr>
        <p:spPr>
          <a:xfrm>
            <a:off x="18219340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655AC32-E54F-1566-4BD1-AE93DA40398A}"/>
              </a:ext>
            </a:extLst>
          </p:cNvPr>
          <p:cNvSpPr/>
          <p:nvPr/>
        </p:nvSpPr>
        <p:spPr>
          <a:xfrm>
            <a:off x="18481112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6B05092-F0BD-016D-E3EF-87F0CCC4A1A9}"/>
              </a:ext>
            </a:extLst>
          </p:cNvPr>
          <p:cNvSpPr/>
          <p:nvPr/>
        </p:nvSpPr>
        <p:spPr>
          <a:xfrm>
            <a:off x="18742885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E2D4CA95-D4EB-3DCB-4473-1AA6AF845DA3}"/>
              </a:ext>
            </a:extLst>
          </p:cNvPr>
          <p:cNvSpPr/>
          <p:nvPr/>
        </p:nvSpPr>
        <p:spPr>
          <a:xfrm>
            <a:off x="19004657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AE566E25-3297-143A-D32D-78FA113275CB}"/>
              </a:ext>
            </a:extLst>
          </p:cNvPr>
          <p:cNvSpPr/>
          <p:nvPr/>
        </p:nvSpPr>
        <p:spPr>
          <a:xfrm>
            <a:off x="19266428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000095A-B22A-D851-B49B-85E0B07015FF}"/>
              </a:ext>
            </a:extLst>
          </p:cNvPr>
          <p:cNvSpPr/>
          <p:nvPr/>
        </p:nvSpPr>
        <p:spPr>
          <a:xfrm>
            <a:off x="19528201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1C598861-12F5-3CA3-120F-CC10FA6294DE}"/>
              </a:ext>
            </a:extLst>
          </p:cNvPr>
          <p:cNvSpPr/>
          <p:nvPr/>
        </p:nvSpPr>
        <p:spPr>
          <a:xfrm>
            <a:off x="19789973" y="52354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86AB03-E406-6FBD-E772-8D1299B841C1}"/>
              </a:ext>
            </a:extLst>
          </p:cNvPr>
          <p:cNvSpPr/>
          <p:nvPr/>
        </p:nvSpPr>
        <p:spPr>
          <a:xfrm>
            <a:off x="17957569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75E1BE56-368B-A5EE-2962-FF5A10C4345F}"/>
              </a:ext>
            </a:extLst>
          </p:cNvPr>
          <p:cNvSpPr/>
          <p:nvPr/>
        </p:nvSpPr>
        <p:spPr>
          <a:xfrm>
            <a:off x="18219340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5D06071-1110-0E74-CEA4-28614ADE0AB4}"/>
              </a:ext>
            </a:extLst>
          </p:cNvPr>
          <p:cNvSpPr/>
          <p:nvPr/>
        </p:nvSpPr>
        <p:spPr>
          <a:xfrm>
            <a:off x="18481112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E89B283-C5BA-76F7-2FA8-435B92E28BAC}"/>
              </a:ext>
            </a:extLst>
          </p:cNvPr>
          <p:cNvSpPr/>
          <p:nvPr/>
        </p:nvSpPr>
        <p:spPr>
          <a:xfrm>
            <a:off x="18742885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032772C7-A6CA-6647-F844-25390A172DD9}"/>
              </a:ext>
            </a:extLst>
          </p:cNvPr>
          <p:cNvSpPr/>
          <p:nvPr/>
        </p:nvSpPr>
        <p:spPr>
          <a:xfrm>
            <a:off x="19004657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6456915-1F57-0CB9-7B83-59858E8EB35F}"/>
              </a:ext>
            </a:extLst>
          </p:cNvPr>
          <p:cNvSpPr/>
          <p:nvPr/>
        </p:nvSpPr>
        <p:spPr>
          <a:xfrm>
            <a:off x="19266428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3B721539-898D-1CFF-7A6E-F0659D022A08}"/>
              </a:ext>
            </a:extLst>
          </p:cNvPr>
          <p:cNvSpPr/>
          <p:nvPr/>
        </p:nvSpPr>
        <p:spPr>
          <a:xfrm>
            <a:off x="19528201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87B04B1E-8C35-F81B-B689-6E5F718E9C7C}"/>
              </a:ext>
            </a:extLst>
          </p:cNvPr>
          <p:cNvSpPr/>
          <p:nvPr/>
        </p:nvSpPr>
        <p:spPr>
          <a:xfrm>
            <a:off x="19789973" y="785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0D185470-B332-E1AD-1307-B90D32498157}"/>
              </a:ext>
            </a:extLst>
          </p:cNvPr>
          <p:cNvSpPr/>
          <p:nvPr/>
        </p:nvSpPr>
        <p:spPr>
          <a:xfrm>
            <a:off x="17957569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9EB5FED-6758-FFC4-96A0-E6E3DD471787}"/>
              </a:ext>
            </a:extLst>
          </p:cNvPr>
          <p:cNvSpPr/>
          <p:nvPr/>
        </p:nvSpPr>
        <p:spPr>
          <a:xfrm>
            <a:off x="18219340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6C1ABB8-2520-CB2A-75A0-5E75B6D15A95}"/>
              </a:ext>
            </a:extLst>
          </p:cNvPr>
          <p:cNvSpPr/>
          <p:nvPr/>
        </p:nvSpPr>
        <p:spPr>
          <a:xfrm>
            <a:off x="18481112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26D560F4-012D-43AF-ECC9-7CF6651FCA07}"/>
              </a:ext>
            </a:extLst>
          </p:cNvPr>
          <p:cNvSpPr/>
          <p:nvPr/>
        </p:nvSpPr>
        <p:spPr>
          <a:xfrm>
            <a:off x="18742885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145D276E-26DF-6522-4AB1-33AC0F24028C}"/>
              </a:ext>
            </a:extLst>
          </p:cNvPr>
          <p:cNvSpPr/>
          <p:nvPr/>
        </p:nvSpPr>
        <p:spPr>
          <a:xfrm>
            <a:off x="19004657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27350FF2-B23D-B967-826C-6F51735B541B}"/>
              </a:ext>
            </a:extLst>
          </p:cNvPr>
          <p:cNvSpPr/>
          <p:nvPr/>
        </p:nvSpPr>
        <p:spPr>
          <a:xfrm>
            <a:off x="19266428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D4071B91-7559-B987-2496-A4D81AADE0BA}"/>
              </a:ext>
            </a:extLst>
          </p:cNvPr>
          <p:cNvSpPr/>
          <p:nvPr/>
        </p:nvSpPr>
        <p:spPr>
          <a:xfrm>
            <a:off x="19528201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9C55109-9C1F-009A-A3CF-9091BF7A74CD}"/>
              </a:ext>
            </a:extLst>
          </p:cNvPr>
          <p:cNvSpPr/>
          <p:nvPr/>
        </p:nvSpPr>
        <p:spPr>
          <a:xfrm>
            <a:off x="19789973" y="1047088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DC04DD47-67A7-C0E8-F7EA-F3EC49976413}"/>
              </a:ext>
            </a:extLst>
          </p:cNvPr>
          <p:cNvSpPr/>
          <p:nvPr/>
        </p:nvSpPr>
        <p:spPr>
          <a:xfrm>
            <a:off x="17957569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E842E35E-A68B-BFC3-76A4-01181D2E47B1}"/>
              </a:ext>
            </a:extLst>
          </p:cNvPr>
          <p:cNvSpPr/>
          <p:nvPr/>
        </p:nvSpPr>
        <p:spPr>
          <a:xfrm>
            <a:off x="18219340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F48B3644-DC26-4A85-C809-0A801D4B744F}"/>
              </a:ext>
            </a:extLst>
          </p:cNvPr>
          <p:cNvSpPr/>
          <p:nvPr/>
        </p:nvSpPr>
        <p:spPr>
          <a:xfrm>
            <a:off x="18481112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A9B00E67-5A1D-7D3B-9C5C-8CF86F4A08B7}"/>
              </a:ext>
            </a:extLst>
          </p:cNvPr>
          <p:cNvSpPr/>
          <p:nvPr/>
        </p:nvSpPr>
        <p:spPr>
          <a:xfrm>
            <a:off x="18742885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2F381260-B7C5-2813-D57A-9E85B956D97E}"/>
              </a:ext>
            </a:extLst>
          </p:cNvPr>
          <p:cNvSpPr/>
          <p:nvPr/>
        </p:nvSpPr>
        <p:spPr>
          <a:xfrm>
            <a:off x="19004657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71E390E7-05D8-640D-5BA4-1940CD51379F}"/>
              </a:ext>
            </a:extLst>
          </p:cNvPr>
          <p:cNvSpPr/>
          <p:nvPr/>
        </p:nvSpPr>
        <p:spPr>
          <a:xfrm>
            <a:off x="19266428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A34A5AD3-EB1E-EFFC-5C35-C521882D0BD2}"/>
              </a:ext>
            </a:extLst>
          </p:cNvPr>
          <p:cNvSpPr/>
          <p:nvPr/>
        </p:nvSpPr>
        <p:spPr>
          <a:xfrm>
            <a:off x="19528201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01C8D438-F58A-C6AE-9973-0F499C8EADE8}"/>
              </a:ext>
            </a:extLst>
          </p:cNvPr>
          <p:cNvSpPr/>
          <p:nvPr/>
        </p:nvSpPr>
        <p:spPr>
          <a:xfrm>
            <a:off x="19789973" y="130886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0789CF3A-8D4E-1069-C554-C4A82B8B428F}"/>
              </a:ext>
            </a:extLst>
          </p:cNvPr>
          <p:cNvSpPr/>
          <p:nvPr/>
        </p:nvSpPr>
        <p:spPr>
          <a:xfrm>
            <a:off x="17957569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2B7BEF49-BD90-1AAC-FA70-C776A88297BE}"/>
              </a:ext>
            </a:extLst>
          </p:cNvPr>
          <p:cNvSpPr/>
          <p:nvPr/>
        </p:nvSpPr>
        <p:spPr>
          <a:xfrm>
            <a:off x="18219340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3D9C8B81-29BA-5695-3487-594E1BA9C1A3}"/>
              </a:ext>
            </a:extLst>
          </p:cNvPr>
          <p:cNvSpPr/>
          <p:nvPr/>
        </p:nvSpPr>
        <p:spPr>
          <a:xfrm>
            <a:off x="18481112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C8D19F79-1B69-958D-E3ED-0C0667AA91BD}"/>
              </a:ext>
            </a:extLst>
          </p:cNvPr>
          <p:cNvSpPr/>
          <p:nvPr/>
        </p:nvSpPr>
        <p:spPr>
          <a:xfrm>
            <a:off x="18742885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85B2D7ED-F551-8DFD-6317-CA335CF4B51F}"/>
              </a:ext>
            </a:extLst>
          </p:cNvPr>
          <p:cNvSpPr/>
          <p:nvPr/>
        </p:nvSpPr>
        <p:spPr>
          <a:xfrm>
            <a:off x="19004657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00BFC145-4BC0-66D6-554A-897B07A04259}"/>
              </a:ext>
            </a:extLst>
          </p:cNvPr>
          <p:cNvSpPr/>
          <p:nvPr/>
        </p:nvSpPr>
        <p:spPr>
          <a:xfrm>
            <a:off x="19266428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820B0AFF-7792-8122-58DE-E265AF94EE25}"/>
              </a:ext>
            </a:extLst>
          </p:cNvPr>
          <p:cNvSpPr/>
          <p:nvPr/>
        </p:nvSpPr>
        <p:spPr>
          <a:xfrm>
            <a:off x="19528201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6C54F07E-4E85-043C-CC31-C379449A5F5D}"/>
              </a:ext>
            </a:extLst>
          </p:cNvPr>
          <p:cNvSpPr/>
          <p:nvPr/>
        </p:nvSpPr>
        <p:spPr>
          <a:xfrm>
            <a:off x="19789973" y="1570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6CA77A67-383E-F677-B2C5-07DB1CE32E85}"/>
              </a:ext>
            </a:extLst>
          </p:cNvPr>
          <p:cNvSpPr/>
          <p:nvPr/>
        </p:nvSpPr>
        <p:spPr>
          <a:xfrm>
            <a:off x="17957569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35EE6588-DF34-4269-73A1-430C335DFD18}"/>
              </a:ext>
            </a:extLst>
          </p:cNvPr>
          <p:cNvSpPr/>
          <p:nvPr/>
        </p:nvSpPr>
        <p:spPr>
          <a:xfrm>
            <a:off x="18219340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E278853D-9182-FA51-6A82-A2D787A028CE}"/>
              </a:ext>
            </a:extLst>
          </p:cNvPr>
          <p:cNvSpPr/>
          <p:nvPr/>
        </p:nvSpPr>
        <p:spPr>
          <a:xfrm>
            <a:off x="18481112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724C192B-F627-5D5F-9469-AAF6223A8014}"/>
              </a:ext>
            </a:extLst>
          </p:cNvPr>
          <p:cNvSpPr/>
          <p:nvPr/>
        </p:nvSpPr>
        <p:spPr>
          <a:xfrm>
            <a:off x="18742885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2C4DB6E-3298-7BF3-FA9B-913EAE2F32B1}"/>
              </a:ext>
            </a:extLst>
          </p:cNvPr>
          <p:cNvSpPr/>
          <p:nvPr/>
        </p:nvSpPr>
        <p:spPr>
          <a:xfrm>
            <a:off x="19004657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B9A989D9-E7A2-65BA-02BB-471190C7217A}"/>
              </a:ext>
            </a:extLst>
          </p:cNvPr>
          <p:cNvSpPr/>
          <p:nvPr/>
        </p:nvSpPr>
        <p:spPr>
          <a:xfrm>
            <a:off x="19266428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D476702F-6246-5869-51B5-00E1430F5E23}"/>
              </a:ext>
            </a:extLst>
          </p:cNvPr>
          <p:cNvSpPr/>
          <p:nvPr/>
        </p:nvSpPr>
        <p:spPr>
          <a:xfrm>
            <a:off x="19528201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7740BADE-F2B6-4CA4-74B8-9DA67C84791A}"/>
              </a:ext>
            </a:extLst>
          </p:cNvPr>
          <p:cNvSpPr/>
          <p:nvPr/>
        </p:nvSpPr>
        <p:spPr>
          <a:xfrm>
            <a:off x="19789973" y="18324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A5AF7EA-8B65-94FA-82A0-3BFC76D6948E}"/>
              </a:ext>
            </a:extLst>
          </p:cNvPr>
          <p:cNvSpPr/>
          <p:nvPr/>
        </p:nvSpPr>
        <p:spPr>
          <a:xfrm>
            <a:off x="17957569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4B893070-3D74-CCFE-BB2D-7691F8C64F8C}"/>
              </a:ext>
            </a:extLst>
          </p:cNvPr>
          <p:cNvSpPr/>
          <p:nvPr/>
        </p:nvSpPr>
        <p:spPr>
          <a:xfrm>
            <a:off x="18219340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EC2EF5D9-0FF7-F112-6019-BC46CB73ADDB}"/>
              </a:ext>
            </a:extLst>
          </p:cNvPr>
          <p:cNvSpPr/>
          <p:nvPr/>
        </p:nvSpPr>
        <p:spPr>
          <a:xfrm>
            <a:off x="18481112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DB72BFD4-A694-C43D-815A-383BF12ED155}"/>
              </a:ext>
            </a:extLst>
          </p:cNvPr>
          <p:cNvSpPr/>
          <p:nvPr/>
        </p:nvSpPr>
        <p:spPr>
          <a:xfrm>
            <a:off x="18742885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7197568C-A04B-60DB-A2EE-693ADB3A8DC9}"/>
              </a:ext>
            </a:extLst>
          </p:cNvPr>
          <p:cNvSpPr/>
          <p:nvPr/>
        </p:nvSpPr>
        <p:spPr>
          <a:xfrm>
            <a:off x="19004657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2359A636-A18E-B2E8-AB5D-1AA3313E2657}"/>
              </a:ext>
            </a:extLst>
          </p:cNvPr>
          <p:cNvSpPr/>
          <p:nvPr/>
        </p:nvSpPr>
        <p:spPr>
          <a:xfrm>
            <a:off x="19266428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960FD29B-86B7-8ECC-AF9E-1AA6BB6635A8}"/>
              </a:ext>
            </a:extLst>
          </p:cNvPr>
          <p:cNvSpPr/>
          <p:nvPr/>
        </p:nvSpPr>
        <p:spPr>
          <a:xfrm>
            <a:off x="19528201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CD7E867C-A37E-B8F8-892C-85BCCA50F1B4}"/>
              </a:ext>
            </a:extLst>
          </p:cNvPr>
          <p:cNvSpPr/>
          <p:nvPr/>
        </p:nvSpPr>
        <p:spPr>
          <a:xfrm>
            <a:off x="19789973" y="20941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F38DC343-0CF1-16F1-AB71-30A5C35149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2250" y="3799940"/>
            <a:ext cx="13925319" cy="355161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lang="pt-BR" sz="11500" spc="10" dirty="0">
                <a:solidFill>
                  <a:srgbClr val="FFFFFF"/>
                </a:solidFill>
              </a:rPr>
              <a:t>DEFINIÇÃO DE </a:t>
            </a:r>
            <a:br>
              <a:rPr lang="pt-BR" sz="11500" spc="10" dirty="0">
                <a:solidFill>
                  <a:srgbClr val="FFFFFF"/>
                </a:solidFill>
              </a:rPr>
            </a:br>
            <a:r>
              <a:rPr lang="pt-BR" sz="11500" b="1" spc="10" dirty="0">
                <a:solidFill>
                  <a:srgbClr val="FFFFFF"/>
                </a:solidFill>
                <a:latin typeface="Montserrat ExtraBold"/>
              </a:rPr>
              <a:t>MÉTRICAS</a:t>
            </a:r>
            <a:endParaRPr sz="11500" dirty="0">
              <a:latin typeface="Montserrat ExtraBold"/>
              <a:cs typeface="Montserrat ExtraBold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16935E5B-7287-6C99-414A-C7B4AB6CA1E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4799871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A874-5A42-C695-C412-51F34F8E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FDBD96E-E923-693C-F562-66C911B9D4F5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A4E5642-1DF3-12CF-2D42-5EFF15B9033A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97197E4-E39A-69A8-A4CC-1DE2182E5ED6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8A5F099-29FF-0B0F-B5B5-B078F50E82A2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6A9607B-513B-7FBD-CC54-AFA34922CFE3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2C47505-1D18-DC68-7638-4CE8870CAB21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D243294-841D-5E17-5CB3-67E9F304DF6C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841EACA-7E94-F646-6215-BB7F9C51C892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CD9E0B0-5B1A-1A31-5A67-0B816A3E6C66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B8875CD4-CB48-3295-DB6B-680BFCB684A3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95572F4-BC0E-9818-478F-CF0FCA62F7B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AFA5311-67D6-2F49-2422-1D9A4542959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7B0E6C4-08A0-5714-A692-A857C95C31BC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BB5197-CCE6-EF7B-3D56-EBA4BF5A81B9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C38379-0334-2FFE-DD58-B9631D557B3C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25604912-8178-33B4-5B23-35662EEAE255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593DC896-0D7E-862E-EAD7-FC8ED8573ECC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B86E357-0509-36BA-E376-225824A74EAD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9B57E419-6E25-82F0-E247-52FFC8AEEFFA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FAB4606-3565-AA7A-6D45-01334428332D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CAF7834-5AF8-BDD0-3B3F-F51520B547BB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B1415CF-516B-55A1-3597-67E00BC203F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9A7A3F35-E8C1-53D4-0D16-735091F38CA1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C4CB0040-5F41-2750-7280-DD727C9B83A4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9B404D9-9B7D-7DF6-2A9C-350386D497F7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6EB95DEA-61D4-C713-7E3D-A1E0D6E5F486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F688171-E77E-8BFF-4806-562018EB574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4213ABE-3EE3-2AEE-9C43-B48850266E5D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F25ED3A-475F-57CB-50A0-3C22BE0CE939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442CE4C0-48A7-A0B1-C37E-BDEC72DDE527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C5B12ADA-0884-6DC8-80BE-239F20DCDAE9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0035B9B-CD5F-A881-0E73-8285AAD97737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3B79B36-360F-CAA6-2A51-B07E63AD3F62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326C59DC-942A-D0D1-2C8D-80DD1862BB07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6A385CA-C9CB-747F-87D2-3A33D21F7360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58DA7F5-8714-40DF-79A4-F829D6BB30E1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8ABC9F12-424D-B7C4-B517-96C3AAD219AB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6C757EC-C723-17C1-70E5-2A44474DC0A2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6F43D184-4009-4541-EBE5-C8A4BD3CE151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5EA905A3-FD52-159F-6C12-699E758BB178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71242F1A-DFDC-AF06-2806-331D9EE9B552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975A79C2-F7E6-8CBE-1F89-41B82CACDBFD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0213CC89-9231-36E8-A18B-FC2EB7FF3C7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70916151-02D0-033F-1205-18EC398C57E4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FCFF3748-656F-17D7-3A30-2A911829EC34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F38A3CCA-9CC7-0C07-58BD-991A6398E17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90355914-6B3D-705E-6B59-B2D5A184A968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6272930A-9D15-235B-6C18-23120C5FBA79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A407FE88-D4C8-18F1-5494-53B9438B8366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778F8D32-910A-BA55-48B8-D22E2F03747C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D2109BEC-118A-2DB3-6EFA-8B29017F20E8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8CEC2479-4B60-62D4-C00C-E2CD36BE6B0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00B1AA28-B574-6ED4-D23B-A55EDC7938E6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138F06B2-3B9A-3AAE-111F-B171D004A4CA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4C39C70F-E06F-1651-2E5A-0E31EB1B593D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3CA2CD69-988C-CF4A-D938-B1B549FAA957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E358059E-26B7-0D4D-ACE9-DC2166683DC7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34AF775-9C1F-FAD4-3D89-85BDE28D2C6E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F16F523-B733-99EE-A6F7-FC50B71BE604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2D89441F-FCDC-4761-3FF6-AF5B5A92CC95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A0744F09-E178-4B8C-F301-AFB9BB9F1FED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DACC585A-FB7C-C932-A773-D9913F881140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B457E028-BECB-AF3E-6E1B-DA4199CA70EE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7450517D-8EA7-CF3B-70BF-41915025D6C7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9A3CABA5-9650-7DF9-A9CB-622B58EF45C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D8615471-C0EF-F063-73F4-8203B24E1E0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FC1E9E52-054B-3B03-0400-2A840B75E6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FFFFF"/>
                </a:solidFill>
                <a:latin typeface="Montserrat ExtraBold"/>
                <a:cs typeface="Montserrat ExtraBold"/>
              </a:rPr>
              <a:t>MACHINE LEARNING</a:t>
            </a:r>
            <a:endParaRPr sz="4950" dirty="0">
              <a:latin typeface="Montserrat ExtraBold"/>
              <a:cs typeface="Montserrat ExtraBold"/>
            </a:endParaRPr>
          </a:p>
          <a:p>
            <a:pPr marL="12700">
              <a:lnSpc>
                <a:spcPts val="5940"/>
              </a:lnSpc>
            </a:pPr>
            <a:r>
              <a:rPr lang="pt-BR" sz="4950" b="0" spc="-25" dirty="0">
                <a:solidFill>
                  <a:srgbClr val="FFFFFF"/>
                </a:solidFill>
                <a:latin typeface="Montserrat"/>
                <a:cs typeface="Montserrat"/>
              </a:rPr>
              <a:t>Métricas</a:t>
            </a:r>
            <a:endParaRPr sz="4950" dirty="0">
              <a:latin typeface="Montserrat"/>
              <a:cs typeface="Montserrat"/>
            </a:endParaRPr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4C023612-A300-E1FF-F951-DA536510C354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C18C6CE-E6CD-7749-4FF5-DB22087AA85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08DE50CA-FDFA-669F-E30C-31B478CB50E0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6" name="object 71">
            <a:extLst>
              <a:ext uri="{FF2B5EF4-FFF2-40B4-BE49-F238E27FC236}">
                <a16:creationId xmlns:a16="http://schemas.microsoft.com/office/drawing/2014/main" id="{9DDD2DBB-5949-77E0-201A-4E4B8ABCD621}"/>
              </a:ext>
            </a:extLst>
          </p:cNvPr>
          <p:cNvSpPr txBox="1">
            <a:spLocks/>
          </p:cNvSpPr>
          <p:nvPr/>
        </p:nvSpPr>
        <p:spPr>
          <a:xfrm>
            <a:off x="1509065" y="3556704"/>
            <a:ext cx="17495592" cy="37055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Ferramentas usadas para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medir o desempenho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de um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modelo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</a:t>
            </a:r>
            <a:r>
              <a:rPr lang="pt-BR" sz="6000" b="1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preditivo</a:t>
            </a:r>
            <a:r>
              <a:rPr lang="pt-BR" sz="6000" kern="0" spc="-15" dirty="0">
                <a:solidFill>
                  <a:srgbClr val="FFFFFF"/>
                </a:solidFill>
                <a:latin typeface="Montserrat" panose="00000500000000000000" pitchFamily="2" charset="0"/>
                <a:cs typeface="Montserrat ExtraBold"/>
              </a:rPr>
              <a:t> e garantir que ele atenda aos objetivos do projeto.</a:t>
            </a:r>
            <a:endParaRPr lang="pt-BR" sz="6000" kern="0" dirty="0"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18776367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/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/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/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MACHINE LEARNING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950" spc="-15" dirty="0">
                <a:latin typeface="Montserrat" panose="00000500000000000000" pitchFamily="2" charset="0"/>
                <a:cs typeface="Montserrat ExtraBold"/>
              </a:rPr>
              <a:t>Métricas</a:t>
            </a:r>
            <a:endParaRPr sz="4950" dirty="0"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32678" y="6086775"/>
            <a:ext cx="6158865" cy="318317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Um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modelo preditivo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em Machine Learning é um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programa matemático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que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aprende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com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dados do passado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para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prever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o que vai acontecer no futuro.</a:t>
            </a:r>
            <a:endParaRPr sz="2800" dirty="0">
              <a:latin typeface="Montserrat"/>
              <a:cs typeface="Montserra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332678" y="4098774"/>
            <a:ext cx="4194810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MODELO</a:t>
            </a:r>
          </a:p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P</a:t>
            </a:r>
            <a:r>
              <a:rPr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RE</a:t>
            </a:r>
            <a:r>
              <a:rPr sz="3600" b="1" spc="-1035" dirty="0">
                <a:solidFill>
                  <a:srgbClr val="333333"/>
                </a:solidFill>
                <a:latin typeface="Montserrat ExtraBold"/>
                <a:cs typeface="Montserrat ExtraBold"/>
              </a:rPr>
              <a:t> </a:t>
            </a:r>
            <a:r>
              <a:rPr sz="36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D</a:t>
            </a:r>
            <a:r>
              <a:rPr lang="pt-BR" sz="3600" b="1" spc="10" dirty="0">
                <a:solidFill>
                  <a:srgbClr val="333333"/>
                </a:solidFill>
                <a:latin typeface="Montserrat ExtraBold"/>
                <a:cs typeface="Montserrat ExtraBold"/>
              </a:rPr>
              <a:t>ITIVO</a:t>
            </a:r>
            <a:endParaRPr sz="3600" dirty="0">
              <a:latin typeface="Montserrat ExtraBold"/>
              <a:cs typeface="Montserrat ExtraBold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F783E634-5A07-A711-9956-7320C0B0FD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4" r="10401"/>
          <a:stretch>
            <a:fillRect/>
          </a:stretch>
        </p:blipFill>
        <p:spPr>
          <a:xfrm>
            <a:off x="0" y="3555330"/>
            <a:ext cx="11821629" cy="759142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9D824A3-1398-6249-FEE9-15DE0131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1FAFD6-AAF0-C45B-2516-47891E1EC681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B99F1BA-C9C7-1EB3-5FE0-1BB615079FB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88A6F6A-49E7-2505-B5D3-B0771A72C3C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A47B9A-D275-F819-C545-D5302F62F5F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7EE117C-D233-B197-398D-1A249675CD5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FABC3FFD-D952-2884-E87A-03B53BA09103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9B1C06DF-7A07-28B4-7EE9-69E787F0A213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F782E7D6-B67A-9CE3-3AC0-C88E38BFB3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41F2AEB-A1A2-4F07-17A4-FEE70075BA80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36591F9-C1D3-C198-CCCD-1CB5CAB3B4FF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DBB39B0-A73E-20AA-0D1B-828528F9942C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5A1B9B5-B881-2524-1FDE-26AB91797727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31E443DE-986A-DAEC-B7E4-CD37E4C190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MACHINE LEARNING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950" spc="-15" dirty="0">
                <a:latin typeface="Montserrat" panose="00000500000000000000" pitchFamily="2" charset="0"/>
                <a:cs typeface="Montserrat ExtraBold"/>
              </a:rPr>
              <a:t>Métricas</a:t>
            </a:r>
            <a:endParaRPr sz="4950" dirty="0"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CBF9305A-65CF-4596-33A4-5BD8ECD153CC}"/>
              </a:ext>
            </a:extLst>
          </p:cNvPr>
          <p:cNvSpPr txBox="1"/>
          <p:nvPr/>
        </p:nvSpPr>
        <p:spPr>
          <a:xfrm>
            <a:off x="12332678" y="5883275"/>
            <a:ext cx="6158865" cy="382951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Medem a capacidade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de um modelo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predizer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com precisão dados novos que ele nunca viu antes, sendo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calculadas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em um conjunto de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testes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ou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validação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separado do treinamento.</a:t>
            </a:r>
            <a:endParaRPr sz="2800" dirty="0">
              <a:latin typeface="Montserrat"/>
              <a:cs typeface="Montserrat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0DCD6FBD-D9B9-F2A1-96BE-1D1E04F68B69}"/>
              </a:ext>
            </a:extLst>
          </p:cNvPr>
          <p:cNvSpPr txBox="1"/>
          <p:nvPr/>
        </p:nvSpPr>
        <p:spPr>
          <a:xfrm>
            <a:off x="12332677" y="4098775"/>
            <a:ext cx="6158865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MÉTRICA POR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GENERALIZAÇÃO</a:t>
            </a:r>
            <a:endParaRPr sz="3600" dirty="0">
              <a:latin typeface="Montserrat ExtraBold"/>
              <a:cs typeface="Montserrat ExtraBold"/>
            </a:endParaRPr>
          </a:p>
        </p:txBody>
      </p:sp>
      <p:pic>
        <p:nvPicPr>
          <p:cNvPr id="20" name="Imagem 19" descr="Generalização em Machine Learning">
            <a:extLst>
              <a:ext uri="{FF2B5EF4-FFF2-40B4-BE49-F238E27FC236}">
                <a16:creationId xmlns:a16="http://schemas.microsoft.com/office/drawing/2014/main" id="{FE2421CB-83A1-A777-682B-7F5D7E1016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747" b="2690"/>
          <a:stretch>
            <a:fillRect/>
          </a:stretch>
        </p:blipFill>
        <p:spPr>
          <a:xfrm>
            <a:off x="-210" y="3564872"/>
            <a:ext cx="11821629" cy="758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056356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E5851BE-6CB6-4A4E-7B14-BBC2F167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43601C-11A9-B488-614C-352DFD481B7C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5B47759-40F0-0363-3237-4FFF6A3DCB1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FC2B6FD-861D-0386-6F6D-122FCF5E316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B40F268-AB6E-3A91-C429-6CC2773EB7C4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AB1E0E-414B-4099-213E-A1A326D09F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" name="object 7">
            <a:extLst>
              <a:ext uri="{FF2B5EF4-FFF2-40B4-BE49-F238E27FC236}">
                <a16:creationId xmlns:a16="http://schemas.microsoft.com/office/drawing/2014/main" id="{4AA0AA89-4818-66AF-2D23-FE55DC72CCF1}"/>
              </a:ext>
            </a:extLst>
          </p:cNvPr>
          <p:cNvGrpSpPr/>
          <p:nvPr/>
        </p:nvGrpSpPr>
        <p:grpSpPr>
          <a:xfrm>
            <a:off x="0" y="2774784"/>
            <a:ext cx="20104100" cy="8534188"/>
            <a:chOff x="0" y="2774784"/>
            <a:chExt cx="20104100" cy="8534188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37C37A9-D7E0-AB69-F94F-A9E59B205CC1}"/>
                </a:ext>
              </a:extLst>
            </p:cNvPr>
            <p:cNvSpPr/>
            <p:nvPr/>
          </p:nvSpPr>
          <p:spPr>
            <a:xfrm>
              <a:off x="0" y="8167290"/>
              <a:ext cx="20104100" cy="2984500"/>
            </a:xfrm>
            <a:custGeom>
              <a:avLst/>
              <a:gdLst/>
              <a:ahLst/>
              <a:cxnLst/>
              <a:rect l="l" t="t" r="r" b="b"/>
              <a:pathLst>
                <a:path w="20104100" h="2984500">
                  <a:moveTo>
                    <a:pt x="0" y="2984202"/>
                  </a:moveTo>
                  <a:lnTo>
                    <a:pt x="20104099" y="2984202"/>
                  </a:lnTo>
                  <a:lnTo>
                    <a:pt x="20104099" y="0"/>
                  </a:lnTo>
                  <a:lnTo>
                    <a:pt x="0" y="0"/>
                  </a:lnTo>
                  <a:lnTo>
                    <a:pt x="0" y="2984202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39243377-5918-E59B-10C6-7914B866DFA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6313" y="2774784"/>
              <a:ext cx="8806014" cy="8533771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1E7268C-90C7-7F07-42EF-4B909BC27834}"/>
                </a:ext>
              </a:extLst>
            </p:cNvPr>
            <p:cNvSpPr/>
            <p:nvPr/>
          </p:nvSpPr>
          <p:spPr>
            <a:xfrm>
              <a:off x="11821838" y="3560101"/>
              <a:ext cx="7235190" cy="7591425"/>
            </a:xfrm>
            <a:custGeom>
              <a:avLst/>
              <a:gdLst/>
              <a:ahLst/>
              <a:cxnLst/>
              <a:rect l="l" t="t" r="r" b="b"/>
              <a:pathLst>
                <a:path w="7235190" h="7591425">
                  <a:moveTo>
                    <a:pt x="0" y="7591391"/>
                  </a:moveTo>
                  <a:lnTo>
                    <a:pt x="7235172" y="7591391"/>
                  </a:lnTo>
                  <a:lnTo>
                    <a:pt x="7235172" y="0"/>
                  </a:lnTo>
                  <a:lnTo>
                    <a:pt x="0" y="0"/>
                  </a:lnTo>
                  <a:lnTo>
                    <a:pt x="0" y="759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AEBCB873-7F36-D94D-EB08-2D3BD4C32466}"/>
                </a:ext>
              </a:extLst>
            </p:cNvPr>
            <p:cNvSpPr/>
            <p:nvPr/>
          </p:nvSpPr>
          <p:spPr>
            <a:xfrm>
              <a:off x="19266420" y="3560108"/>
              <a:ext cx="575945" cy="1885314"/>
            </a:xfrm>
            <a:custGeom>
              <a:avLst/>
              <a:gdLst/>
              <a:ahLst/>
              <a:cxnLst/>
              <a:rect l="l" t="t" r="r" b="b"/>
              <a:pathLst>
                <a:path w="575944" h="1885314">
                  <a:moveTo>
                    <a:pt x="52362" y="1858581"/>
                  </a:moveTo>
                  <a:lnTo>
                    <a:pt x="50304" y="1848396"/>
                  </a:lnTo>
                  <a:lnTo>
                    <a:pt x="44691" y="1840064"/>
                  </a:lnTo>
                  <a:lnTo>
                    <a:pt x="36372" y="1834464"/>
                  </a:lnTo>
                  <a:lnTo>
                    <a:pt x="26174" y="1832406"/>
                  </a:lnTo>
                  <a:lnTo>
                    <a:pt x="15989" y="1834464"/>
                  </a:lnTo>
                  <a:lnTo>
                    <a:pt x="7670" y="1840064"/>
                  </a:lnTo>
                  <a:lnTo>
                    <a:pt x="2057" y="1848396"/>
                  </a:lnTo>
                  <a:lnTo>
                    <a:pt x="0" y="1858581"/>
                  </a:lnTo>
                  <a:lnTo>
                    <a:pt x="2057" y="1868766"/>
                  </a:lnTo>
                  <a:lnTo>
                    <a:pt x="7670" y="1877098"/>
                  </a:lnTo>
                  <a:lnTo>
                    <a:pt x="15989" y="1882698"/>
                  </a:lnTo>
                  <a:lnTo>
                    <a:pt x="26174" y="1884756"/>
                  </a:lnTo>
                  <a:lnTo>
                    <a:pt x="36372" y="1882698"/>
                  </a:lnTo>
                  <a:lnTo>
                    <a:pt x="44691" y="1877098"/>
                  </a:lnTo>
                  <a:lnTo>
                    <a:pt x="50304" y="1868766"/>
                  </a:lnTo>
                  <a:lnTo>
                    <a:pt x="52362" y="1858581"/>
                  </a:lnTo>
                  <a:close/>
                </a:path>
                <a:path w="575944" h="1885314">
                  <a:moveTo>
                    <a:pt x="52362" y="1596809"/>
                  </a:moveTo>
                  <a:lnTo>
                    <a:pt x="50304" y="1586623"/>
                  </a:lnTo>
                  <a:lnTo>
                    <a:pt x="44691" y="1578292"/>
                  </a:lnTo>
                  <a:lnTo>
                    <a:pt x="36372" y="1572691"/>
                  </a:lnTo>
                  <a:lnTo>
                    <a:pt x="26174" y="1570634"/>
                  </a:lnTo>
                  <a:lnTo>
                    <a:pt x="15989" y="1572691"/>
                  </a:lnTo>
                  <a:lnTo>
                    <a:pt x="7670" y="1578292"/>
                  </a:lnTo>
                  <a:lnTo>
                    <a:pt x="2057" y="1586623"/>
                  </a:lnTo>
                  <a:lnTo>
                    <a:pt x="0" y="1596809"/>
                  </a:lnTo>
                  <a:lnTo>
                    <a:pt x="2057" y="1606994"/>
                  </a:lnTo>
                  <a:lnTo>
                    <a:pt x="7670" y="1615325"/>
                  </a:lnTo>
                  <a:lnTo>
                    <a:pt x="15989" y="1620926"/>
                  </a:lnTo>
                  <a:lnTo>
                    <a:pt x="26174" y="1622983"/>
                  </a:lnTo>
                  <a:lnTo>
                    <a:pt x="36372" y="1620926"/>
                  </a:lnTo>
                  <a:lnTo>
                    <a:pt x="44691" y="1615325"/>
                  </a:lnTo>
                  <a:lnTo>
                    <a:pt x="50304" y="1606994"/>
                  </a:lnTo>
                  <a:lnTo>
                    <a:pt x="52362" y="1596809"/>
                  </a:lnTo>
                  <a:close/>
                </a:path>
                <a:path w="575944" h="1885314">
                  <a:moveTo>
                    <a:pt x="52362" y="1335036"/>
                  </a:moveTo>
                  <a:lnTo>
                    <a:pt x="50304" y="1324851"/>
                  </a:lnTo>
                  <a:lnTo>
                    <a:pt x="44691" y="1316520"/>
                  </a:lnTo>
                  <a:lnTo>
                    <a:pt x="36372" y="1310919"/>
                  </a:lnTo>
                  <a:lnTo>
                    <a:pt x="26174" y="1308862"/>
                  </a:lnTo>
                  <a:lnTo>
                    <a:pt x="15989" y="1310919"/>
                  </a:lnTo>
                  <a:lnTo>
                    <a:pt x="7670" y="1316520"/>
                  </a:lnTo>
                  <a:lnTo>
                    <a:pt x="2057" y="1324851"/>
                  </a:lnTo>
                  <a:lnTo>
                    <a:pt x="0" y="1335036"/>
                  </a:lnTo>
                  <a:lnTo>
                    <a:pt x="2057" y="1345222"/>
                  </a:lnTo>
                  <a:lnTo>
                    <a:pt x="7670" y="1353553"/>
                  </a:lnTo>
                  <a:lnTo>
                    <a:pt x="15989" y="1359154"/>
                  </a:lnTo>
                  <a:lnTo>
                    <a:pt x="26174" y="1361211"/>
                  </a:lnTo>
                  <a:lnTo>
                    <a:pt x="36372" y="1359154"/>
                  </a:lnTo>
                  <a:lnTo>
                    <a:pt x="44691" y="1353553"/>
                  </a:lnTo>
                  <a:lnTo>
                    <a:pt x="50304" y="1345222"/>
                  </a:lnTo>
                  <a:lnTo>
                    <a:pt x="52362" y="1335036"/>
                  </a:lnTo>
                  <a:close/>
                </a:path>
                <a:path w="575944" h="1885314">
                  <a:moveTo>
                    <a:pt x="52362" y="1073264"/>
                  </a:moveTo>
                  <a:lnTo>
                    <a:pt x="50304" y="1063078"/>
                  </a:lnTo>
                  <a:lnTo>
                    <a:pt x="44691" y="1054747"/>
                  </a:lnTo>
                  <a:lnTo>
                    <a:pt x="36372" y="1049147"/>
                  </a:lnTo>
                  <a:lnTo>
                    <a:pt x="26174" y="1047089"/>
                  </a:lnTo>
                  <a:lnTo>
                    <a:pt x="15989" y="1049147"/>
                  </a:lnTo>
                  <a:lnTo>
                    <a:pt x="7670" y="1054747"/>
                  </a:lnTo>
                  <a:lnTo>
                    <a:pt x="2057" y="1063078"/>
                  </a:lnTo>
                  <a:lnTo>
                    <a:pt x="0" y="1073264"/>
                  </a:lnTo>
                  <a:lnTo>
                    <a:pt x="2057" y="1083449"/>
                  </a:lnTo>
                  <a:lnTo>
                    <a:pt x="7670" y="1091780"/>
                  </a:lnTo>
                  <a:lnTo>
                    <a:pt x="15989" y="1097381"/>
                  </a:lnTo>
                  <a:lnTo>
                    <a:pt x="26174" y="1099439"/>
                  </a:lnTo>
                  <a:lnTo>
                    <a:pt x="36372" y="1097381"/>
                  </a:lnTo>
                  <a:lnTo>
                    <a:pt x="44691" y="1091780"/>
                  </a:lnTo>
                  <a:lnTo>
                    <a:pt x="50304" y="1083449"/>
                  </a:lnTo>
                  <a:lnTo>
                    <a:pt x="52362" y="1073264"/>
                  </a:lnTo>
                  <a:close/>
                </a:path>
                <a:path w="575944" h="1885314">
                  <a:moveTo>
                    <a:pt x="52362" y="811491"/>
                  </a:moveTo>
                  <a:lnTo>
                    <a:pt x="50304" y="801306"/>
                  </a:lnTo>
                  <a:lnTo>
                    <a:pt x="44691" y="792975"/>
                  </a:lnTo>
                  <a:lnTo>
                    <a:pt x="36372" y="787374"/>
                  </a:lnTo>
                  <a:lnTo>
                    <a:pt x="26174" y="785317"/>
                  </a:lnTo>
                  <a:lnTo>
                    <a:pt x="15989" y="787374"/>
                  </a:lnTo>
                  <a:lnTo>
                    <a:pt x="7670" y="792975"/>
                  </a:lnTo>
                  <a:lnTo>
                    <a:pt x="2057" y="801306"/>
                  </a:lnTo>
                  <a:lnTo>
                    <a:pt x="0" y="811491"/>
                  </a:lnTo>
                  <a:lnTo>
                    <a:pt x="2057" y="821677"/>
                  </a:lnTo>
                  <a:lnTo>
                    <a:pt x="7670" y="830008"/>
                  </a:lnTo>
                  <a:lnTo>
                    <a:pt x="15989" y="835609"/>
                  </a:lnTo>
                  <a:lnTo>
                    <a:pt x="26174" y="837666"/>
                  </a:lnTo>
                  <a:lnTo>
                    <a:pt x="36372" y="835609"/>
                  </a:lnTo>
                  <a:lnTo>
                    <a:pt x="44691" y="830008"/>
                  </a:lnTo>
                  <a:lnTo>
                    <a:pt x="50304" y="821677"/>
                  </a:lnTo>
                  <a:lnTo>
                    <a:pt x="52362" y="811491"/>
                  </a:lnTo>
                  <a:close/>
                </a:path>
                <a:path w="575944" h="1885314">
                  <a:moveTo>
                    <a:pt x="52362" y="549719"/>
                  </a:moveTo>
                  <a:lnTo>
                    <a:pt x="50304" y="539534"/>
                  </a:lnTo>
                  <a:lnTo>
                    <a:pt x="44691" y="531202"/>
                  </a:lnTo>
                  <a:lnTo>
                    <a:pt x="36372" y="525602"/>
                  </a:lnTo>
                  <a:lnTo>
                    <a:pt x="26174" y="523544"/>
                  </a:lnTo>
                  <a:lnTo>
                    <a:pt x="15989" y="525602"/>
                  </a:lnTo>
                  <a:lnTo>
                    <a:pt x="7670" y="531202"/>
                  </a:lnTo>
                  <a:lnTo>
                    <a:pt x="2057" y="539534"/>
                  </a:lnTo>
                  <a:lnTo>
                    <a:pt x="0" y="549719"/>
                  </a:lnTo>
                  <a:lnTo>
                    <a:pt x="2057" y="559904"/>
                  </a:lnTo>
                  <a:lnTo>
                    <a:pt x="7670" y="568236"/>
                  </a:lnTo>
                  <a:lnTo>
                    <a:pt x="15989" y="573836"/>
                  </a:lnTo>
                  <a:lnTo>
                    <a:pt x="26174" y="575894"/>
                  </a:lnTo>
                  <a:lnTo>
                    <a:pt x="36372" y="573836"/>
                  </a:lnTo>
                  <a:lnTo>
                    <a:pt x="44691" y="568236"/>
                  </a:lnTo>
                  <a:lnTo>
                    <a:pt x="50304" y="559904"/>
                  </a:lnTo>
                  <a:lnTo>
                    <a:pt x="52362" y="549719"/>
                  </a:lnTo>
                  <a:close/>
                </a:path>
                <a:path w="575944" h="1885314">
                  <a:moveTo>
                    <a:pt x="52362" y="287947"/>
                  </a:moveTo>
                  <a:lnTo>
                    <a:pt x="50304" y="277761"/>
                  </a:lnTo>
                  <a:lnTo>
                    <a:pt x="44691" y="269443"/>
                  </a:lnTo>
                  <a:lnTo>
                    <a:pt x="36372" y="263829"/>
                  </a:lnTo>
                  <a:lnTo>
                    <a:pt x="26174" y="261772"/>
                  </a:lnTo>
                  <a:lnTo>
                    <a:pt x="15989" y="263829"/>
                  </a:lnTo>
                  <a:lnTo>
                    <a:pt x="7670" y="269443"/>
                  </a:lnTo>
                  <a:lnTo>
                    <a:pt x="2057" y="277761"/>
                  </a:lnTo>
                  <a:lnTo>
                    <a:pt x="0" y="287947"/>
                  </a:lnTo>
                  <a:lnTo>
                    <a:pt x="2057" y="298145"/>
                  </a:lnTo>
                  <a:lnTo>
                    <a:pt x="7670" y="306463"/>
                  </a:lnTo>
                  <a:lnTo>
                    <a:pt x="15989" y="312064"/>
                  </a:lnTo>
                  <a:lnTo>
                    <a:pt x="26174" y="314121"/>
                  </a:lnTo>
                  <a:lnTo>
                    <a:pt x="36372" y="312064"/>
                  </a:lnTo>
                  <a:lnTo>
                    <a:pt x="44691" y="306463"/>
                  </a:lnTo>
                  <a:lnTo>
                    <a:pt x="50304" y="298145"/>
                  </a:lnTo>
                  <a:lnTo>
                    <a:pt x="52362" y="287947"/>
                  </a:lnTo>
                  <a:close/>
                </a:path>
                <a:path w="575944" h="1885314">
                  <a:moveTo>
                    <a:pt x="52362" y="26174"/>
                  </a:moveTo>
                  <a:lnTo>
                    <a:pt x="50304" y="15989"/>
                  </a:lnTo>
                  <a:lnTo>
                    <a:pt x="44691" y="7670"/>
                  </a:lnTo>
                  <a:lnTo>
                    <a:pt x="36372" y="2057"/>
                  </a:lnTo>
                  <a:lnTo>
                    <a:pt x="26174" y="0"/>
                  </a:lnTo>
                  <a:lnTo>
                    <a:pt x="15989" y="2057"/>
                  </a:lnTo>
                  <a:lnTo>
                    <a:pt x="7670" y="7670"/>
                  </a:lnTo>
                  <a:lnTo>
                    <a:pt x="2057" y="15989"/>
                  </a:lnTo>
                  <a:lnTo>
                    <a:pt x="0" y="26174"/>
                  </a:lnTo>
                  <a:lnTo>
                    <a:pt x="2057" y="36372"/>
                  </a:lnTo>
                  <a:lnTo>
                    <a:pt x="7670" y="44691"/>
                  </a:lnTo>
                  <a:lnTo>
                    <a:pt x="15989" y="50292"/>
                  </a:lnTo>
                  <a:lnTo>
                    <a:pt x="26174" y="52349"/>
                  </a:lnTo>
                  <a:lnTo>
                    <a:pt x="36372" y="50292"/>
                  </a:lnTo>
                  <a:lnTo>
                    <a:pt x="44691" y="44691"/>
                  </a:lnTo>
                  <a:lnTo>
                    <a:pt x="50304" y="36372"/>
                  </a:lnTo>
                  <a:lnTo>
                    <a:pt x="52362" y="26174"/>
                  </a:lnTo>
                  <a:close/>
                </a:path>
                <a:path w="575944" h="1885314">
                  <a:moveTo>
                    <a:pt x="314134" y="1858581"/>
                  </a:moveTo>
                  <a:lnTo>
                    <a:pt x="312077" y="1848396"/>
                  </a:lnTo>
                  <a:lnTo>
                    <a:pt x="306463" y="1840064"/>
                  </a:lnTo>
                  <a:lnTo>
                    <a:pt x="298145" y="1834464"/>
                  </a:lnTo>
                  <a:lnTo>
                    <a:pt x="287947" y="1832406"/>
                  </a:lnTo>
                  <a:lnTo>
                    <a:pt x="277761" y="1834464"/>
                  </a:lnTo>
                  <a:lnTo>
                    <a:pt x="269443" y="1840064"/>
                  </a:lnTo>
                  <a:lnTo>
                    <a:pt x="263829" y="1848396"/>
                  </a:lnTo>
                  <a:lnTo>
                    <a:pt x="261772" y="1858581"/>
                  </a:lnTo>
                  <a:lnTo>
                    <a:pt x="263829" y="1868766"/>
                  </a:lnTo>
                  <a:lnTo>
                    <a:pt x="269443" y="1877098"/>
                  </a:lnTo>
                  <a:lnTo>
                    <a:pt x="277761" y="1882698"/>
                  </a:lnTo>
                  <a:lnTo>
                    <a:pt x="287947" y="1884756"/>
                  </a:lnTo>
                  <a:lnTo>
                    <a:pt x="298145" y="1882698"/>
                  </a:lnTo>
                  <a:lnTo>
                    <a:pt x="306463" y="1877098"/>
                  </a:lnTo>
                  <a:lnTo>
                    <a:pt x="312077" y="1868766"/>
                  </a:lnTo>
                  <a:lnTo>
                    <a:pt x="314134" y="1858581"/>
                  </a:lnTo>
                  <a:close/>
                </a:path>
                <a:path w="575944" h="1885314">
                  <a:moveTo>
                    <a:pt x="314134" y="1596809"/>
                  </a:moveTo>
                  <a:lnTo>
                    <a:pt x="312077" y="1586623"/>
                  </a:lnTo>
                  <a:lnTo>
                    <a:pt x="306463" y="1578292"/>
                  </a:lnTo>
                  <a:lnTo>
                    <a:pt x="298145" y="1572691"/>
                  </a:lnTo>
                  <a:lnTo>
                    <a:pt x="287947" y="1570634"/>
                  </a:lnTo>
                  <a:lnTo>
                    <a:pt x="277761" y="1572691"/>
                  </a:lnTo>
                  <a:lnTo>
                    <a:pt x="269443" y="1578292"/>
                  </a:lnTo>
                  <a:lnTo>
                    <a:pt x="263829" y="1586623"/>
                  </a:lnTo>
                  <a:lnTo>
                    <a:pt x="261772" y="1596809"/>
                  </a:lnTo>
                  <a:lnTo>
                    <a:pt x="263829" y="1606994"/>
                  </a:lnTo>
                  <a:lnTo>
                    <a:pt x="269443" y="1615325"/>
                  </a:lnTo>
                  <a:lnTo>
                    <a:pt x="277761" y="1620926"/>
                  </a:lnTo>
                  <a:lnTo>
                    <a:pt x="287947" y="1622983"/>
                  </a:lnTo>
                  <a:lnTo>
                    <a:pt x="298145" y="1620926"/>
                  </a:lnTo>
                  <a:lnTo>
                    <a:pt x="306463" y="1615325"/>
                  </a:lnTo>
                  <a:lnTo>
                    <a:pt x="312077" y="1606994"/>
                  </a:lnTo>
                  <a:lnTo>
                    <a:pt x="314134" y="1596809"/>
                  </a:lnTo>
                  <a:close/>
                </a:path>
                <a:path w="575944" h="1885314">
                  <a:moveTo>
                    <a:pt x="314134" y="1335036"/>
                  </a:moveTo>
                  <a:lnTo>
                    <a:pt x="312077" y="1324851"/>
                  </a:lnTo>
                  <a:lnTo>
                    <a:pt x="306463" y="1316520"/>
                  </a:lnTo>
                  <a:lnTo>
                    <a:pt x="298145" y="1310919"/>
                  </a:lnTo>
                  <a:lnTo>
                    <a:pt x="287947" y="1308862"/>
                  </a:lnTo>
                  <a:lnTo>
                    <a:pt x="277761" y="1310919"/>
                  </a:lnTo>
                  <a:lnTo>
                    <a:pt x="269443" y="1316520"/>
                  </a:lnTo>
                  <a:lnTo>
                    <a:pt x="263829" y="1324851"/>
                  </a:lnTo>
                  <a:lnTo>
                    <a:pt x="261772" y="1335036"/>
                  </a:lnTo>
                  <a:lnTo>
                    <a:pt x="263829" y="1345222"/>
                  </a:lnTo>
                  <a:lnTo>
                    <a:pt x="269443" y="1353553"/>
                  </a:lnTo>
                  <a:lnTo>
                    <a:pt x="277761" y="1359154"/>
                  </a:lnTo>
                  <a:lnTo>
                    <a:pt x="287947" y="1361211"/>
                  </a:lnTo>
                  <a:lnTo>
                    <a:pt x="298145" y="1359154"/>
                  </a:lnTo>
                  <a:lnTo>
                    <a:pt x="306463" y="1353553"/>
                  </a:lnTo>
                  <a:lnTo>
                    <a:pt x="312077" y="1345222"/>
                  </a:lnTo>
                  <a:lnTo>
                    <a:pt x="314134" y="1335036"/>
                  </a:lnTo>
                  <a:close/>
                </a:path>
                <a:path w="575944" h="1885314">
                  <a:moveTo>
                    <a:pt x="314134" y="1073264"/>
                  </a:moveTo>
                  <a:lnTo>
                    <a:pt x="312077" y="1063078"/>
                  </a:lnTo>
                  <a:lnTo>
                    <a:pt x="306463" y="1054747"/>
                  </a:lnTo>
                  <a:lnTo>
                    <a:pt x="298145" y="1049147"/>
                  </a:lnTo>
                  <a:lnTo>
                    <a:pt x="287947" y="1047089"/>
                  </a:lnTo>
                  <a:lnTo>
                    <a:pt x="277761" y="1049147"/>
                  </a:lnTo>
                  <a:lnTo>
                    <a:pt x="269443" y="1054747"/>
                  </a:lnTo>
                  <a:lnTo>
                    <a:pt x="263829" y="1063078"/>
                  </a:lnTo>
                  <a:lnTo>
                    <a:pt x="261772" y="1073264"/>
                  </a:lnTo>
                  <a:lnTo>
                    <a:pt x="263829" y="1083449"/>
                  </a:lnTo>
                  <a:lnTo>
                    <a:pt x="269443" y="1091780"/>
                  </a:lnTo>
                  <a:lnTo>
                    <a:pt x="277761" y="1097381"/>
                  </a:lnTo>
                  <a:lnTo>
                    <a:pt x="287947" y="1099439"/>
                  </a:lnTo>
                  <a:lnTo>
                    <a:pt x="298145" y="1097381"/>
                  </a:lnTo>
                  <a:lnTo>
                    <a:pt x="306463" y="1091780"/>
                  </a:lnTo>
                  <a:lnTo>
                    <a:pt x="312077" y="1083449"/>
                  </a:lnTo>
                  <a:lnTo>
                    <a:pt x="314134" y="1073264"/>
                  </a:lnTo>
                  <a:close/>
                </a:path>
                <a:path w="575944" h="1885314">
                  <a:moveTo>
                    <a:pt x="314134" y="811491"/>
                  </a:moveTo>
                  <a:lnTo>
                    <a:pt x="312077" y="801306"/>
                  </a:lnTo>
                  <a:lnTo>
                    <a:pt x="306463" y="792975"/>
                  </a:lnTo>
                  <a:lnTo>
                    <a:pt x="298145" y="787374"/>
                  </a:lnTo>
                  <a:lnTo>
                    <a:pt x="287947" y="785317"/>
                  </a:lnTo>
                  <a:lnTo>
                    <a:pt x="277761" y="787374"/>
                  </a:lnTo>
                  <a:lnTo>
                    <a:pt x="269443" y="792975"/>
                  </a:lnTo>
                  <a:lnTo>
                    <a:pt x="263829" y="801306"/>
                  </a:lnTo>
                  <a:lnTo>
                    <a:pt x="261772" y="811491"/>
                  </a:lnTo>
                  <a:lnTo>
                    <a:pt x="263829" y="821677"/>
                  </a:lnTo>
                  <a:lnTo>
                    <a:pt x="269443" y="830008"/>
                  </a:lnTo>
                  <a:lnTo>
                    <a:pt x="277761" y="835609"/>
                  </a:lnTo>
                  <a:lnTo>
                    <a:pt x="287947" y="837666"/>
                  </a:lnTo>
                  <a:lnTo>
                    <a:pt x="298145" y="835609"/>
                  </a:lnTo>
                  <a:lnTo>
                    <a:pt x="306463" y="830008"/>
                  </a:lnTo>
                  <a:lnTo>
                    <a:pt x="312077" y="821677"/>
                  </a:lnTo>
                  <a:lnTo>
                    <a:pt x="314134" y="811491"/>
                  </a:lnTo>
                  <a:close/>
                </a:path>
                <a:path w="575944" h="1885314">
                  <a:moveTo>
                    <a:pt x="314134" y="549719"/>
                  </a:moveTo>
                  <a:lnTo>
                    <a:pt x="312077" y="539534"/>
                  </a:lnTo>
                  <a:lnTo>
                    <a:pt x="306463" y="531202"/>
                  </a:lnTo>
                  <a:lnTo>
                    <a:pt x="298145" y="525602"/>
                  </a:lnTo>
                  <a:lnTo>
                    <a:pt x="287947" y="523544"/>
                  </a:lnTo>
                  <a:lnTo>
                    <a:pt x="277761" y="525602"/>
                  </a:lnTo>
                  <a:lnTo>
                    <a:pt x="269443" y="531202"/>
                  </a:lnTo>
                  <a:lnTo>
                    <a:pt x="263829" y="539534"/>
                  </a:lnTo>
                  <a:lnTo>
                    <a:pt x="261772" y="549719"/>
                  </a:lnTo>
                  <a:lnTo>
                    <a:pt x="263829" y="559904"/>
                  </a:lnTo>
                  <a:lnTo>
                    <a:pt x="269443" y="568236"/>
                  </a:lnTo>
                  <a:lnTo>
                    <a:pt x="277761" y="573836"/>
                  </a:lnTo>
                  <a:lnTo>
                    <a:pt x="287947" y="575894"/>
                  </a:lnTo>
                  <a:lnTo>
                    <a:pt x="298145" y="573836"/>
                  </a:lnTo>
                  <a:lnTo>
                    <a:pt x="306463" y="568236"/>
                  </a:lnTo>
                  <a:lnTo>
                    <a:pt x="312077" y="559904"/>
                  </a:lnTo>
                  <a:lnTo>
                    <a:pt x="314134" y="549719"/>
                  </a:lnTo>
                  <a:close/>
                </a:path>
                <a:path w="575944" h="1885314">
                  <a:moveTo>
                    <a:pt x="314134" y="287947"/>
                  </a:moveTo>
                  <a:lnTo>
                    <a:pt x="312077" y="277761"/>
                  </a:lnTo>
                  <a:lnTo>
                    <a:pt x="306463" y="269443"/>
                  </a:lnTo>
                  <a:lnTo>
                    <a:pt x="298145" y="263829"/>
                  </a:lnTo>
                  <a:lnTo>
                    <a:pt x="287947" y="261772"/>
                  </a:lnTo>
                  <a:lnTo>
                    <a:pt x="277761" y="263829"/>
                  </a:lnTo>
                  <a:lnTo>
                    <a:pt x="269443" y="269443"/>
                  </a:lnTo>
                  <a:lnTo>
                    <a:pt x="263829" y="277761"/>
                  </a:lnTo>
                  <a:lnTo>
                    <a:pt x="261772" y="287947"/>
                  </a:lnTo>
                  <a:lnTo>
                    <a:pt x="263829" y="298145"/>
                  </a:lnTo>
                  <a:lnTo>
                    <a:pt x="269443" y="306463"/>
                  </a:lnTo>
                  <a:lnTo>
                    <a:pt x="277761" y="312064"/>
                  </a:lnTo>
                  <a:lnTo>
                    <a:pt x="287947" y="314121"/>
                  </a:lnTo>
                  <a:lnTo>
                    <a:pt x="298145" y="312064"/>
                  </a:lnTo>
                  <a:lnTo>
                    <a:pt x="306463" y="306463"/>
                  </a:lnTo>
                  <a:lnTo>
                    <a:pt x="312077" y="298145"/>
                  </a:lnTo>
                  <a:lnTo>
                    <a:pt x="314134" y="287947"/>
                  </a:lnTo>
                  <a:close/>
                </a:path>
                <a:path w="575944" h="1885314">
                  <a:moveTo>
                    <a:pt x="314134" y="26174"/>
                  </a:moveTo>
                  <a:lnTo>
                    <a:pt x="312077" y="15989"/>
                  </a:lnTo>
                  <a:lnTo>
                    <a:pt x="306463" y="7670"/>
                  </a:lnTo>
                  <a:lnTo>
                    <a:pt x="298145" y="2057"/>
                  </a:lnTo>
                  <a:lnTo>
                    <a:pt x="287947" y="0"/>
                  </a:lnTo>
                  <a:lnTo>
                    <a:pt x="277761" y="2057"/>
                  </a:lnTo>
                  <a:lnTo>
                    <a:pt x="269443" y="7670"/>
                  </a:lnTo>
                  <a:lnTo>
                    <a:pt x="263829" y="15989"/>
                  </a:lnTo>
                  <a:lnTo>
                    <a:pt x="261772" y="26174"/>
                  </a:lnTo>
                  <a:lnTo>
                    <a:pt x="263829" y="36372"/>
                  </a:lnTo>
                  <a:lnTo>
                    <a:pt x="269443" y="44691"/>
                  </a:lnTo>
                  <a:lnTo>
                    <a:pt x="277761" y="50292"/>
                  </a:lnTo>
                  <a:lnTo>
                    <a:pt x="287947" y="52349"/>
                  </a:lnTo>
                  <a:lnTo>
                    <a:pt x="298145" y="50292"/>
                  </a:lnTo>
                  <a:lnTo>
                    <a:pt x="306463" y="44691"/>
                  </a:lnTo>
                  <a:lnTo>
                    <a:pt x="312077" y="36372"/>
                  </a:lnTo>
                  <a:lnTo>
                    <a:pt x="314134" y="26174"/>
                  </a:lnTo>
                  <a:close/>
                </a:path>
                <a:path w="575944" h="1885314">
                  <a:moveTo>
                    <a:pt x="575906" y="1858581"/>
                  </a:moveTo>
                  <a:lnTo>
                    <a:pt x="573849" y="1848396"/>
                  </a:lnTo>
                  <a:lnTo>
                    <a:pt x="568236" y="1840064"/>
                  </a:lnTo>
                  <a:lnTo>
                    <a:pt x="559917" y="1834464"/>
                  </a:lnTo>
                  <a:lnTo>
                    <a:pt x="549719" y="1832406"/>
                  </a:lnTo>
                  <a:lnTo>
                    <a:pt x="539534" y="1834464"/>
                  </a:lnTo>
                  <a:lnTo>
                    <a:pt x="531215" y="1840064"/>
                  </a:lnTo>
                  <a:lnTo>
                    <a:pt x="525602" y="1848396"/>
                  </a:lnTo>
                  <a:lnTo>
                    <a:pt x="523544" y="1858581"/>
                  </a:lnTo>
                  <a:lnTo>
                    <a:pt x="525602" y="1868766"/>
                  </a:lnTo>
                  <a:lnTo>
                    <a:pt x="531215" y="1877098"/>
                  </a:lnTo>
                  <a:lnTo>
                    <a:pt x="539534" y="1882698"/>
                  </a:lnTo>
                  <a:lnTo>
                    <a:pt x="549719" y="1884756"/>
                  </a:lnTo>
                  <a:lnTo>
                    <a:pt x="559917" y="1882698"/>
                  </a:lnTo>
                  <a:lnTo>
                    <a:pt x="568236" y="1877098"/>
                  </a:lnTo>
                  <a:lnTo>
                    <a:pt x="573849" y="1868766"/>
                  </a:lnTo>
                  <a:lnTo>
                    <a:pt x="575906" y="1858581"/>
                  </a:lnTo>
                  <a:close/>
                </a:path>
                <a:path w="575944" h="1885314">
                  <a:moveTo>
                    <a:pt x="575906" y="1596809"/>
                  </a:moveTo>
                  <a:lnTo>
                    <a:pt x="573849" y="1586623"/>
                  </a:lnTo>
                  <a:lnTo>
                    <a:pt x="568236" y="1578292"/>
                  </a:lnTo>
                  <a:lnTo>
                    <a:pt x="559917" y="1572691"/>
                  </a:lnTo>
                  <a:lnTo>
                    <a:pt x="549719" y="1570634"/>
                  </a:lnTo>
                  <a:lnTo>
                    <a:pt x="539534" y="1572691"/>
                  </a:lnTo>
                  <a:lnTo>
                    <a:pt x="531215" y="1578292"/>
                  </a:lnTo>
                  <a:lnTo>
                    <a:pt x="525602" y="1586623"/>
                  </a:lnTo>
                  <a:lnTo>
                    <a:pt x="523544" y="1596809"/>
                  </a:lnTo>
                  <a:lnTo>
                    <a:pt x="525602" y="1606994"/>
                  </a:lnTo>
                  <a:lnTo>
                    <a:pt x="531215" y="1615325"/>
                  </a:lnTo>
                  <a:lnTo>
                    <a:pt x="539534" y="1620926"/>
                  </a:lnTo>
                  <a:lnTo>
                    <a:pt x="549719" y="1622983"/>
                  </a:lnTo>
                  <a:lnTo>
                    <a:pt x="559917" y="1620926"/>
                  </a:lnTo>
                  <a:lnTo>
                    <a:pt x="568236" y="1615325"/>
                  </a:lnTo>
                  <a:lnTo>
                    <a:pt x="573849" y="1606994"/>
                  </a:lnTo>
                  <a:lnTo>
                    <a:pt x="575906" y="1596809"/>
                  </a:lnTo>
                  <a:close/>
                </a:path>
                <a:path w="575944" h="1885314">
                  <a:moveTo>
                    <a:pt x="575906" y="1335036"/>
                  </a:moveTo>
                  <a:lnTo>
                    <a:pt x="573849" y="1324851"/>
                  </a:lnTo>
                  <a:lnTo>
                    <a:pt x="568236" y="1316520"/>
                  </a:lnTo>
                  <a:lnTo>
                    <a:pt x="559917" y="1310919"/>
                  </a:lnTo>
                  <a:lnTo>
                    <a:pt x="549719" y="1308862"/>
                  </a:lnTo>
                  <a:lnTo>
                    <a:pt x="539534" y="1310919"/>
                  </a:lnTo>
                  <a:lnTo>
                    <a:pt x="531215" y="1316520"/>
                  </a:lnTo>
                  <a:lnTo>
                    <a:pt x="525602" y="1324851"/>
                  </a:lnTo>
                  <a:lnTo>
                    <a:pt x="523544" y="1335036"/>
                  </a:lnTo>
                  <a:lnTo>
                    <a:pt x="525602" y="1345222"/>
                  </a:lnTo>
                  <a:lnTo>
                    <a:pt x="531215" y="1353553"/>
                  </a:lnTo>
                  <a:lnTo>
                    <a:pt x="539534" y="1359154"/>
                  </a:lnTo>
                  <a:lnTo>
                    <a:pt x="549719" y="1361211"/>
                  </a:lnTo>
                  <a:lnTo>
                    <a:pt x="559917" y="1359154"/>
                  </a:lnTo>
                  <a:lnTo>
                    <a:pt x="568236" y="1353553"/>
                  </a:lnTo>
                  <a:lnTo>
                    <a:pt x="573849" y="1345222"/>
                  </a:lnTo>
                  <a:lnTo>
                    <a:pt x="575906" y="1335036"/>
                  </a:lnTo>
                  <a:close/>
                </a:path>
                <a:path w="575944" h="1885314">
                  <a:moveTo>
                    <a:pt x="575906" y="1073264"/>
                  </a:moveTo>
                  <a:lnTo>
                    <a:pt x="573849" y="1063078"/>
                  </a:lnTo>
                  <a:lnTo>
                    <a:pt x="568236" y="1054747"/>
                  </a:lnTo>
                  <a:lnTo>
                    <a:pt x="559917" y="1049147"/>
                  </a:lnTo>
                  <a:lnTo>
                    <a:pt x="549719" y="1047089"/>
                  </a:lnTo>
                  <a:lnTo>
                    <a:pt x="539534" y="1049147"/>
                  </a:lnTo>
                  <a:lnTo>
                    <a:pt x="531215" y="1054747"/>
                  </a:lnTo>
                  <a:lnTo>
                    <a:pt x="525602" y="1063078"/>
                  </a:lnTo>
                  <a:lnTo>
                    <a:pt x="523544" y="1073264"/>
                  </a:lnTo>
                  <a:lnTo>
                    <a:pt x="525602" y="1083449"/>
                  </a:lnTo>
                  <a:lnTo>
                    <a:pt x="531215" y="1091780"/>
                  </a:lnTo>
                  <a:lnTo>
                    <a:pt x="539534" y="1097381"/>
                  </a:lnTo>
                  <a:lnTo>
                    <a:pt x="549719" y="1099439"/>
                  </a:lnTo>
                  <a:lnTo>
                    <a:pt x="559917" y="1097381"/>
                  </a:lnTo>
                  <a:lnTo>
                    <a:pt x="568236" y="1091780"/>
                  </a:lnTo>
                  <a:lnTo>
                    <a:pt x="573849" y="1083449"/>
                  </a:lnTo>
                  <a:lnTo>
                    <a:pt x="575906" y="1073264"/>
                  </a:lnTo>
                  <a:close/>
                </a:path>
                <a:path w="575944" h="1885314">
                  <a:moveTo>
                    <a:pt x="575906" y="811491"/>
                  </a:moveTo>
                  <a:lnTo>
                    <a:pt x="573849" y="801306"/>
                  </a:lnTo>
                  <a:lnTo>
                    <a:pt x="568236" y="792975"/>
                  </a:lnTo>
                  <a:lnTo>
                    <a:pt x="559917" y="787374"/>
                  </a:lnTo>
                  <a:lnTo>
                    <a:pt x="549719" y="785317"/>
                  </a:lnTo>
                  <a:lnTo>
                    <a:pt x="539534" y="787374"/>
                  </a:lnTo>
                  <a:lnTo>
                    <a:pt x="531215" y="792975"/>
                  </a:lnTo>
                  <a:lnTo>
                    <a:pt x="525602" y="801306"/>
                  </a:lnTo>
                  <a:lnTo>
                    <a:pt x="523544" y="811491"/>
                  </a:lnTo>
                  <a:lnTo>
                    <a:pt x="525602" y="821677"/>
                  </a:lnTo>
                  <a:lnTo>
                    <a:pt x="531215" y="830008"/>
                  </a:lnTo>
                  <a:lnTo>
                    <a:pt x="539534" y="835609"/>
                  </a:lnTo>
                  <a:lnTo>
                    <a:pt x="549719" y="837666"/>
                  </a:lnTo>
                  <a:lnTo>
                    <a:pt x="559917" y="835609"/>
                  </a:lnTo>
                  <a:lnTo>
                    <a:pt x="568236" y="830008"/>
                  </a:lnTo>
                  <a:lnTo>
                    <a:pt x="573849" y="821677"/>
                  </a:lnTo>
                  <a:lnTo>
                    <a:pt x="575906" y="811491"/>
                  </a:lnTo>
                  <a:close/>
                </a:path>
                <a:path w="575944" h="1885314">
                  <a:moveTo>
                    <a:pt x="575906" y="549719"/>
                  </a:moveTo>
                  <a:lnTo>
                    <a:pt x="573849" y="539534"/>
                  </a:lnTo>
                  <a:lnTo>
                    <a:pt x="568236" y="531202"/>
                  </a:lnTo>
                  <a:lnTo>
                    <a:pt x="559917" y="525602"/>
                  </a:lnTo>
                  <a:lnTo>
                    <a:pt x="549719" y="523544"/>
                  </a:lnTo>
                  <a:lnTo>
                    <a:pt x="539534" y="525602"/>
                  </a:lnTo>
                  <a:lnTo>
                    <a:pt x="531215" y="531202"/>
                  </a:lnTo>
                  <a:lnTo>
                    <a:pt x="525602" y="539534"/>
                  </a:lnTo>
                  <a:lnTo>
                    <a:pt x="523544" y="549719"/>
                  </a:lnTo>
                  <a:lnTo>
                    <a:pt x="525602" y="559904"/>
                  </a:lnTo>
                  <a:lnTo>
                    <a:pt x="531215" y="568236"/>
                  </a:lnTo>
                  <a:lnTo>
                    <a:pt x="539534" y="573836"/>
                  </a:lnTo>
                  <a:lnTo>
                    <a:pt x="549719" y="575894"/>
                  </a:lnTo>
                  <a:lnTo>
                    <a:pt x="559917" y="573836"/>
                  </a:lnTo>
                  <a:lnTo>
                    <a:pt x="568236" y="568236"/>
                  </a:lnTo>
                  <a:lnTo>
                    <a:pt x="573849" y="559904"/>
                  </a:lnTo>
                  <a:lnTo>
                    <a:pt x="575906" y="549719"/>
                  </a:lnTo>
                  <a:close/>
                </a:path>
                <a:path w="575944" h="1885314">
                  <a:moveTo>
                    <a:pt x="575906" y="287947"/>
                  </a:moveTo>
                  <a:lnTo>
                    <a:pt x="573849" y="277761"/>
                  </a:lnTo>
                  <a:lnTo>
                    <a:pt x="568236" y="269443"/>
                  </a:lnTo>
                  <a:lnTo>
                    <a:pt x="559917" y="263829"/>
                  </a:lnTo>
                  <a:lnTo>
                    <a:pt x="549719" y="261772"/>
                  </a:lnTo>
                  <a:lnTo>
                    <a:pt x="539534" y="263829"/>
                  </a:lnTo>
                  <a:lnTo>
                    <a:pt x="531215" y="269443"/>
                  </a:lnTo>
                  <a:lnTo>
                    <a:pt x="525602" y="277761"/>
                  </a:lnTo>
                  <a:lnTo>
                    <a:pt x="523544" y="287947"/>
                  </a:lnTo>
                  <a:lnTo>
                    <a:pt x="525602" y="298145"/>
                  </a:lnTo>
                  <a:lnTo>
                    <a:pt x="531215" y="306463"/>
                  </a:lnTo>
                  <a:lnTo>
                    <a:pt x="539534" y="312064"/>
                  </a:lnTo>
                  <a:lnTo>
                    <a:pt x="549719" y="314121"/>
                  </a:lnTo>
                  <a:lnTo>
                    <a:pt x="559917" y="312064"/>
                  </a:lnTo>
                  <a:lnTo>
                    <a:pt x="568236" y="306463"/>
                  </a:lnTo>
                  <a:lnTo>
                    <a:pt x="573849" y="298145"/>
                  </a:lnTo>
                  <a:lnTo>
                    <a:pt x="575906" y="287947"/>
                  </a:lnTo>
                  <a:close/>
                </a:path>
                <a:path w="575944" h="1885314">
                  <a:moveTo>
                    <a:pt x="575906" y="26174"/>
                  </a:moveTo>
                  <a:lnTo>
                    <a:pt x="573849" y="15989"/>
                  </a:lnTo>
                  <a:lnTo>
                    <a:pt x="568236" y="7670"/>
                  </a:lnTo>
                  <a:lnTo>
                    <a:pt x="559917" y="2057"/>
                  </a:lnTo>
                  <a:lnTo>
                    <a:pt x="549719" y="0"/>
                  </a:lnTo>
                  <a:lnTo>
                    <a:pt x="539534" y="2057"/>
                  </a:lnTo>
                  <a:lnTo>
                    <a:pt x="531215" y="7670"/>
                  </a:lnTo>
                  <a:lnTo>
                    <a:pt x="525602" y="15989"/>
                  </a:lnTo>
                  <a:lnTo>
                    <a:pt x="523544" y="26174"/>
                  </a:lnTo>
                  <a:lnTo>
                    <a:pt x="525602" y="36372"/>
                  </a:lnTo>
                  <a:lnTo>
                    <a:pt x="531215" y="44691"/>
                  </a:lnTo>
                  <a:lnTo>
                    <a:pt x="539534" y="50292"/>
                  </a:lnTo>
                  <a:lnTo>
                    <a:pt x="549719" y="52349"/>
                  </a:lnTo>
                  <a:lnTo>
                    <a:pt x="559917" y="50292"/>
                  </a:lnTo>
                  <a:lnTo>
                    <a:pt x="568236" y="44691"/>
                  </a:lnTo>
                  <a:lnTo>
                    <a:pt x="573849" y="36372"/>
                  </a:lnTo>
                  <a:lnTo>
                    <a:pt x="575906" y="26174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4E97E66E-3146-61EB-C2EC-8B6AFAFDB369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1A1A1A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8AED3E3E-181A-11F7-1269-BB29E95B6B60}"/>
                </a:ext>
              </a:extLst>
            </p:cNvPr>
            <p:cNvSpPr/>
            <p:nvPr/>
          </p:nvSpPr>
          <p:spPr>
            <a:xfrm>
              <a:off x="10774745" y="5654278"/>
              <a:ext cx="2094230" cy="0"/>
            </a:xfrm>
            <a:custGeom>
              <a:avLst/>
              <a:gdLst/>
              <a:ahLst/>
              <a:cxnLst/>
              <a:rect l="l" t="t" r="r" b="b"/>
              <a:pathLst>
                <a:path w="2094229">
                  <a:moveTo>
                    <a:pt x="0" y="0"/>
                  </a:moveTo>
                  <a:lnTo>
                    <a:pt x="2094177" y="0"/>
                  </a:lnTo>
                </a:path>
              </a:pathLst>
            </a:custGeom>
            <a:ln w="31412">
              <a:solidFill>
                <a:srgbClr val="C1272C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object 15">
            <a:extLst>
              <a:ext uri="{FF2B5EF4-FFF2-40B4-BE49-F238E27FC236}">
                <a16:creationId xmlns:a16="http://schemas.microsoft.com/office/drawing/2014/main" id="{81B07FC9-97A1-B9D6-26FA-D7B835C8B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0328275" cy="153352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MACHINE LEARNING</a:t>
            </a:r>
            <a:br>
              <a:rPr lang="pt-BR" sz="4950" b="1" spc="-15" dirty="0">
                <a:latin typeface="Montserrat ExtraBold"/>
                <a:cs typeface="Montserrat ExtraBold"/>
              </a:rPr>
            </a:br>
            <a:r>
              <a:rPr lang="pt-BR" sz="4950" spc="-15" dirty="0">
                <a:latin typeface="Montserrat" panose="00000500000000000000" pitchFamily="2" charset="0"/>
                <a:cs typeface="Montserrat ExtraBold"/>
              </a:rPr>
              <a:t>Métricas - Underfitting</a:t>
            </a:r>
            <a:endParaRPr sz="4950" dirty="0"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E5078DC7-A0F8-368A-05B2-113A158E69EE}"/>
              </a:ext>
            </a:extLst>
          </p:cNvPr>
          <p:cNvSpPr txBox="1"/>
          <p:nvPr/>
        </p:nvSpPr>
        <p:spPr>
          <a:xfrm>
            <a:off x="12332678" y="5883275"/>
            <a:ext cx="6158865" cy="5122171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90"/>
              </a:spcBef>
            </a:pP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O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underfitting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(subajuste) ocorre quando um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modelo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de aprendizado de máquina é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simples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demais para capturar os padrões essenciais dos dados,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resultando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em um </a:t>
            </a:r>
            <a:r>
              <a:rPr lang="pt-BR" sz="2800" b="1" spc="-20" dirty="0">
                <a:solidFill>
                  <a:srgbClr val="4D4D4D"/>
                </a:solidFill>
                <a:latin typeface="Montserrat"/>
                <a:cs typeface="Montserrat"/>
              </a:rPr>
              <a:t>desempenho ruim</a:t>
            </a:r>
            <a:r>
              <a:rPr lang="pt-BR" sz="2800" spc="-20" dirty="0">
                <a:solidFill>
                  <a:srgbClr val="4D4D4D"/>
                </a:solidFill>
                <a:latin typeface="Montserrat"/>
                <a:cs typeface="Montserrat"/>
              </a:rPr>
              <a:t> tanto nos dados de treino quanto nos de teste.</a:t>
            </a:r>
            <a:endParaRPr sz="2800" dirty="0">
              <a:latin typeface="Montserrat"/>
              <a:cs typeface="Montserrat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94E9D2D-8822-793F-6ED3-AC92DA5DFEEA}"/>
              </a:ext>
            </a:extLst>
          </p:cNvPr>
          <p:cNvSpPr txBox="1"/>
          <p:nvPr/>
        </p:nvSpPr>
        <p:spPr>
          <a:xfrm>
            <a:off x="12332677" y="4098775"/>
            <a:ext cx="6158865" cy="11047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90"/>
              </a:spcBef>
            </a:pPr>
            <a:r>
              <a:rPr lang="pt-BR" sz="3600" spc="15" dirty="0">
                <a:solidFill>
                  <a:srgbClr val="333333"/>
                </a:solidFill>
                <a:latin typeface="Montserrat Light"/>
                <a:cs typeface="Montserrat Light"/>
              </a:rPr>
              <a:t>GENERALIZAÇÃO</a:t>
            </a:r>
            <a:r>
              <a:rPr lang="pt-BR" sz="3600" b="0" spc="15" dirty="0">
                <a:solidFill>
                  <a:srgbClr val="333333"/>
                </a:solidFill>
                <a:latin typeface="Montserrat Light"/>
                <a:cs typeface="Montserrat Light"/>
              </a:rPr>
              <a:t> </a:t>
            </a:r>
            <a:r>
              <a:rPr lang="pt-BR" sz="3600" b="1" spc="15" dirty="0">
                <a:solidFill>
                  <a:srgbClr val="333333"/>
                </a:solidFill>
                <a:latin typeface="Montserrat ExtraBold"/>
                <a:cs typeface="Montserrat ExtraBold"/>
              </a:rPr>
              <a:t>UNDERFITTING</a:t>
            </a:r>
            <a:endParaRPr sz="3600" dirty="0">
              <a:latin typeface="Montserrat ExtraBold"/>
              <a:cs typeface="Montserrat ExtraBold"/>
            </a:endParaRPr>
          </a:p>
        </p:txBody>
      </p:sp>
      <p:pic>
        <p:nvPicPr>
          <p:cNvPr id="21" name="Imagem 20" descr="Detect &amp; Prevent Overfitting and Underfitting in ML | Multimatics">
            <a:extLst>
              <a:ext uri="{FF2B5EF4-FFF2-40B4-BE49-F238E27FC236}">
                <a16:creationId xmlns:a16="http://schemas.microsoft.com/office/drawing/2014/main" id="{789AE95E-BD94-3DE8-ED57-5CDB4A0C54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54" r="1141"/>
          <a:stretch>
            <a:fillRect/>
          </a:stretch>
        </p:blipFill>
        <p:spPr>
          <a:xfrm>
            <a:off x="0" y="3564872"/>
            <a:ext cx="11821629" cy="758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90197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BF3895B-A8F0-1BDC-0411-0E6122874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9B78E16-7D3F-406E-0BB8-C09C5551B3CC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77827C8-59A5-AF7E-9397-0F6B7DFF5A68}"/>
              </a:ext>
            </a:extLst>
          </p:cNvPr>
          <p:cNvSpPr/>
          <p:nvPr/>
        </p:nvSpPr>
        <p:spPr>
          <a:xfrm>
            <a:off x="0" y="8167290"/>
            <a:ext cx="20104100" cy="2984500"/>
          </a:xfrm>
          <a:custGeom>
            <a:avLst/>
            <a:gdLst/>
            <a:ahLst/>
            <a:cxnLst/>
            <a:rect l="l" t="t" r="r" b="b"/>
            <a:pathLst>
              <a:path w="20104100" h="2984500">
                <a:moveTo>
                  <a:pt x="0" y="2984202"/>
                </a:moveTo>
                <a:lnTo>
                  <a:pt x="20104099" y="2984202"/>
                </a:lnTo>
                <a:lnTo>
                  <a:pt x="20104099" y="0"/>
                </a:lnTo>
                <a:lnTo>
                  <a:pt x="0" y="0"/>
                </a:lnTo>
                <a:lnTo>
                  <a:pt x="0" y="298420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6C84283-F315-6C0F-300D-5447F040DEB5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B7071BC-829A-B281-855F-C3C7A0D8C0BA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35E1C46-F25F-3E98-50BC-1B70125D6E61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71AE0297-1B4D-1383-9567-3D24A1E8B0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4D8FEA18-A6DE-B58B-BD0F-AE98C46C2609}"/>
              </a:ext>
            </a:extLst>
          </p:cNvPr>
          <p:cNvGrpSpPr/>
          <p:nvPr/>
        </p:nvGrpSpPr>
        <p:grpSpPr>
          <a:xfrm>
            <a:off x="261772" y="5821812"/>
            <a:ext cx="7329805" cy="5487035"/>
            <a:chOff x="261772" y="5821812"/>
            <a:chExt cx="7329805" cy="5487035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9614D145-C985-2AC5-9BCB-6A4A2F791F1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72" y="5821812"/>
              <a:ext cx="7329619" cy="5486743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BCED871-9B6F-AC29-DF5C-A72E78E790B0}"/>
                </a:ext>
              </a:extLst>
            </p:cNvPr>
            <p:cNvSpPr/>
            <p:nvPr/>
          </p:nvSpPr>
          <p:spPr>
            <a:xfrm>
              <a:off x="1047088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C3AF9757-900C-8B4B-3DDA-CDE42407627B}"/>
              </a:ext>
            </a:extLst>
          </p:cNvPr>
          <p:cNvGrpSpPr/>
          <p:nvPr/>
        </p:nvGrpSpPr>
        <p:grpSpPr>
          <a:xfrm>
            <a:off x="6387239" y="5821812"/>
            <a:ext cx="13455650" cy="5487035"/>
            <a:chOff x="6387239" y="5821812"/>
            <a:chExt cx="13455650" cy="548703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37FA5F1D-E745-2402-3FBA-018D926107E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5821812"/>
              <a:ext cx="7329619" cy="5486743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BF666A3-B039-783B-99E5-B0CEE6B02DE5}"/>
                </a:ext>
              </a:extLst>
            </p:cNvPr>
            <p:cNvSpPr/>
            <p:nvPr/>
          </p:nvSpPr>
          <p:spPr>
            <a:xfrm>
              <a:off x="13298024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A2F75EC9-1343-2A98-4147-9C5A0CC4A2F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5821812"/>
              <a:ext cx="7329619" cy="5486743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B6979D9-71AA-F389-6A5C-05719FB0E517}"/>
                </a:ext>
              </a:extLst>
            </p:cNvPr>
            <p:cNvSpPr/>
            <p:nvPr/>
          </p:nvSpPr>
          <p:spPr>
            <a:xfrm>
              <a:off x="7172556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CA75F03F-D631-52F7-8D93-94BBF349DB87}"/>
              </a:ext>
            </a:extLst>
          </p:cNvPr>
          <p:cNvSpPr/>
          <p:nvPr/>
        </p:nvSpPr>
        <p:spPr>
          <a:xfrm>
            <a:off x="235594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0327163-C171-7726-185C-7A77B2888B45}"/>
              </a:ext>
            </a:extLst>
          </p:cNvPr>
          <p:cNvSpPr/>
          <p:nvPr/>
        </p:nvSpPr>
        <p:spPr>
          <a:xfrm>
            <a:off x="497367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D1B39B4-515D-011C-A4CC-93D2F0DC7FDE}"/>
              </a:ext>
            </a:extLst>
          </p:cNvPr>
          <p:cNvSpPr/>
          <p:nvPr/>
        </p:nvSpPr>
        <p:spPr>
          <a:xfrm>
            <a:off x="759139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771BB74-C737-0007-8957-2E0ACB99F2A1}"/>
              </a:ext>
            </a:extLst>
          </p:cNvPr>
          <p:cNvSpPr/>
          <p:nvPr/>
        </p:nvSpPr>
        <p:spPr>
          <a:xfrm>
            <a:off x="235594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7E364A3E-2F56-A42A-37D6-E9871E22EA2B}"/>
              </a:ext>
            </a:extLst>
          </p:cNvPr>
          <p:cNvSpPr/>
          <p:nvPr/>
        </p:nvSpPr>
        <p:spPr>
          <a:xfrm>
            <a:off x="497367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877A101-6319-68DF-2535-38B1801A4992}"/>
              </a:ext>
            </a:extLst>
          </p:cNvPr>
          <p:cNvSpPr/>
          <p:nvPr/>
        </p:nvSpPr>
        <p:spPr>
          <a:xfrm>
            <a:off x="759139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5C39A88F-7DC8-20BE-73EF-681D703DBDFE}"/>
              </a:ext>
            </a:extLst>
          </p:cNvPr>
          <p:cNvSpPr/>
          <p:nvPr/>
        </p:nvSpPr>
        <p:spPr>
          <a:xfrm>
            <a:off x="235594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085DA76-E1B9-BD2E-66F3-6A71E3BB1155}"/>
              </a:ext>
            </a:extLst>
          </p:cNvPr>
          <p:cNvSpPr/>
          <p:nvPr/>
        </p:nvSpPr>
        <p:spPr>
          <a:xfrm>
            <a:off x="497367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FA96E8F-91E1-CEE8-D320-41ADC699BCD6}"/>
              </a:ext>
            </a:extLst>
          </p:cNvPr>
          <p:cNvSpPr/>
          <p:nvPr/>
        </p:nvSpPr>
        <p:spPr>
          <a:xfrm>
            <a:off x="759139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AC72F9F-6B82-246B-D6D7-63F77052DC47}"/>
              </a:ext>
            </a:extLst>
          </p:cNvPr>
          <p:cNvSpPr/>
          <p:nvPr/>
        </p:nvSpPr>
        <p:spPr>
          <a:xfrm>
            <a:off x="235594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066C17E0-39BF-AD87-CB9C-AAB1C7D95B21}"/>
              </a:ext>
            </a:extLst>
          </p:cNvPr>
          <p:cNvSpPr/>
          <p:nvPr/>
        </p:nvSpPr>
        <p:spPr>
          <a:xfrm>
            <a:off x="497367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D8FE7710-10B5-EC0A-3B8D-53012447C54F}"/>
              </a:ext>
            </a:extLst>
          </p:cNvPr>
          <p:cNvSpPr/>
          <p:nvPr/>
        </p:nvSpPr>
        <p:spPr>
          <a:xfrm>
            <a:off x="759139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8EB4FCE4-1EF5-22F4-79EF-381E61601B10}"/>
              </a:ext>
            </a:extLst>
          </p:cNvPr>
          <p:cNvSpPr/>
          <p:nvPr/>
        </p:nvSpPr>
        <p:spPr>
          <a:xfrm>
            <a:off x="235594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33A8FF4-CA48-A462-EC22-1E70A7E21996}"/>
              </a:ext>
            </a:extLst>
          </p:cNvPr>
          <p:cNvSpPr/>
          <p:nvPr/>
        </p:nvSpPr>
        <p:spPr>
          <a:xfrm>
            <a:off x="497367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DB45DD87-2486-1750-6C7B-DDF59D71DD43}"/>
              </a:ext>
            </a:extLst>
          </p:cNvPr>
          <p:cNvSpPr/>
          <p:nvPr/>
        </p:nvSpPr>
        <p:spPr>
          <a:xfrm>
            <a:off x="759139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090F1BA-2194-FB50-29C9-6EBCF9DF5965}"/>
              </a:ext>
            </a:extLst>
          </p:cNvPr>
          <p:cNvSpPr/>
          <p:nvPr/>
        </p:nvSpPr>
        <p:spPr>
          <a:xfrm>
            <a:off x="235594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E34E3FC3-D9F2-5F8E-9AB8-1FD67C9ECF26}"/>
              </a:ext>
            </a:extLst>
          </p:cNvPr>
          <p:cNvSpPr/>
          <p:nvPr/>
        </p:nvSpPr>
        <p:spPr>
          <a:xfrm>
            <a:off x="497367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95009571-BEAF-3880-0CCE-5AB3DAB77A01}"/>
              </a:ext>
            </a:extLst>
          </p:cNvPr>
          <p:cNvSpPr/>
          <p:nvPr/>
        </p:nvSpPr>
        <p:spPr>
          <a:xfrm>
            <a:off x="759139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B7A7389D-060C-5245-2DF9-38DC0ED3E986}"/>
              </a:ext>
            </a:extLst>
          </p:cNvPr>
          <p:cNvSpPr/>
          <p:nvPr/>
        </p:nvSpPr>
        <p:spPr>
          <a:xfrm>
            <a:off x="235594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0BF6A176-A68A-0335-6425-77BFCFB8EB93}"/>
              </a:ext>
            </a:extLst>
          </p:cNvPr>
          <p:cNvSpPr/>
          <p:nvPr/>
        </p:nvSpPr>
        <p:spPr>
          <a:xfrm>
            <a:off x="497367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40A56F5A-00DB-41F3-AC51-01E62548AE6C}"/>
              </a:ext>
            </a:extLst>
          </p:cNvPr>
          <p:cNvSpPr/>
          <p:nvPr/>
        </p:nvSpPr>
        <p:spPr>
          <a:xfrm>
            <a:off x="759139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0FFF6591-983D-013D-2185-51CDCDBCDEA6}"/>
              </a:ext>
            </a:extLst>
          </p:cNvPr>
          <p:cNvSpPr/>
          <p:nvPr/>
        </p:nvSpPr>
        <p:spPr>
          <a:xfrm>
            <a:off x="235594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1240396D-DEC3-E882-991D-5690042B34C1}"/>
              </a:ext>
            </a:extLst>
          </p:cNvPr>
          <p:cNvSpPr/>
          <p:nvPr/>
        </p:nvSpPr>
        <p:spPr>
          <a:xfrm>
            <a:off x="497367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D691F773-CB3A-DBB7-B841-933B78FEFA41}"/>
              </a:ext>
            </a:extLst>
          </p:cNvPr>
          <p:cNvSpPr/>
          <p:nvPr/>
        </p:nvSpPr>
        <p:spPr>
          <a:xfrm>
            <a:off x="759139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2ADC9565-A59B-79B1-A9B9-8BCBB6F220CA}"/>
              </a:ext>
            </a:extLst>
          </p:cNvPr>
          <p:cNvSpPr/>
          <p:nvPr/>
        </p:nvSpPr>
        <p:spPr>
          <a:xfrm>
            <a:off x="19292606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AB5AE943-50FA-0D74-D4A1-EDF67B3B2F18}"/>
              </a:ext>
            </a:extLst>
          </p:cNvPr>
          <p:cNvSpPr/>
          <p:nvPr/>
        </p:nvSpPr>
        <p:spPr>
          <a:xfrm>
            <a:off x="19554378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1E2795D7-1C9E-8542-22A2-295380402074}"/>
              </a:ext>
            </a:extLst>
          </p:cNvPr>
          <p:cNvSpPr/>
          <p:nvPr/>
        </p:nvSpPr>
        <p:spPr>
          <a:xfrm>
            <a:off x="19816150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26441757-D812-4CB9-B644-9542C217959A}"/>
              </a:ext>
            </a:extLst>
          </p:cNvPr>
          <p:cNvSpPr/>
          <p:nvPr/>
        </p:nvSpPr>
        <p:spPr>
          <a:xfrm>
            <a:off x="19292606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7182B148-D3E9-B0B0-7583-E34C5702A807}"/>
              </a:ext>
            </a:extLst>
          </p:cNvPr>
          <p:cNvSpPr/>
          <p:nvPr/>
        </p:nvSpPr>
        <p:spPr>
          <a:xfrm>
            <a:off x="19554378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DE47C422-9E30-84F0-0CCE-02C248D185DF}"/>
              </a:ext>
            </a:extLst>
          </p:cNvPr>
          <p:cNvSpPr/>
          <p:nvPr/>
        </p:nvSpPr>
        <p:spPr>
          <a:xfrm>
            <a:off x="19816150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816E58E3-5F62-4061-C0CF-A0EEE75E4672}"/>
              </a:ext>
            </a:extLst>
          </p:cNvPr>
          <p:cNvSpPr/>
          <p:nvPr/>
        </p:nvSpPr>
        <p:spPr>
          <a:xfrm>
            <a:off x="19292606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4902E32F-C093-80E9-EF56-F187CA3812B3}"/>
              </a:ext>
            </a:extLst>
          </p:cNvPr>
          <p:cNvSpPr/>
          <p:nvPr/>
        </p:nvSpPr>
        <p:spPr>
          <a:xfrm>
            <a:off x="19554378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BDAFC4ED-EE36-B25E-9080-DB2B9F66F02D}"/>
              </a:ext>
            </a:extLst>
          </p:cNvPr>
          <p:cNvSpPr/>
          <p:nvPr/>
        </p:nvSpPr>
        <p:spPr>
          <a:xfrm>
            <a:off x="19816150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879BAEF2-DF18-4CF2-2CFF-8FACB7724E9D}"/>
              </a:ext>
            </a:extLst>
          </p:cNvPr>
          <p:cNvSpPr/>
          <p:nvPr/>
        </p:nvSpPr>
        <p:spPr>
          <a:xfrm>
            <a:off x="19292606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41C94BCD-4C37-8616-E63C-323F27273041}"/>
              </a:ext>
            </a:extLst>
          </p:cNvPr>
          <p:cNvSpPr/>
          <p:nvPr/>
        </p:nvSpPr>
        <p:spPr>
          <a:xfrm>
            <a:off x="19554378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A282F19-1554-16CC-B166-D11C803BA40A}"/>
              </a:ext>
            </a:extLst>
          </p:cNvPr>
          <p:cNvSpPr/>
          <p:nvPr/>
        </p:nvSpPr>
        <p:spPr>
          <a:xfrm>
            <a:off x="19816150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3EDE1021-B662-361E-6E36-34D7F77D5FDC}"/>
              </a:ext>
            </a:extLst>
          </p:cNvPr>
          <p:cNvSpPr/>
          <p:nvPr/>
        </p:nvSpPr>
        <p:spPr>
          <a:xfrm>
            <a:off x="19292606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7514489D-971C-354E-EB33-C3A4CF6CCAD4}"/>
              </a:ext>
            </a:extLst>
          </p:cNvPr>
          <p:cNvSpPr/>
          <p:nvPr/>
        </p:nvSpPr>
        <p:spPr>
          <a:xfrm>
            <a:off x="19554378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8FDA7BA0-BCCE-43F3-D4ED-00D689CEB281}"/>
              </a:ext>
            </a:extLst>
          </p:cNvPr>
          <p:cNvSpPr/>
          <p:nvPr/>
        </p:nvSpPr>
        <p:spPr>
          <a:xfrm>
            <a:off x="19816150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E3ADEF01-C2FE-B18E-2617-DE46C1071DE6}"/>
              </a:ext>
            </a:extLst>
          </p:cNvPr>
          <p:cNvSpPr/>
          <p:nvPr/>
        </p:nvSpPr>
        <p:spPr>
          <a:xfrm>
            <a:off x="19292606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76B90003-2270-F346-4340-F970355A3A03}"/>
              </a:ext>
            </a:extLst>
          </p:cNvPr>
          <p:cNvSpPr/>
          <p:nvPr/>
        </p:nvSpPr>
        <p:spPr>
          <a:xfrm>
            <a:off x="19554378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1F037092-2D4C-C76B-720B-9325D5663861}"/>
              </a:ext>
            </a:extLst>
          </p:cNvPr>
          <p:cNvSpPr/>
          <p:nvPr/>
        </p:nvSpPr>
        <p:spPr>
          <a:xfrm>
            <a:off x="19816150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9AA53897-B9F4-A41E-7B70-D9631504BF4E}"/>
              </a:ext>
            </a:extLst>
          </p:cNvPr>
          <p:cNvSpPr/>
          <p:nvPr/>
        </p:nvSpPr>
        <p:spPr>
          <a:xfrm>
            <a:off x="19292606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030BC26C-070F-3BF7-C354-524959CC4283}"/>
              </a:ext>
            </a:extLst>
          </p:cNvPr>
          <p:cNvSpPr/>
          <p:nvPr/>
        </p:nvSpPr>
        <p:spPr>
          <a:xfrm>
            <a:off x="19554378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003CB768-16A8-E7F6-0495-69F9219CA3CB}"/>
              </a:ext>
            </a:extLst>
          </p:cNvPr>
          <p:cNvSpPr/>
          <p:nvPr/>
        </p:nvSpPr>
        <p:spPr>
          <a:xfrm>
            <a:off x="19816150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4EC6F17F-E45C-094E-D004-1DAC5A123A41}"/>
              </a:ext>
            </a:extLst>
          </p:cNvPr>
          <p:cNvSpPr/>
          <p:nvPr/>
        </p:nvSpPr>
        <p:spPr>
          <a:xfrm>
            <a:off x="19292606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E7EF3B23-FA7D-7392-8CA8-AEAF7AA86A7B}"/>
              </a:ext>
            </a:extLst>
          </p:cNvPr>
          <p:cNvSpPr/>
          <p:nvPr/>
        </p:nvSpPr>
        <p:spPr>
          <a:xfrm>
            <a:off x="19554378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BDADDB2D-BC39-1FC8-C247-8B14FB1CA403}"/>
              </a:ext>
            </a:extLst>
          </p:cNvPr>
          <p:cNvSpPr/>
          <p:nvPr/>
        </p:nvSpPr>
        <p:spPr>
          <a:xfrm>
            <a:off x="19816150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0099A258-9D7A-5E5F-ED9B-52325E9409B5}"/>
              </a:ext>
            </a:extLst>
          </p:cNvPr>
          <p:cNvSpPr/>
          <p:nvPr/>
        </p:nvSpPr>
        <p:spPr>
          <a:xfrm>
            <a:off x="2879493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8731A2BE-3D3B-B6FD-0CCB-1161E24D6155}"/>
              </a:ext>
            </a:extLst>
          </p:cNvPr>
          <p:cNvSpPr txBox="1"/>
          <p:nvPr/>
        </p:nvSpPr>
        <p:spPr>
          <a:xfrm>
            <a:off x="1573934" y="8931275"/>
            <a:ext cx="4705985" cy="148336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É a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incapacidade do algoritmo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de aprender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as relações reais entre as variáveis de entrada e saída.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3075FE77-17AA-E5DE-1B42-C40A24800871}"/>
              </a:ext>
            </a:extLst>
          </p:cNvPr>
          <p:cNvSpPr txBox="1"/>
          <p:nvPr/>
        </p:nvSpPr>
        <p:spPr>
          <a:xfrm>
            <a:off x="1335388" y="7163492"/>
            <a:ext cx="5205897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Definição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C691E7FF-CBDB-43B8-B263-BFF216029554}"/>
              </a:ext>
            </a:extLst>
          </p:cNvPr>
          <p:cNvSpPr/>
          <p:nvPr/>
        </p:nvSpPr>
        <p:spPr>
          <a:xfrm>
            <a:off x="15130429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0B49A9B5-58C2-DE85-621B-74C2E0C6B38C}"/>
              </a:ext>
            </a:extLst>
          </p:cNvPr>
          <p:cNvSpPr txBox="1"/>
          <p:nvPr/>
        </p:nvSpPr>
        <p:spPr>
          <a:xfrm>
            <a:off x="13824870" y="8931275"/>
            <a:ext cx="4705985" cy="1867563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A generalização fica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comprometida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porque o modelo nem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sequer entendeu a tendência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dominante do problema.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2AFB08CF-3BD9-9B12-7C8F-0E201BCC9EFE}"/>
              </a:ext>
            </a:extLst>
          </p:cNvPr>
          <p:cNvSpPr/>
          <p:nvPr/>
        </p:nvSpPr>
        <p:spPr>
          <a:xfrm>
            <a:off x="9004961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7ED4097A-667B-E60C-7E93-9CCD80877096}"/>
              </a:ext>
            </a:extLst>
          </p:cNvPr>
          <p:cNvSpPr txBox="1"/>
          <p:nvPr/>
        </p:nvSpPr>
        <p:spPr>
          <a:xfrm>
            <a:off x="7699402" y="8931275"/>
            <a:ext cx="4705985" cy="112376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Apresenta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erros altos e baixa precisão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já no conjunto de treinamento.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DBC58079-0F5F-4097-0A65-2172E495144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1" name="object 71">
            <a:extLst>
              <a:ext uri="{FF2B5EF4-FFF2-40B4-BE49-F238E27FC236}">
                <a16:creationId xmlns:a16="http://schemas.microsoft.com/office/drawing/2014/main" id="{712A685B-41E7-E762-E4CB-6F902E80E347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3267384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Métricas – Características - Underfitting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82" name="object 69">
            <a:extLst>
              <a:ext uri="{FF2B5EF4-FFF2-40B4-BE49-F238E27FC236}">
                <a16:creationId xmlns:a16="http://schemas.microsoft.com/office/drawing/2014/main" id="{7CCA1E1D-987A-F7E8-7DC9-04C999FD1D0A}"/>
              </a:ext>
            </a:extLst>
          </p:cNvPr>
          <p:cNvSpPr txBox="1"/>
          <p:nvPr/>
        </p:nvSpPr>
        <p:spPr>
          <a:xfrm>
            <a:off x="7460855" y="7121146"/>
            <a:ext cx="5205897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ExtraBold"/>
              </a:rPr>
              <a:t>Comportamento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3" name="object 69">
            <a:extLst>
              <a:ext uri="{FF2B5EF4-FFF2-40B4-BE49-F238E27FC236}">
                <a16:creationId xmlns:a16="http://schemas.microsoft.com/office/drawing/2014/main" id="{9B111EAA-4218-543D-BC7B-BDD330CC0E00}"/>
              </a:ext>
            </a:extLst>
          </p:cNvPr>
          <p:cNvSpPr txBox="1"/>
          <p:nvPr/>
        </p:nvSpPr>
        <p:spPr>
          <a:xfrm>
            <a:off x="13586322" y="7078800"/>
            <a:ext cx="5205897" cy="111761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Impacto na</a:t>
            </a:r>
          </a:p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Generalização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pic>
        <p:nvPicPr>
          <p:cNvPr id="77" name="Imagem 76" descr="How Machine Learning Works and Why It's Important - PaymentsJournal">
            <a:extLst>
              <a:ext uri="{FF2B5EF4-FFF2-40B4-BE49-F238E27FC236}">
                <a16:creationId xmlns:a16="http://schemas.microsoft.com/office/drawing/2014/main" id="{10CAD796-67AC-5F9E-FF5D-689CD2B19B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403" b="2686"/>
          <a:stretch>
            <a:fillRect/>
          </a:stretch>
        </p:blipFill>
        <p:spPr>
          <a:xfrm>
            <a:off x="1050086" y="3399714"/>
            <a:ext cx="5755988" cy="3218979"/>
          </a:xfrm>
          <a:prstGeom prst="rect">
            <a:avLst/>
          </a:prstGeom>
        </p:spPr>
      </p:pic>
      <p:pic>
        <p:nvPicPr>
          <p:cNvPr id="86" name="Imagem 85" descr="Machine Learning: o que é e quais são os impactos? ─ Amcham Brasil">
            <a:extLst>
              <a:ext uri="{FF2B5EF4-FFF2-40B4-BE49-F238E27FC236}">
                <a16:creationId xmlns:a16="http://schemas.microsoft.com/office/drawing/2014/main" id="{0E1A9307-382F-6815-BEF0-A73384A3A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3631" y="3375251"/>
            <a:ext cx="5763377" cy="3239482"/>
          </a:xfrm>
          <a:prstGeom prst="rect">
            <a:avLst/>
          </a:prstGeom>
        </p:spPr>
      </p:pic>
      <p:pic>
        <p:nvPicPr>
          <p:cNvPr id="88" name="Imagem 87" descr="Revista AdNormas - As vantagens do machine learning para os bancos e  instituições financeiras">
            <a:extLst>
              <a:ext uri="{FF2B5EF4-FFF2-40B4-BE49-F238E27FC236}">
                <a16:creationId xmlns:a16="http://schemas.microsoft.com/office/drawing/2014/main" id="{E570C959-1D2B-C3E7-6515-D6603E3B17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68" r="6827"/>
          <a:stretch>
            <a:fillRect/>
          </a:stretch>
        </p:blipFill>
        <p:spPr>
          <a:xfrm>
            <a:off x="7172091" y="3381106"/>
            <a:ext cx="5755988" cy="323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920684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C8A283-2411-B853-9D16-000F07A3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FE94CCC-2668-E7E4-8DF3-29DF7E5E4C8C}"/>
              </a:ext>
            </a:extLst>
          </p:cNvPr>
          <p:cNvSpPr/>
          <p:nvPr/>
        </p:nvSpPr>
        <p:spPr>
          <a:xfrm>
            <a:off x="0" y="0"/>
            <a:ext cx="20104100" cy="8167370"/>
          </a:xfrm>
          <a:custGeom>
            <a:avLst/>
            <a:gdLst/>
            <a:ahLst/>
            <a:cxnLst/>
            <a:rect l="l" t="t" r="r" b="b"/>
            <a:pathLst>
              <a:path w="20104100" h="8167370">
                <a:moveTo>
                  <a:pt x="0" y="8167290"/>
                </a:moveTo>
                <a:lnTo>
                  <a:pt x="20104099" y="8167290"/>
                </a:lnTo>
                <a:lnTo>
                  <a:pt x="20104099" y="0"/>
                </a:lnTo>
                <a:lnTo>
                  <a:pt x="0" y="0"/>
                </a:lnTo>
                <a:lnTo>
                  <a:pt x="0" y="816729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F932E7D-1AF4-D180-FCEC-4C2EE69CFCE1}"/>
              </a:ext>
            </a:extLst>
          </p:cNvPr>
          <p:cNvSpPr/>
          <p:nvPr/>
        </p:nvSpPr>
        <p:spPr>
          <a:xfrm>
            <a:off x="0" y="8167290"/>
            <a:ext cx="20104100" cy="2984500"/>
          </a:xfrm>
          <a:custGeom>
            <a:avLst/>
            <a:gdLst/>
            <a:ahLst/>
            <a:cxnLst/>
            <a:rect l="l" t="t" r="r" b="b"/>
            <a:pathLst>
              <a:path w="20104100" h="2984500">
                <a:moveTo>
                  <a:pt x="0" y="2984202"/>
                </a:moveTo>
                <a:lnTo>
                  <a:pt x="20104099" y="2984202"/>
                </a:lnTo>
                <a:lnTo>
                  <a:pt x="20104099" y="0"/>
                </a:lnTo>
                <a:lnTo>
                  <a:pt x="0" y="0"/>
                </a:lnTo>
                <a:lnTo>
                  <a:pt x="0" y="298420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50366DC5-D883-1AB3-875F-45BBEFF5383F}"/>
              </a:ext>
            </a:extLst>
          </p:cNvPr>
          <p:cNvGrpSpPr/>
          <p:nvPr/>
        </p:nvGrpSpPr>
        <p:grpSpPr>
          <a:xfrm>
            <a:off x="15363992" y="1047088"/>
            <a:ext cx="3693160" cy="942975"/>
            <a:chOff x="15363992" y="1047088"/>
            <a:chExt cx="3693160" cy="942975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7D12C14-5538-F436-A875-7A1605EB4A29}"/>
                </a:ext>
              </a:extLst>
            </p:cNvPr>
            <p:cNvSpPr/>
            <p:nvPr/>
          </p:nvSpPr>
          <p:spPr>
            <a:xfrm>
              <a:off x="15364065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39CDB09-FF26-2558-9FB1-CDC64D57B338}"/>
                </a:ext>
              </a:extLst>
            </p:cNvPr>
            <p:cNvSpPr/>
            <p:nvPr/>
          </p:nvSpPr>
          <p:spPr>
            <a:xfrm>
              <a:off x="15363990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59" h="700405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59" h="700405">
                  <a:moveTo>
                    <a:pt x="198361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40"/>
                  </a:lnTo>
                  <a:close/>
                </a:path>
                <a:path w="3693159" h="700405">
                  <a:moveTo>
                    <a:pt x="198361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44"/>
                  </a:lnTo>
                  <a:close/>
                </a:path>
                <a:path w="3693159" h="700405">
                  <a:moveTo>
                    <a:pt x="198361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5611" y="119291"/>
                  </a:lnTo>
                  <a:lnTo>
                    <a:pt x="870216" y="56515"/>
                  </a:lnTo>
                  <a:lnTo>
                    <a:pt x="804722" y="18783"/>
                  </a:lnTo>
                  <a:lnTo>
                    <a:pt x="764209" y="8001"/>
                  </a:lnTo>
                  <a:lnTo>
                    <a:pt x="720382" y="1905"/>
                  </a:lnTo>
                  <a:lnTo>
                    <a:pt x="674649" y="0"/>
                  </a:lnTo>
                  <a:lnTo>
                    <a:pt x="627646" y="1714"/>
                  </a:lnTo>
                  <a:lnTo>
                    <a:pt x="580986" y="7264"/>
                  </a:lnTo>
                  <a:lnTo>
                    <a:pt x="535609" y="17233"/>
                  </a:lnTo>
                  <a:lnTo>
                    <a:pt x="492480" y="32207"/>
                  </a:lnTo>
                  <a:lnTo>
                    <a:pt x="452551" y="52793"/>
                  </a:lnTo>
                  <a:lnTo>
                    <a:pt x="416788" y="79552"/>
                  </a:lnTo>
                  <a:lnTo>
                    <a:pt x="386118" y="113106"/>
                  </a:lnTo>
                  <a:lnTo>
                    <a:pt x="361518" y="154012"/>
                  </a:lnTo>
                  <a:lnTo>
                    <a:pt x="343928" y="202895"/>
                  </a:lnTo>
                  <a:lnTo>
                    <a:pt x="339191" y="254914"/>
                  </a:lnTo>
                  <a:lnTo>
                    <a:pt x="348361" y="300837"/>
                  </a:lnTo>
                  <a:lnTo>
                    <a:pt x="371944" y="338734"/>
                  </a:lnTo>
                  <a:lnTo>
                    <a:pt x="410489" y="366699"/>
                  </a:lnTo>
                  <a:lnTo>
                    <a:pt x="460273" y="387223"/>
                  </a:lnTo>
                  <a:lnTo>
                    <a:pt x="508939" y="402183"/>
                  </a:lnTo>
                  <a:lnTo>
                    <a:pt x="594931" y="424510"/>
                  </a:lnTo>
                  <a:lnTo>
                    <a:pt x="628256" y="436435"/>
                  </a:lnTo>
                  <a:lnTo>
                    <a:pt x="652449" y="451891"/>
                  </a:lnTo>
                  <a:lnTo>
                    <a:pt x="665530" y="473189"/>
                  </a:lnTo>
                  <a:lnTo>
                    <a:pt x="665492" y="502577"/>
                  </a:lnTo>
                  <a:lnTo>
                    <a:pt x="650049" y="531888"/>
                  </a:lnTo>
                  <a:lnTo>
                    <a:pt x="622071" y="552818"/>
                  </a:lnTo>
                  <a:lnTo>
                    <a:pt x="587794" y="565378"/>
                  </a:lnTo>
                  <a:lnTo>
                    <a:pt x="553504" y="569556"/>
                  </a:lnTo>
                  <a:lnTo>
                    <a:pt x="508876" y="563194"/>
                  </a:lnTo>
                  <a:lnTo>
                    <a:pt x="477100" y="544436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30" y="527735"/>
                  </a:lnTo>
                  <a:lnTo>
                    <a:pt x="274370" y="574230"/>
                  </a:lnTo>
                  <a:lnTo>
                    <a:pt x="289217" y="612089"/>
                  </a:lnTo>
                  <a:lnTo>
                    <a:pt x="312877" y="642086"/>
                  </a:lnTo>
                  <a:lnTo>
                    <a:pt x="344208" y="664946"/>
                  </a:lnTo>
                  <a:lnTo>
                    <a:pt x="382117" y="681418"/>
                  </a:lnTo>
                  <a:lnTo>
                    <a:pt x="425475" y="692264"/>
                  </a:lnTo>
                  <a:lnTo>
                    <a:pt x="473151" y="698233"/>
                  </a:lnTo>
                  <a:lnTo>
                    <a:pt x="524052" y="700049"/>
                  </a:lnTo>
                  <a:lnTo>
                    <a:pt x="575627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07" y="659612"/>
                  </a:lnTo>
                  <a:lnTo>
                    <a:pt x="760666" y="636625"/>
                  </a:lnTo>
                  <a:lnTo>
                    <a:pt x="796582" y="608368"/>
                  </a:lnTo>
                  <a:lnTo>
                    <a:pt x="826350" y="574776"/>
                  </a:lnTo>
                  <a:lnTo>
                    <a:pt x="829373" y="569556"/>
                  </a:lnTo>
                  <a:lnTo>
                    <a:pt x="848956" y="535813"/>
                  </a:lnTo>
                  <a:lnTo>
                    <a:pt x="863409" y="491388"/>
                  </a:lnTo>
                  <a:lnTo>
                    <a:pt x="869175" y="436956"/>
                  </a:lnTo>
                  <a:lnTo>
                    <a:pt x="862253" y="393573"/>
                  </a:lnTo>
                  <a:lnTo>
                    <a:pt x="844715" y="359727"/>
                  </a:lnTo>
                  <a:lnTo>
                    <a:pt x="786180" y="314388"/>
                  </a:lnTo>
                  <a:lnTo>
                    <a:pt x="749388" y="299808"/>
                  </a:lnTo>
                  <a:lnTo>
                    <a:pt x="710361" y="288569"/>
                  </a:lnTo>
                  <a:lnTo>
                    <a:pt x="634009" y="269887"/>
                  </a:lnTo>
                  <a:lnTo>
                    <a:pt x="598487" y="259105"/>
                  </a:lnTo>
                  <a:lnTo>
                    <a:pt x="566508" y="244411"/>
                  </a:lnTo>
                  <a:lnTo>
                    <a:pt x="545198" y="222910"/>
                  </a:lnTo>
                  <a:lnTo>
                    <a:pt x="541705" y="191706"/>
                  </a:lnTo>
                  <a:lnTo>
                    <a:pt x="553237" y="167970"/>
                  </a:lnTo>
                  <a:lnTo>
                    <a:pt x="574865" y="148424"/>
                  </a:lnTo>
                  <a:lnTo>
                    <a:pt x="603186" y="135166"/>
                  </a:lnTo>
                  <a:lnTo>
                    <a:pt x="634784" y="130289"/>
                  </a:lnTo>
                  <a:lnTo>
                    <a:pt x="656831" y="131673"/>
                  </a:lnTo>
                  <a:lnTo>
                    <a:pt x="701929" y="151714"/>
                  </a:lnTo>
                  <a:lnTo>
                    <a:pt x="716394" y="192925"/>
                  </a:lnTo>
                  <a:lnTo>
                    <a:pt x="713587" y="211251"/>
                  </a:lnTo>
                  <a:lnTo>
                    <a:pt x="899706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111" y="13944"/>
                  </a:lnTo>
                  <a:lnTo>
                    <a:pt x="926261" y="685927"/>
                  </a:lnTo>
                  <a:lnTo>
                    <a:pt x="1438135" y="685927"/>
                  </a:lnTo>
                  <a:lnTo>
                    <a:pt x="1465897" y="555599"/>
                  </a:lnTo>
                  <a:lnTo>
                    <a:pt x="1140142" y="555599"/>
                  </a:lnTo>
                  <a:lnTo>
                    <a:pt x="1170393" y="413207"/>
                  </a:lnTo>
                  <a:lnTo>
                    <a:pt x="1470075" y="413207"/>
                  </a:lnTo>
                  <a:lnTo>
                    <a:pt x="1497685" y="282956"/>
                  </a:lnTo>
                  <a:lnTo>
                    <a:pt x="1198003" y="282956"/>
                  </a:lnTo>
                  <a:lnTo>
                    <a:pt x="1227467" y="144233"/>
                  </a:lnTo>
                  <a:lnTo>
                    <a:pt x="1553222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37" y="512775"/>
                  </a:lnTo>
                  <a:lnTo>
                    <a:pt x="2065566" y="514680"/>
                  </a:lnTo>
                  <a:lnTo>
                    <a:pt x="1984082" y="171272"/>
                  </a:lnTo>
                  <a:lnTo>
                    <a:pt x="1946757" y="13944"/>
                  </a:lnTo>
                  <a:lnTo>
                    <a:pt x="1686140" y="13944"/>
                  </a:lnTo>
                  <a:lnTo>
                    <a:pt x="1543291" y="685927"/>
                  </a:lnTo>
                  <a:lnTo>
                    <a:pt x="1710829" y="685927"/>
                  </a:lnTo>
                  <a:lnTo>
                    <a:pt x="1820189" y="171272"/>
                  </a:lnTo>
                  <a:lnTo>
                    <a:pt x="1822043" y="171272"/>
                  </a:lnTo>
                  <a:lnTo>
                    <a:pt x="1940687" y="685927"/>
                  </a:lnTo>
                  <a:lnTo>
                    <a:pt x="2198509" y="685927"/>
                  </a:lnTo>
                  <a:lnTo>
                    <a:pt x="2234920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62" y="685927"/>
                  </a:moveTo>
                  <a:lnTo>
                    <a:pt x="3001060" y="554685"/>
                  </a:lnTo>
                  <a:lnTo>
                    <a:pt x="2977337" y="424395"/>
                  </a:lnTo>
                  <a:lnTo>
                    <a:pt x="2926486" y="145148"/>
                  </a:lnTo>
                  <a:lnTo>
                    <a:pt x="2902585" y="13944"/>
                  </a:lnTo>
                  <a:lnTo>
                    <a:pt x="2779890" y="13944"/>
                  </a:lnTo>
                  <a:lnTo>
                    <a:pt x="2779890" y="424395"/>
                  </a:lnTo>
                  <a:lnTo>
                    <a:pt x="2600261" y="424395"/>
                  </a:lnTo>
                  <a:lnTo>
                    <a:pt x="2750870" y="145148"/>
                  </a:lnTo>
                  <a:lnTo>
                    <a:pt x="2753652" y="145148"/>
                  </a:lnTo>
                  <a:lnTo>
                    <a:pt x="2779890" y="424395"/>
                  </a:lnTo>
                  <a:lnTo>
                    <a:pt x="2779890" y="13944"/>
                  </a:lnTo>
                  <a:lnTo>
                    <a:pt x="2675483" y="13944"/>
                  </a:lnTo>
                  <a:lnTo>
                    <a:pt x="2267356" y="685927"/>
                  </a:lnTo>
                  <a:lnTo>
                    <a:pt x="2453525" y="685927"/>
                  </a:lnTo>
                  <a:lnTo>
                    <a:pt x="2525179" y="554685"/>
                  </a:lnTo>
                  <a:lnTo>
                    <a:pt x="2797886" y="554685"/>
                  </a:lnTo>
                  <a:lnTo>
                    <a:pt x="2814637" y="685927"/>
                  </a:lnTo>
                  <a:lnTo>
                    <a:pt x="3024962" y="685927"/>
                  </a:lnTo>
                  <a:close/>
                </a:path>
                <a:path w="3693159" h="700405">
                  <a:moveTo>
                    <a:pt x="3424682" y="13944"/>
                  </a:moveTo>
                  <a:lnTo>
                    <a:pt x="3238563" y="13944"/>
                  </a:lnTo>
                  <a:lnTo>
                    <a:pt x="3095675" y="685927"/>
                  </a:lnTo>
                  <a:lnTo>
                    <a:pt x="3281832" y="685927"/>
                  </a:lnTo>
                  <a:lnTo>
                    <a:pt x="3424682" y="13944"/>
                  </a:lnTo>
                  <a:close/>
                </a:path>
                <a:path w="3693159" h="700405">
                  <a:moveTo>
                    <a:pt x="3692931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59" h="700405">
                  <a:moveTo>
                    <a:pt x="3692931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59" h="700405">
                  <a:moveTo>
                    <a:pt x="3692931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31" y="362356"/>
                  </a:lnTo>
                  <a:lnTo>
                    <a:pt x="3692931" y="337540"/>
                  </a:lnTo>
                  <a:close/>
                </a:path>
                <a:path w="3693159" h="700405">
                  <a:moveTo>
                    <a:pt x="3692931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31" y="199898"/>
                  </a:lnTo>
                  <a:lnTo>
                    <a:pt x="3692931" y="175044"/>
                  </a:lnTo>
                  <a:close/>
                </a:path>
                <a:path w="3693159" h="700405">
                  <a:moveTo>
                    <a:pt x="3692931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31" y="41592"/>
                  </a:lnTo>
                  <a:lnTo>
                    <a:pt x="3692931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06F1286F-3EED-A021-5305-C90189E8A0A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8" name="object 8">
            <a:extLst>
              <a:ext uri="{FF2B5EF4-FFF2-40B4-BE49-F238E27FC236}">
                <a16:creationId xmlns:a16="http://schemas.microsoft.com/office/drawing/2014/main" id="{E18C6FCE-51A1-ABA0-34BB-1A16DFDC422F}"/>
              </a:ext>
            </a:extLst>
          </p:cNvPr>
          <p:cNvGrpSpPr/>
          <p:nvPr/>
        </p:nvGrpSpPr>
        <p:grpSpPr>
          <a:xfrm>
            <a:off x="261772" y="5821812"/>
            <a:ext cx="7329805" cy="5487035"/>
            <a:chOff x="261772" y="5821812"/>
            <a:chExt cx="7329805" cy="5487035"/>
          </a:xfrm>
        </p:grpSpPr>
        <p:pic>
          <p:nvPicPr>
            <p:cNvPr id="9" name="object 9">
              <a:extLst>
                <a:ext uri="{FF2B5EF4-FFF2-40B4-BE49-F238E27FC236}">
                  <a16:creationId xmlns:a16="http://schemas.microsoft.com/office/drawing/2014/main" id="{A397F87C-8ED3-7654-F8DF-E712DD6B89B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772" y="5821812"/>
              <a:ext cx="7329619" cy="5486743"/>
            </a:xfrm>
            <a:prstGeom prst="rect">
              <a:avLst/>
            </a:prstGeom>
          </p:spPr>
        </p:pic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376E36D-6C2A-FEEC-83D5-8E8691881AEF}"/>
                </a:ext>
              </a:extLst>
            </p:cNvPr>
            <p:cNvSpPr/>
            <p:nvPr/>
          </p:nvSpPr>
          <p:spPr>
            <a:xfrm>
              <a:off x="1047088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grpSp>
        <p:nvGrpSpPr>
          <p:cNvPr id="11" name="object 11">
            <a:extLst>
              <a:ext uri="{FF2B5EF4-FFF2-40B4-BE49-F238E27FC236}">
                <a16:creationId xmlns:a16="http://schemas.microsoft.com/office/drawing/2014/main" id="{8F19B19A-4B39-7829-71E8-B9EA62BE14E4}"/>
              </a:ext>
            </a:extLst>
          </p:cNvPr>
          <p:cNvGrpSpPr/>
          <p:nvPr/>
        </p:nvGrpSpPr>
        <p:grpSpPr>
          <a:xfrm>
            <a:off x="6387239" y="5821812"/>
            <a:ext cx="13455650" cy="5487035"/>
            <a:chOff x="6387239" y="5821812"/>
            <a:chExt cx="13455650" cy="5487035"/>
          </a:xfrm>
        </p:grpSpPr>
        <p:pic>
          <p:nvPicPr>
            <p:cNvPr id="12" name="object 12">
              <a:extLst>
                <a:ext uri="{FF2B5EF4-FFF2-40B4-BE49-F238E27FC236}">
                  <a16:creationId xmlns:a16="http://schemas.microsoft.com/office/drawing/2014/main" id="{0B895483-7B12-0B9C-919A-B86FE4C21C3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12707" y="5821812"/>
              <a:ext cx="7329619" cy="5486743"/>
            </a:xfrm>
            <a:prstGeom prst="rect">
              <a:avLst/>
            </a:prstGeom>
          </p:spPr>
        </p:pic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58CECE7A-6CFB-76FE-035C-5F8DCB26AF5B}"/>
                </a:ext>
              </a:extLst>
            </p:cNvPr>
            <p:cNvSpPr/>
            <p:nvPr/>
          </p:nvSpPr>
          <p:spPr>
            <a:xfrm>
              <a:off x="13298024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14" name="object 14">
              <a:extLst>
                <a:ext uri="{FF2B5EF4-FFF2-40B4-BE49-F238E27FC236}">
                  <a16:creationId xmlns:a16="http://schemas.microsoft.com/office/drawing/2014/main" id="{49E4575A-F2A4-03A4-247F-CA9861BB5EC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7239" y="5821812"/>
              <a:ext cx="7329619" cy="5486743"/>
            </a:xfrm>
            <a:prstGeom prst="rect">
              <a:avLst/>
            </a:prstGeom>
          </p:spPr>
        </p:pic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15C6599-82AB-EE1B-BD81-668E268ED190}"/>
                </a:ext>
              </a:extLst>
            </p:cNvPr>
            <p:cNvSpPr/>
            <p:nvPr/>
          </p:nvSpPr>
          <p:spPr>
            <a:xfrm>
              <a:off x="7172556" y="6609380"/>
              <a:ext cx="5759450" cy="4542155"/>
            </a:xfrm>
            <a:custGeom>
              <a:avLst/>
              <a:gdLst/>
              <a:ahLst/>
              <a:cxnLst/>
              <a:rect l="l" t="t" r="r" b="b"/>
              <a:pathLst>
                <a:path w="5759450" h="4542155">
                  <a:moveTo>
                    <a:pt x="0" y="4542113"/>
                  </a:moveTo>
                  <a:lnTo>
                    <a:pt x="5758986" y="4542113"/>
                  </a:lnTo>
                  <a:lnTo>
                    <a:pt x="5758986" y="0"/>
                  </a:lnTo>
                  <a:lnTo>
                    <a:pt x="0" y="0"/>
                  </a:lnTo>
                  <a:lnTo>
                    <a:pt x="0" y="45421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6" name="object 16">
            <a:extLst>
              <a:ext uri="{FF2B5EF4-FFF2-40B4-BE49-F238E27FC236}">
                <a16:creationId xmlns:a16="http://schemas.microsoft.com/office/drawing/2014/main" id="{A258231C-05DC-343A-069B-FF319171B085}"/>
              </a:ext>
            </a:extLst>
          </p:cNvPr>
          <p:cNvSpPr/>
          <p:nvPr/>
        </p:nvSpPr>
        <p:spPr>
          <a:xfrm>
            <a:off x="235594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4F5C917-5553-94A4-4321-54ACBEC78494}"/>
              </a:ext>
            </a:extLst>
          </p:cNvPr>
          <p:cNvSpPr/>
          <p:nvPr/>
        </p:nvSpPr>
        <p:spPr>
          <a:xfrm>
            <a:off x="497367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F6CE6CF-BB7A-8A15-1F19-3E1D3F6A7AF9}"/>
              </a:ext>
            </a:extLst>
          </p:cNvPr>
          <p:cNvSpPr/>
          <p:nvPr/>
        </p:nvSpPr>
        <p:spPr>
          <a:xfrm>
            <a:off x="759139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77E32E4-AC14-8E6A-E85D-5741C7D1D2EA}"/>
              </a:ext>
            </a:extLst>
          </p:cNvPr>
          <p:cNvSpPr/>
          <p:nvPr/>
        </p:nvSpPr>
        <p:spPr>
          <a:xfrm>
            <a:off x="235594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32099E4F-4D7E-F05D-01C5-04890C02A47B}"/>
              </a:ext>
            </a:extLst>
          </p:cNvPr>
          <p:cNvSpPr/>
          <p:nvPr/>
        </p:nvSpPr>
        <p:spPr>
          <a:xfrm>
            <a:off x="497367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7E9342C-7585-7DE2-6ED6-49EDCA14A0FC}"/>
              </a:ext>
            </a:extLst>
          </p:cNvPr>
          <p:cNvSpPr/>
          <p:nvPr/>
        </p:nvSpPr>
        <p:spPr>
          <a:xfrm>
            <a:off x="759139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73D362D-7FCF-395D-0A91-03E04F1E189A}"/>
              </a:ext>
            </a:extLst>
          </p:cNvPr>
          <p:cNvSpPr/>
          <p:nvPr/>
        </p:nvSpPr>
        <p:spPr>
          <a:xfrm>
            <a:off x="235594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25493402-413E-A57F-2552-23EE2B81B0D8}"/>
              </a:ext>
            </a:extLst>
          </p:cNvPr>
          <p:cNvSpPr/>
          <p:nvPr/>
        </p:nvSpPr>
        <p:spPr>
          <a:xfrm>
            <a:off x="497367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0AB0D6C-033C-20D3-2696-D79CD638F843}"/>
              </a:ext>
            </a:extLst>
          </p:cNvPr>
          <p:cNvSpPr/>
          <p:nvPr/>
        </p:nvSpPr>
        <p:spPr>
          <a:xfrm>
            <a:off x="759139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E1D83F09-F7DF-E47E-5504-C6BE6F341E6F}"/>
              </a:ext>
            </a:extLst>
          </p:cNvPr>
          <p:cNvSpPr/>
          <p:nvPr/>
        </p:nvSpPr>
        <p:spPr>
          <a:xfrm>
            <a:off x="235594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CC7E573-0C19-F449-1715-C69CF65E015E}"/>
              </a:ext>
            </a:extLst>
          </p:cNvPr>
          <p:cNvSpPr/>
          <p:nvPr/>
        </p:nvSpPr>
        <p:spPr>
          <a:xfrm>
            <a:off x="497367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64C95ACD-3078-31AE-4DB0-C5E502069E9D}"/>
              </a:ext>
            </a:extLst>
          </p:cNvPr>
          <p:cNvSpPr/>
          <p:nvPr/>
        </p:nvSpPr>
        <p:spPr>
          <a:xfrm>
            <a:off x="759139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E15E7CB1-37E4-FD5B-7FFE-A9B364FA255B}"/>
              </a:ext>
            </a:extLst>
          </p:cNvPr>
          <p:cNvSpPr/>
          <p:nvPr/>
        </p:nvSpPr>
        <p:spPr>
          <a:xfrm>
            <a:off x="235594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F3E1D65-8425-1E80-D970-205C8C33304C}"/>
              </a:ext>
            </a:extLst>
          </p:cNvPr>
          <p:cNvSpPr/>
          <p:nvPr/>
        </p:nvSpPr>
        <p:spPr>
          <a:xfrm>
            <a:off x="497367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01D3AA87-CDFD-5E47-379F-F20E56ED3A22}"/>
              </a:ext>
            </a:extLst>
          </p:cNvPr>
          <p:cNvSpPr/>
          <p:nvPr/>
        </p:nvSpPr>
        <p:spPr>
          <a:xfrm>
            <a:off x="759139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C8AA187-E071-30E6-FB90-0B79C70DF890}"/>
              </a:ext>
            </a:extLst>
          </p:cNvPr>
          <p:cNvSpPr/>
          <p:nvPr/>
        </p:nvSpPr>
        <p:spPr>
          <a:xfrm>
            <a:off x="235594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2C2AA27-0782-4392-4FF8-F55CBA7C21E4}"/>
              </a:ext>
            </a:extLst>
          </p:cNvPr>
          <p:cNvSpPr/>
          <p:nvPr/>
        </p:nvSpPr>
        <p:spPr>
          <a:xfrm>
            <a:off x="497367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FADE29B5-0851-C4D4-7B3B-719F88FF43B2}"/>
              </a:ext>
            </a:extLst>
          </p:cNvPr>
          <p:cNvSpPr/>
          <p:nvPr/>
        </p:nvSpPr>
        <p:spPr>
          <a:xfrm>
            <a:off x="759139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EAA5CAA1-E0BE-D31D-F49D-1A443B1BC37A}"/>
              </a:ext>
            </a:extLst>
          </p:cNvPr>
          <p:cNvSpPr/>
          <p:nvPr/>
        </p:nvSpPr>
        <p:spPr>
          <a:xfrm>
            <a:off x="235594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6F14D737-A316-82DD-BF3C-3621CCB22CB2}"/>
              </a:ext>
            </a:extLst>
          </p:cNvPr>
          <p:cNvSpPr/>
          <p:nvPr/>
        </p:nvSpPr>
        <p:spPr>
          <a:xfrm>
            <a:off x="497367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CF44F480-DB41-CCEB-189B-F0759F9E2112}"/>
              </a:ext>
            </a:extLst>
          </p:cNvPr>
          <p:cNvSpPr/>
          <p:nvPr/>
        </p:nvSpPr>
        <p:spPr>
          <a:xfrm>
            <a:off x="759139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5B3E18A-AE32-43C4-E027-10EDB175D540}"/>
              </a:ext>
            </a:extLst>
          </p:cNvPr>
          <p:cNvSpPr/>
          <p:nvPr/>
        </p:nvSpPr>
        <p:spPr>
          <a:xfrm>
            <a:off x="235594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5EBBBDCC-D8F9-7713-6F02-27CD179B2E7A}"/>
              </a:ext>
            </a:extLst>
          </p:cNvPr>
          <p:cNvSpPr/>
          <p:nvPr/>
        </p:nvSpPr>
        <p:spPr>
          <a:xfrm>
            <a:off x="497367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9F87D5AE-6EB3-86F0-0538-4887F242A49F}"/>
              </a:ext>
            </a:extLst>
          </p:cNvPr>
          <p:cNvSpPr/>
          <p:nvPr/>
        </p:nvSpPr>
        <p:spPr>
          <a:xfrm>
            <a:off x="759139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508F9F98-35D8-78D1-64E8-44AEEAA89F70}"/>
              </a:ext>
            </a:extLst>
          </p:cNvPr>
          <p:cNvSpPr/>
          <p:nvPr/>
        </p:nvSpPr>
        <p:spPr>
          <a:xfrm>
            <a:off x="19292606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7EA9C584-347D-9D00-18AC-1445985CBAB5}"/>
              </a:ext>
            </a:extLst>
          </p:cNvPr>
          <p:cNvSpPr/>
          <p:nvPr/>
        </p:nvSpPr>
        <p:spPr>
          <a:xfrm>
            <a:off x="19554378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60C0FD1A-909C-40DD-787D-0EAACC2EDC44}"/>
              </a:ext>
            </a:extLst>
          </p:cNvPr>
          <p:cNvSpPr/>
          <p:nvPr/>
        </p:nvSpPr>
        <p:spPr>
          <a:xfrm>
            <a:off x="19816150" y="6020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1F503595-3962-756A-B2EB-22E8206DE64B}"/>
              </a:ext>
            </a:extLst>
          </p:cNvPr>
          <p:cNvSpPr/>
          <p:nvPr/>
        </p:nvSpPr>
        <p:spPr>
          <a:xfrm>
            <a:off x="19292606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F1529A97-315C-6712-20A7-6661B34894B9}"/>
              </a:ext>
            </a:extLst>
          </p:cNvPr>
          <p:cNvSpPr/>
          <p:nvPr/>
        </p:nvSpPr>
        <p:spPr>
          <a:xfrm>
            <a:off x="19554378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8DE26D0B-9B5A-CD01-92F2-55B75A5B9E5F}"/>
              </a:ext>
            </a:extLst>
          </p:cNvPr>
          <p:cNvSpPr/>
          <p:nvPr/>
        </p:nvSpPr>
        <p:spPr>
          <a:xfrm>
            <a:off x="19816150" y="628214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EB90D554-79D9-86EF-5176-8DDEE866CBBC}"/>
              </a:ext>
            </a:extLst>
          </p:cNvPr>
          <p:cNvSpPr/>
          <p:nvPr/>
        </p:nvSpPr>
        <p:spPr>
          <a:xfrm>
            <a:off x="19292606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234A0CDA-F238-4DC6-EAE0-5A53DCCFCA5B}"/>
              </a:ext>
            </a:extLst>
          </p:cNvPr>
          <p:cNvSpPr/>
          <p:nvPr/>
        </p:nvSpPr>
        <p:spPr>
          <a:xfrm>
            <a:off x="19554378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C9678E5-D3B5-8C0B-D32F-3B5777BD1438}"/>
              </a:ext>
            </a:extLst>
          </p:cNvPr>
          <p:cNvSpPr/>
          <p:nvPr/>
        </p:nvSpPr>
        <p:spPr>
          <a:xfrm>
            <a:off x="19816150" y="654391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6F592C93-481E-871D-79BD-08B047D0CD36}"/>
              </a:ext>
            </a:extLst>
          </p:cNvPr>
          <p:cNvSpPr/>
          <p:nvPr/>
        </p:nvSpPr>
        <p:spPr>
          <a:xfrm>
            <a:off x="19292606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958B688D-6C24-0DB5-265A-D4B52FE0F9DE}"/>
              </a:ext>
            </a:extLst>
          </p:cNvPr>
          <p:cNvSpPr/>
          <p:nvPr/>
        </p:nvSpPr>
        <p:spPr>
          <a:xfrm>
            <a:off x="19554378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CFF88D1-B184-48A2-C4F3-3703EC8A064A}"/>
              </a:ext>
            </a:extLst>
          </p:cNvPr>
          <p:cNvSpPr/>
          <p:nvPr/>
        </p:nvSpPr>
        <p:spPr>
          <a:xfrm>
            <a:off x="19816150" y="680568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DC59B198-5045-BE94-D562-D2B94FF58F1C}"/>
              </a:ext>
            </a:extLst>
          </p:cNvPr>
          <p:cNvSpPr/>
          <p:nvPr/>
        </p:nvSpPr>
        <p:spPr>
          <a:xfrm>
            <a:off x="19292606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AE727FFF-8CBC-25E8-BF7E-A7C7AEBD7410}"/>
              </a:ext>
            </a:extLst>
          </p:cNvPr>
          <p:cNvSpPr/>
          <p:nvPr/>
        </p:nvSpPr>
        <p:spPr>
          <a:xfrm>
            <a:off x="19554378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CD4C05D8-4B27-DEF7-67B6-6AEC3C9C853D}"/>
              </a:ext>
            </a:extLst>
          </p:cNvPr>
          <p:cNvSpPr/>
          <p:nvPr/>
        </p:nvSpPr>
        <p:spPr>
          <a:xfrm>
            <a:off x="19816150" y="706745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FD45E5B5-790F-92E2-A18C-37665EAF4F42}"/>
              </a:ext>
            </a:extLst>
          </p:cNvPr>
          <p:cNvSpPr/>
          <p:nvPr/>
        </p:nvSpPr>
        <p:spPr>
          <a:xfrm>
            <a:off x="19292606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A73C6E8A-4BF9-CD31-FCC8-6E6CDD266ED1}"/>
              </a:ext>
            </a:extLst>
          </p:cNvPr>
          <p:cNvSpPr/>
          <p:nvPr/>
        </p:nvSpPr>
        <p:spPr>
          <a:xfrm>
            <a:off x="19554378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E1794AB-FA47-6CBB-6387-216D3A868E23}"/>
              </a:ext>
            </a:extLst>
          </p:cNvPr>
          <p:cNvSpPr/>
          <p:nvPr/>
        </p:nvSpPr>
        <p:spPr>
          <a:xfrm>
            <a:off x="19816150" y="732923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6AA3FC85-9856-163C-ED4F-731618B94DCE}"/>
              </a:ext>
            </a:extLst>
          </p:cNvPr>
          <p:cNvSpPr/>
          <p:nvPr/>
        </p:nvSpPr>
        <p:spPr>
          <a:xfrm>
            <a:off x="19292606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9448E029-BCB2-4C07-43F6-5A31F47E11B0}"/>
              </a:ext>
            </a:extLst>
          </p:cNvPr>
          <p:cNvSpPr/>
          <p:nvPr/>
        </p:nvSpPr>
        <p:spPr>
          <a:xfrm>
            <a:off x="19554378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4C2E5E0A-F750-FFD4-21F2-7ED5255EA8C2}"/>
              </a:ext>
            </a:extLst>
          </p:cNvPr>
          <p:cNvSpPr/>
          <p:nvPr/>
        </p:nvSpPr>
        <p:spPr>
          <a:xfrm>
            <a:off x="19816150" y="759100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12B2603-77AA-434B-BC45-9FAA69DFE276}"/>
              </a:ext>
            </a:extLst>
          </p:cNvPr>
          <p:cNvSpPr/>
          <p:nvPr/>
        </p:nvSpPr>
        <p:spPr>
          <a:xfrm>
            <a:off x="19292606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DD9E0393-E9C3-7302-A798-12D55546485E}"/>
              </a:ext>
            </a:extLst>
          </p:cNvPr>
          <p:cNvSpPr/>
          <p:nvPr/>
        </p:nvSpPr>
        <p:spPr>
          <a:xfrm>
            <a:off x="19554378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55F5F58C-F74D-FD96-0043-0D12112A4F36}"/>
              </a:ext>
            </a:extLst>
          </p:cNvPr>
          <p:cNvSpPr/>
          <p:nvPr/>
        </p:nvSpPr>
        <p:spPr>
          <a:xfrm>
            <a:off x="19816150" y="785277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C8E908AE-6C3D-99AF-BAA2-D3ED8172F01F}"/>
              </a:ext>
            </a:extLst>
          </p:cNvPr>
          <p:cNvSpPr/>
          <p:nvPr/>
        </p:nvSpPr>
        <p:spPr>
          <a:xfrm>
            <a:off x="2879493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C11D8D16-5880-1CB4-6169-CF4F0C1901D8}"/>
              </a:ext>
            </a:extLst>
          </p:cNvPr>
          <p:cNvSpPr txBox="1"/>
          <p:nvPr/>
        </p:nvSpPr>
        <p:spPr>
          <a:xfrm>
            <a:off x="1509066" y="8931275"/>
            <a:ext cx="4878174" cy="223945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Ocorre quando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o algoritmo se adapta excessivamente aos dados de treino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, decorando detalhes e ruídos em vez de aprender o padrão real.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6B590643-6615-183C-A88C-872C678154B1}"/>
              </a:ext>
            </a:extLst>
          </p:cNvPr>
          <p:cNvSpPr txBox="1"/>
          <p:nvPr/>
        </p:nvSpPr>
        <p:spPr>
          <a:xfrm>
            <a:off x="1335388" y="7163492"/>
            <a:ext cx="5205897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Definição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BF25155C-1B7B-108E-7F6D-7D57A16CE43F}"/>
              </a:ext>
            </a:extLst>
          </p:cNvPr>
          <p:cNvSpPr/>
          <p:nvPr/>
        </p:nvSpPr>
        <p:spPr>
          <a:xfrm>
            <a:off x="15130429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30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474372A5-B3F7-11F1-A1C8-23216D1FF259}"/>
              </a:ext>
            </a:extLst>
          </p:cNvPr>
          <p:cNvSpPr txBox="1"/>
          <p:nvPr/>
        </p:nvSpPr>
        <p:spPr>
          <a:xfrm>
            <a:off x="13824870" y="8931275"/>
            <a:ext cx="4705985" cy="1123769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Erro muito baixo no treino, mas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erro alto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nos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testes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 ou no </a:t>
            </a:r>
            <a:r>
              <a:rPr lang="pt-BR" sz="2400" b="1" spc="-20" dirty="0">
                <a:solidFill>
                  <a:srgbClr val="4D4D4D"/>
                </a:solidFill>
                <a:latin typeface="Montserrat"/>
                <a:cs typeface="Montserrat"/>
              </a:rPr>
              <a:t>uso real</a:t>
            </a: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25242934-0CC8-7173-7E2F-979608B4F9BF}"/>
              </a:ext>
            </a:extLst>
          </p:cNvPr>
          <p:cNvSpPr/>
          <p:nvPr/>
        </p:nvSpPr>
        <p:spPr>
          <a:xfrm>
            <a:off x="9004961" y="8718996"/>
            <a:ext cx="2094230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90366116-B124-A5BF-FF45-7C505B34B64E}"/>
              </a:ext>
            </a:extLst>
          </p:cNvPr>
          <p:cNvSpPr txBox="1"/>
          <p:nvPr/>
        </p:nvSpPr>
        <p:spPr>
          <a:xfrm>
            <a:off x="7699402" y="8931275"/>
            <a:ext cx="4705985" cy="1867563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07010" marR="200025" algn="ctr">
              <a:lnSpc>
                <a:spcPts val="2870"/>
              </a:lnSpc>
              <a:spcBef>
                <a:spcPts val="195"/>
              </a:spcBef>
            </a:pPr>
            <a:r>
              <a:rPr lang="pt-BR" sz="2400" spc="-20" dirty="0">
                <a:solidFill>
                  <a:srgbClr val="4D4D4D"/>
                </a:solidFill>
                <a:latin typeface="Montserrat"/>
                <a:cs typeface="Montserrat"/>
              </a:rPr>
              <a:t>É como o aluno que decora as respostas de uma prova específica, mas tira nota baixa se a pergunta vier diferente.</a:t>
            </a:r>
            <a:endParaRPr sz="2400" dirty="0">
              <a:latin typeface="Montserrat"/>
              <a:cs typeface="Montserrat"/>
            </a:endParaRPr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0D70D11C-5EAA-90E2-9642-990FE5A0C4D7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1" name="object 71">
            <a:extLst>
              <a:ext uri="{FF2B5EF4-FFF2-40B4-BE49-F238E27FC236}">
                <a16:creationId xmlns:a16="http://schemas.microsoft.com/office/drawing/2014/main" id="{D4D59520-F33A-D70F-34FF-21AD70E6F480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3267384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Métricas – Características - Overfitting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82" name="object 69">
            <a:extLst>
              <a:ext uri="{FF2B5EF4-FFF2-40B4-BE49-F238E27FC236}">
                <a16:creationId xmlns:a16="http://schemas.microsoft.com/office/drawing/2014/main" id="{B6423040-0D17-818B-796E-9D3B1C603E49}"/>
              </a:ext>
            </a:extLst>
          </p:cNvPr>
          <p:cNvSpPr txBox="1"/>
          <p:nvPr/>
        </p:nvSpPr>
        <p:spPr>
          <a:xfrm>
            <a:off x="7460855" y="7121146"/>
            <a:ext cx="5205897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ExtraBold"/>
              </a:rPr>
              <a:t>Analogia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3" name="object 69">
            <a:extLst>
              <a:ext uri="{FF2B5EF4-FFF2-40B4-BE49-F238E27FC236}">
                <a16:creationId xmlns:a16="http://schemas.microsoft.com/office/drawing/2014/main" id="{0BD5626F-2D74-ABAB-6158-DC4165611C7B}"/>
              </a:ext>
            </a:extLst>
          </p:cNvPr>
          <p:cNvSpPr txBox="1"/>
          <p:nvPr/>
        </p:nvSpPr>
        <p:spPr>
          <a:xfrm>
            <a:off x="13586322" y="7078800"/>
            <a:ext cx="5205897" cy="54527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77569" marR="5080" indent="-865505" algn="ctr">
              <a:lnSpc>
                <a:spcPct val="100800"/>
              </a:lnSpc>
              <a:spcBef>
                <a:spcPts val="90"/>
              </a:spcBef>
            </a:pPr>
            <a:r>
              <a:rPr lang="it-IT" sz="3600" b="1" spc="15" dirty="0">
                <a:solidFill>
                  <a:srgbClr val="333333"/>
                </a:solidFill>
                <a:latin typeface="Montserrat ExtraBold" panose="00000900000000000000" pitchFamily="2" charset="0"/>
                <a:cs typeface="Montserrat Light"/>
              </a:rPr>
              <a:t>Sintomas</a:t>
            </a:r>
            <a:endParaRPr sz="3600" b="1" dirty="0">
              <a:latin typeface="Montserrat ExtraBold" panose="00000900000000000000" pitchFamily="2" charset="0"/>
              <a:cs typeface="Montserrat ExtraBold"/>
            </a:endParaRPr>
          </a:p>
        </p:txBody>
      </p:sp>
      <p:pic>
        <p:nvPicPr>
          <p:cNvPr id="78" name="Imagem 77" descr="Diferenças: Deep learning vs. machine learning - IONOS">
            <a:extLst>
              <a:ext uri="{FF2B5EF4-FFF2-40B4-BE49-F238E27FC236}">
                <a16:creationId xmlns:a16="http://schemas.microsoft.com/office/drawing/2014/main" id="{AE62DC70-194E-691B-37D1-EE4DFD0C7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69" r="2610"/>
          <a:stretch>
            <a:fillRect/>
          </a:stretch>
        </p:blipFill>
        <p:spPr>
          <a:xfrm>
            <a:off x="7178888" y="3390480"/>
            <a:ext cx="5750627" cy="3213046"/>
          </a:xfrm>
          <a:prstGeom prst="rect">
            <a:avLst/>
          </a:prstGeom>
        </p:spPr>
      </p:pic>
      <p:pic>
        <p:nvPicPr>
          <p:cNvPr id="80" name="Imagem 79" descr="Métricas en Machine Learning: Todo lo que necesitas saber">
            <a:extLst>
              <a:ext uri="{FF2B5EF4-FFF2-40B4-BE49-F238E27FC236}">
                <a16:creationId xmlns:a16="http://schemas.microsoft.com/office/drawing/2014/main" id="{5FE5A50D-5EAF-9D11-CF2D-14FEF5B15D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833" r="14559"/>
          <a:stretch>
            <a:fillRect/>
          </a:stretch>
        </p:blipFill>
        <p:spPr>
          <a:xfrm>
            <a:off x="1049115" y="3384132"/>
            <a:ext cx="5756959" cy="3224831"/>
          </a:xfrm>
          <a:prstGeom prst="rect">
            <a:avLst/>
          </a:prstGeom>
        </p:spPr>
      </p:pic>
      <p:pic>
        <p:nvPicPr>
          <p:cNvPr id="86" name="Imagem 85" descr="O que é Machine Learning? Tecnologia permite 'adivinhar' o que você quer">
            <a:extLst>
              <a:ext uri="{FF2B5EF4-FFF2-40B4-BE49-F238E27FC236}">
                <a16:creationId xmlns:a16="http://schemas.microsoft.com/office/drawing/2014/main" id="{D1980D16-7357-97FC-D65D-A3DD4EA15D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8028"/>
          <a:stretch>
            <a:fillRect/>
          </a:stretch>
        </p:blipFill>
        <p:spPr>
          <a:xfrm>
            <a:off x="13302329" y="3389718"/>
            <a:ext cx="5728503" cy="323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756293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CF040F-A9B3-9AD6-5018-18E43163F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A88B35-F594-85C2-7B5E-9E06C4C7023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9D6D375-30AF-8EF1-09B1-4863429E4C2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2626DC-F943-9FFC-FB5C-600B78FC7C03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FE2320F-C241-8311-A264-8471F2867C5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553CA5F7-4AC2-1617-13A2-47D0F0E71515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22549F5-F12A-29E4-62C9-DCCE3B7ABA82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22C39732-7031-220F-7518-B8990544061A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3DD158C-F17A-A1EF-CBFF-4C997B911C33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0745C980-F9B8-2701-8617-77CACA99D15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1656DA2-E4D0-57DA-1AE6-27C9E8EAF7A3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2BC49113-2CBA-B476-F9E4-AA36D375E473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47F5463-0A1D-E6DE-94AE-A7546289E096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BBCC82F-CAA2-DBED-D08F-46F4625510A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829C34A6-61F7-01F6-5F37-CF3CB25453D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4371F9DF-01F7-19E3-6E4D-CA4A2C756EAC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221D193-1EE8-B05E-2817-64787189A202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D7B06A09-3A00-701E-9648-503869A82705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272FC2B4-D1D7-9963-F6C2-A23BCBF11A1D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71B9045-D935-52C5-08A4-9F61F476CF04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E697FA4D-C15D-7868-DBC2-9E330F267E79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E2B0445-0C45-3068-972E-9D8FCE2AF7C8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7C12EE19-6338-6338-070B-DD056E83312E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534C15D-0570-3067-5434-EFE74B760E68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61F69A7-64C3-5A8A-A728-47957936E6A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C103E997-ECDD-65D9-5C25-E8B63EE290FF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0063731D-642C-E0B7-2900-8C3643D3B8DE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F5A0D37A-6755-9069-F286-1721468253EC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3D634ED8-90C0-36D9-77F0-6B2C481041E5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48ACEE57-B5BA-1E3E-0165-CC69BDA09909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54091D19-94B6-88C3-91B5-98B7F8B0743C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8C97DFE3-1690-E80F-431C-5B100D66202B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C4601A01-6889-FB0C-29A5-8220DC5856B4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8ED311D-F828-EBFF-171D-EB890CACC6D1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773CA5A9-88A7-29E1-1DBB-2D83B7073718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AAD0D43B-DB52-D244-DDF6-C44FBC46D9F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5FFE5815-56AC-C7B5-CC98-D61DC4228A49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63773F36-2CCF-E2E2-4C69-49C357167016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72B69E6C-A8A7-435D-7B43-7B722611F5D0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62637F6D-53FC-F165-4EAD-6DD0585DC5F4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6559DD56-4A4D-CCE6-E2B9-57C4739B86CE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F3B75F75-70CC-4412-F516-1A5005DBB78B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18FC211E-A66A-BD73-A302-B6E26FE28112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8A1FA202-CB89-1FA6-0AEE-EF31ABABD7FE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3964234B-4BBD-EDDE-18AA-B5BF017FF406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55B9991B-31CD-04BF-E7B0-88408771EFC9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34591434-CA8A-D8DD-E19E-0112B1F88DA9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EA785436-31FE-5BB8-3B82-63E24E43BB32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98C13F6F-9785-8908-5D93-30C6BB452687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E2BBB18C-507B-ABC6-840E-6F3A20E5BFA3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B7854EC2-AF9F-DFA5-2281-D4C10864ED51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C0F1D713-5FDD-1D02-3DE0-7F8FDE3CF15E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56C6F66B-5C2B-47AE-947B-9AA811C1B518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0FBAAD28-1976-2D15-F7A3-2A48D4374DEC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1FE3567A-33EB-BBF3-07CA-CBE13F6A14C5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2BD8AD03-C2F3-BF8E-E4F3-C6DEFC78862E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6869FCEB-9E89-4D8B-F9BE-440164A68A2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D50D308-0DCC-D392-C830-DDC0AB3BB050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807357AD-86AC-EBDF-C5F8-F4F459F80B32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E77B2EEE-5872-4539-F5F5-9F04E1195D6B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8AF5A0A0-14F0-DFAD-8C0B-E75CC3F257D8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9FB2CDEB-A308-E602-DFC2-01E646E11EE8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1DE375AE-AFF6-C655-47D4-3C8FF49980C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BAD06DDE-4B75-D006-6D8E-2551C8494318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B5CB9BAC-FCD1-4542-3659-7E5674A071C6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7A0D2DF3-6682-74F9-8652-D12533430CBE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673B0939-95EC-0189-D780-5BEC78386B09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EA56C89E-B889-7481-1D6D-50C294F5E8EF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001C8A9-6EA9-81CC-818C-FFEF3DFB1B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9063B0A-9339-86DA-83EE-BD58E18AEAE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37547DAB-2F5E-CAC0-3D4E-BF1B3C7E4A80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Métricas de Regressão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6ED8AB36-CB2B-4A2D-7AF4-1C675202ADBC}"/>
              </a:ext>
            </a:extLst>
          </p:cNvPr>
          <p:cNvSpPr txBox="1">
            <a:spLocks/>
          </p:cNvSpPr>
          <p:nvPr/>
        </p:nvSpPr>
        <p:spPr>
          <a:xfrm>
            <a:off x="1539870" y="4801977"/>
            <a:ext cx="7919683" cy="4524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Estima o </a:t>
            </a: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valor médio</a:t>
            </a:r>
            <a:r>
              <a:rPr lang="pt-BR" sz="40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entre duas variáveis, entendo o </a:t>
            </a: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presente</a:t>
            </a:r>
            <a:r>
              <a:rPr lang="pt-BR" sz="40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para estimar o </a:t>
            </a: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futuro</a:t>
            </a:r>
            <a:r>
              <a:rPr lang="pt-BR" sz="40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, utilizando dados numéricos.</a:t>
            </a:r>
            <a:endParaRPr lang="pt-BR" sz="40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4" name="Imagem 3" descr="Regressão linear">
            <a:extLst>
              <a:ext uri="{FF2B5EF4-FFF2-40B4-BE49-F238E27FC236}">
                <a16:creationId xmlns:a16="http://schemas.microsoft.com/office/drawing/2014/main" id="{A6CEACAD-7AB8-2F57-D0BA-04A49232B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274" y="4718112"/>
            <a:ext cx="8888889" cy="4228571"/>
          </a:xfrm>
          <a:prstGeom prst="rect">
            <a:avLst/>
          </a:prstGeom>
        </p:spPr>
      </p:pic>
      <p:sp>
        <p:nvSpPr>
          <p:cNvPr id="71" name="object 71">
            <a:extLst>
              <a:ext uri="{FF2B5EF4-FFF2-40B4-BE49-F238E27FC236}">
                <a16:creationId xmlns:a16="http://schemas.microsoft.com/office/drawing/2014/main" id="{4B686710-496F-4D36-4C7D-8B6941B2A882}"/>
              </a:ext>
            </a:extLst>
          </p:cNvPr>
          <p:cNvSpPr txBox="1">
            <a:spLocks/>
          </p:cNvSpPr>
          <p:nvPr/>
        </p:nvSpPr>
        <p:spPr>
          <a:xfrm>
            <a:off x="1509065" y="3322536"/>
            <a:ext cx="17548098" cy="83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Regressão Linear</a:t>
            </a:r>
            <a:endParaRPr lang="pt-BR" sz="4000" b="1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803152879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01FF8B-82C9-08E2-066F-6E1E0A4B3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352CE8C-9092-4169-8A48-ECC64F937D0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86A5BF4-FEF3-AB40-C979-95885A24FCB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8FB29A1-376D-FC79-E6CF-FEEAF5A7287C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FE9E20B-AB44-109E-B4BA-50E34DB1F4C1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D589A51-C2CD-B6F0-212C-FEDE040C1DAA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B7148385-C305-E486-D45C-545F89822246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35370E9-82B7-2C67-A4A5-05C48D988397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B8BBBEA-B069-E898-98B1-D1BE3A5E71B8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3E67B8E-FD63-5E3A-65C9-29275ECA0D08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3605E68-4992-2FE9-CF3B-5EB6CBD9B1C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AD61D5CF-1764-0823-8450-89C3BF0F833B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E2F3E9F-E013-A61E-B990-6ED67418095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B6936BF3-7210-F572-968D-F45B0A13A6F2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61FD382-3990-125A-9108-863817F30C4A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4CA0CAE-E298-ACA5-67AE-F6B6ED63D6F1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4ADAE51-7196-71B3-E730-9A5887F7560D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0F0207BD-0548-B6DF-0FAC-1DDCA022D6D9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3B90DDC-71D5-E912-0242-1562D2F106AC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6D13AFBF-C395-0583-B7C9-13EA8B3D9108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22FB8E1B-043A-241A-A94E-3BD5C8EA3E86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67A0A98-374F-FF84-F634-E668C95F3C18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98013B2-755E-052D-D1B3-1A7A06711CBE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3DBE5CE2-85EE-07E4-F1D7-78A21827733F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3E29ACEE-C2F3-97EF-828C-624922901E33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176D169-E838-0948-F877-5F03B975A97A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05132C59-5674-C19B-A6AE-B9DE9711499D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89A1C6E-EE27-CC57-DC48-88CF34B331C7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1B418812-22C7-6684-CBCD-7B6CEAECE6C7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84CD2F8A-7A1A-FA9F-F1E3-56C5E75EDF8C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4840F702-F3AA-C6E9-6CAC-1CA9EEFCA66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FAD9B8D-A740-74B7-FF0E-C09EF623FF96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275FD55-A937-5EA3-DB29-4F4C5D2C755B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6D1794B-A740-91EB-B895-4B6816414419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3BAF1113-AEFF-7454-A9F1-81D302B73EFB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85454BB8-E563-A6FF-F98A-9C39A7292A88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D603A513-2206-C049-AA14-0DE40B7BA053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5CB0F294-0BB8-2297-5265-82D31350FE71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0BDC19FE-FBC3-9B5B-2FC3-1870772308BD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44FCC95C-EEE2-91EF-99CE-D7D701CBB894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213201AF-2C93-7FEE-A96F-0D90C56380F1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4BA8C7A5-8F45-C7DA-FFF4-907077C6871D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E648BA88-9092-1060-31B9-55F678F98EDD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19EBEC19-15D0-D903-03C5-91E28320BDA9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676F2D6F-DCA4-ADEE-AE02-42F4C5352C22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17EDB7CF-6666-D1BC-A87C-298F29557ED5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B7D8656A-8882-1E0B-7122-6FB8C458E5A1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5812052D-AA3D-DCF4-C6EF-8281FCAA21CE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92E212E7-F826-24DB-FCBD-9DC0D36BD275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3B3B1F9D-24A9-A62D-51D8-1B3348055DA1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FEF68EA0-A3FC-2F12-3E06-0CA3D8022183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60DEA1E8-D21E-AE22-5C67-12A43129AF6D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E633A8F2-C29F-6494-C577-60D40109599D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BF5C252-6682-3E92-DC91-87096267C5C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997F20C-7AF7-9918-29AA-7FA84D517E0E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DDAFA336-70D8-6525-0893-5C4109D0299A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5784B668-6FAD-B966-6A1E-71B7C06C4731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F3DA616-E2D6-D6E7-DDCF-E87144E86579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E82FD443-E169-58CF-5E84-A42C323F0D66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78AAED6C-7945-37E3-35EE-9B350B5AECE5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4C7A5FB3-85FE-1B20-4DCF-FA3360891167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CB71A846-6990-6E6B-FEAC-EBB913030958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B6A1171B-4770-5465-C9DB-0565DE17BF16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33638726-2BBC-F1A8-87E7-60284F52F5DB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3E2D85C2-6355-E96B-7999-38A0C2D42D6B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D361EB72-7F1E-3CF4-16B7-D996EEC30A09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32301AE6-2FFC-5C30-45EE-70C52FB41871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1784344B-FF01-F597-2330-4BACB6463E58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A0FD5B6F-0725-978D-C79E-F119787E2C7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AA8A8ED7-78D5-AE5C-23B6-E1344564CA7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D5E211CA-5790-2930-67E2-D4179D8A2F7E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Métricas de Regressão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E85E76E9-DBF2-2773-289C-E9A54A7A3151}"/>
              </a:ext>
            </a:extLst>
          </p:cNvPr>
          <p:cNvSpPr txBox="1">
            <a:spLocks/>
          </p:cNvSpPr>
          <p:nvPr/>
        </p:nvSpPr>
        <p:spPr>
          <a:xfrm>
            <a:off x="1539870" y="4616617"/>
            <a:ext cx="7919683" cy="40734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Para encontrar o </a:t>
            </a:r>
            <a:r>
              <a:rPr lang="pt-BR" sz="36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erro médio</a:t>
            </a: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absoluto basta somar a distancia dos pontos até a reta e depois dividir pelo mesmo número de pontos.</a:t>
            </a:r>
            <a:endParaRPr lang="pt-BR" sz="36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DCF8F86-4051-77E6-D76A-61784A750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361" y="4497925"/>
            <a:ext cx="8888889" cy="6400000"/>
          </a:xfrm>
          <a:prstGeom prst="rect">
            <a:avLst/>
          </a:prstGeom>
        </p:spPr>
      </p:pic>
      <p:sp>
        <p:nvSpPr>
          <p:cNvPr id="71" name="object 71">
            <a:extLst>
              <a:ext uri="{FF2B5EF4-FFF2-40B4-BE49-F238E27FC236}">
                <a16:creationId xmlns:a16="http://schemas.microsoft.com/office/drawing/2014/main" id="{746B1569-C1A6-8386-B2A3-AC81316A8036}"/>
              </a:ext>
            </a:extLst>
          </p:cNvPr>
          <p:cNvSpPr txBox="1">
            <a:spLocks/>
          </p:cNvSpPr>
          <p:nvPr/>
        </p:nvSpPr>
        <p:spPr>
          <a:xfrm>
            <a:off x="1509065" y="3322536"/>
            <a:ext cx="17548098" cy="83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Regressão Linear MAE – Erro Médio Absoluto.</a:t>
            </a:r>
            <a:endParaRPr lang="pt-BR" sz="4000" b="1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073534085"/>
      </p:ext>
    </p:extLst>
  </p:cSld>
  <p:clrMapOvr>
    <a:masterClrMapping/>
  </p:clrMapOvr>
  <p:transition spd="slow"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AAF6E29-B796-6C82-FDC3-DEA87BF0F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954E235-CC3D-279A-F606-FD7E3602AE7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C8604E7-9DDC-AC35-1D17-86A89F6A936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51C5E37-DFCE-3510-0225-47C4E4A951C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07171131-E849-941A-152D-D8D2FB0557F5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B4A7B1-7B02-088F-6DE2-77AB5E723852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CB454AC-A58E-F9DB-B4C7-1ACCF7D0B907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8F6A031-CFC0-2212-6A1B-40879B5715F8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EE38540-91F4-2FB3-1C2E-7F8B7944B35D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D9D1015-555C-C847-3A24-929FD96F886D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B801FC5-000A-2BBF-F654-24DB551294A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56A3B0C-D197-EDC3-7BDE-AA851B3B8BBC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3301405-E6CD-1C12-8A6B-4AFA421FC5E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39DE666-D03A-6ABD-6B13-65325069E3F6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7F34CA2-3380-E11C-C7BC-62D4F0DF3719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F215CB0-7A37-0215-887D-94076B77230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5F6D9AC-F3EE-E19F-ECE3-B78B089E849D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5AA07E48-9005-77BA-8E4F-00DFA01AA75A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F27CD96-6A67-5C9B-335F-087DA8ED6EAB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7E66E7FC-F3F5-345B-5A1C-5217E90859BE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E510A9A-E733-97DA-4FAE-81A02B790730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87E0777-8BA5-0A87-8419-DAB3BFA66F05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8453A5D-E754-0ABB-4045-4E7F3F9E28B2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DEBBCB47-5EB0-B7C2-48AD-44A36F949180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A5AF795-5AE4-2457-0CEE-75841D99235C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8C227AB8-CF31-E0E3-0F2B-CE6E52BD1282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8362F4BF-97F1-756D-F0A1-0AFC41C4A15F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5DDEEE8A-FC01-690E-8B51-9B361382A533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BF1BDF2A-DE0F-3D3B-C52E-7F488D8EF4CD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B94504C3-E5F4-B188-D651-36502BE7BA6B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9D37EDB6-FDD4-ED60-3D47-8A4625457700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F707B314-391E-76DE-5D01-6D9D32C55FD6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0264E4D-0AF2-3F72-2DA8-EAA9E6A5BD41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9128CB18-90CB-F163-EF68-B205D544B60E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FC8631D4-C41B-541C-8F72-39AF68A5AA58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4DCABEB6-94E0-E6C6-EA54-F980F8BBE77C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036E9415-129B-7F20-CB1F-458D074594B7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61212646-B85A-C3DC-6489-CD6F8B10D3FC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85AB52A-75BE-D2C1-BB7D-F8F946C82149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EF00CA87-94C8-2E22-B917-07AFD050C774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90EA20DB-3DFE-9F0F-37AA-904BE6D2CA69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91FE9472-B282-A0D5-0AEB-3BD84C9B5273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BA20B85E-36D2-0256-EA24-1BBB6BA07D7F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7537909A-409A-F7EF-C28D-349CD179D89D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2339C7F1-E1DA-5E33-9DAC-196A866A493E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F54FA5AF-50C4-25A2-7CCE-A4EF9620805F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F806012E-5701-14FE-99B9-2175EFB1FD8B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669AEA3D-DB1B-8D9A-2A13-375C41C17B5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446CE707-7C72-4E0D-8F7A-B86F271D7B98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47C45AB9-63B8-01BC-C0FE-81E4978A313E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4B05950E-FDF3-3C4F-5867-80FE9714A0C4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254CBA9E-6E82-360E-9412-3D0B47736F1F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E396B0FF-4C76-FD24-6E01-1EC6E73A2360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F7CCB7E0-CCAC-CB2C-3D2F-24EE869C8390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6F58A12E-1A5A-945E-1F05-E484A15F586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64E8C42F-0AC9-7345-EC50-65D60B791623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5380F9BC-1356-B02B-AF92-B0921A075B3A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0D15ADC2-00D8-CA7A-4A28-D53D7A5A9051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C1016FAC-7413-2ED2-4D80-C51D1890957B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596D26D6-A8D5-D50C-D7F4-FBF44EA2E959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EED890DC-492E-1833-335F-BC9467BA27B4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29667095-D8EA-1442-D125-BFCF53BB446A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BCA92CD0-A8E8-C4AA-30C9-324EA91BD7E8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F688EF3E-BDC1-017D-5F96-569AB712D3A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8E30F0A7-0592-150F-E1B2-E129A6A8388C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C43366D0-B1F7-AD8F-F8D7-B842556FE41D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5987EB2E-86DD-C950-CEAD-56DEB012E70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9D2FA0F5-3A07-B200-808C-590E54551515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610FB7AE-4461-C2ED-4986-3D4261A438E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663B6C3D-6E1D-B07F-BD68-06C641BD713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8278C38C-9989-F69E-1C27-0482BF558D13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Métricas de Regressão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06DA559C-37E5-DECD-C781-18C230974873}"/>
              </a:ext>
            </a:extLst>
          </p:cNvPr>
          <p:cNvSpPr txBox="1">
            <a:spLocks/>
          </p:cNvSpPr>
          <p:nvPr/>
        </p:nvSpPr>
        <p:spPr>
          <a:xfrm>
            <a:off x="1539870" y="4801977"/>
            <a:ext cx="7919683" cy="51099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2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Este erro tem como objetivo </a:t>
            </a:r>
            <a:r>
              <a:rPr lang="pt-BR" sz="2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penalizar com um rigor maior pontos que estejam muito longe da reta</a:t>
            </a:r>
            <a:r>
              <a:rPr lang="pt-BR" sz="2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, para assim tentar sempre encontrar uma reta que fica mais próximas dos pontos com menor erro, ou seja, </a:t>
            </a:r>
            <a:r>
              <a:rPr lang="pt-BR" sz="28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privilegiamos os pontos que estão mais perto da nossa regressão</a:t>
            </a:r>
            <a:r>
              <a:rPr lang="pt-BR" sz="28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e penalizamos os que estão mais longe.</a:t>
            </a:r>
            <a:endParaRPr lang="pt-BR" sz="28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72" name="Imagem 71">
            <a:extLst>
              <a:ext uri="{FF2B5EF4-FFF2-40B4-BE49-F238E27FC236}">
                <a16:creationId xmlns:a16="http://schemas.microsoft.com/office/drawing/2014/main" id="{A7EA801E-9C8C-ABC7-B046-ECF3A267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5495" y="4415403"/>
            <a:ext cx="8888889" cy="6679365"/>
          </a:xfrm>
          <a:prstGeom prst="rect">
            <a:avLst/>
          </a:prstGeom>
        </p:spPr>
      </p:pic>
      <p:sp>
        <p:nvSpPr>
          <p:cNvPr id="71" name="object 71">
            <a:extLst>
              <a:ext uri="{FF2B5EF4-FFF2-40B4-BE49-F238E27FC236}">
                <a16:creationId xmlns:a16="http://schemas.microsoft.com/office/drawing/2014/main" id="{798E34AA-5367-7B39-0ADB-86E2A904B55F}"/>
              </a:ext>
            </a:extLst>
          </p:cNvPr>
          <p:cNvSpPr txBox="1">
            <a:spLocks/>
          </p:cNvSpPr>
          <p:nvPr/>
        </p:nvSpPr>
        <p:spPr>
          <a:xfrm>
            <a:off x="1509065" y="3322536"/>
            <a:ext cx="17548098" cy="83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Regressão Linear MSE – Erro Médio Quadrático.</a:t>
            </a:r>
            <a:endParaRPr lang="pt-BR" sz="4000" b="1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885139437"/>
      </p:ext>
    </p:extLst>
  </p:cSld>
  <p:clrMapOvr>
    <a:masterClrMapping/>
  </p:clrMapOvr>
  <p:transition spd="slow"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00B7F7-E588-7BBC-C9FA-9D51A3992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97840D-27B3-0D74-226C-04EE88286D8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56C21FC-2B44-DD86-7E22-C178B6F29D6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31DC05C-3B92-D97B-B1C1-5442720755E4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2961354-79E8-F254-58EF-BB7486918502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DD417FD-6B0D-B227-4F21-8B24E0DC3DF0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CE7481AB-9F92-ED8C-D0D7-28CFCD860228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3C172606-3BC4-022C-024E-A0F10740BFF9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C2B0E6A-B1CD-EFD6-C39D-C62B0554911F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12D5EB0-823C-1931-B674-D080F117B3B4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20B68C4-E59A-7803-EEC1-605D8F07C6FA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B5F1113-E834-9EF9-327A-CF0226F2E2CE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8EFAA6E-CFF2-D9A1-6BE8-3535D5C8E55D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0D8C1E4-7C96-A60B-E690-987F6F2FEB5C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B08FA3D4-DDB0-CDE7-C6CB-94EAB96D5C6D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6EFFE552-E2FE-1DD4-9D8A-205050D74EE3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9A5E0B4-6C43-0152-DB1B-CA01AD336D7E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6EF1FA9-AB78-E2DF-BBCC-FB724A517206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07F1970-BD45-0AD4-E9FD-C1AB259A0656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BB4A0291-030B-A9AE-B00B-5D6225A24D90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6907F19C-EB75-58FC-4F3A-9CD07971EF3B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12DD706-9D4A-E79A-A55B-51549D385800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DE5E014-EA44-FE2E-0B53-5D79AF0DE5C5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588ECC6D-D4EF-DD76-DBB1-D841A41B1680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64BD48B0-4DC8-E620-F277-E6212DAFFFFE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E2E224DC-673A-0255-0ED5-6C2EB32043F8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54E30B83-8760-B78F-8317-002B924BA8B8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C532013-E899-0C19-04AE-6C8DD41936A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AEA1E00C-6EB5-2A9B-0341-89A4464098EF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2E1EAB83-2104-D415-29C2-6DA60AA8E84F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76E58C29-66DC-59D5-13B9-434BF7FE5F14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1625968D-4EEF-7BBF-298D-C607905A237D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AA1577DC-9788-683A-D202-B04FC459E7B7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9FCC3498-7640-AA7E-7664-2774A472D9E5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9BC7992C-3378-5F97-37E2-BA2BD75D8357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E4DD33D1-C5ED-D1DF-D526-4EF81EA3B206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B26A6A6A-0399-A1BA-CE6B-D4272F3500AF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8968448-38E2-AE41-091A-D723FB59245B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34F43C4-3AD9-22E5-A75D-4A632190CFEE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E49049E6-7956-96F9-A12E-49FB6BCD5B13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B4811C07-AB42-7CFD-A8DE-7463D1BE954B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6329FB3E-A720-148A-FA8D-373B0FDED93E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0C26BB66-C648-9298-4419-759A013FCD01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0DCA7879-5F8F-2BEA-613F-8C0EAF909D37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F38B351A-B9EA-2B73-A6C0-D1E5DC2257E6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9BDD9BB3-EE34-D48B-9CFE-6348D6E32DB0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2275291C-CC8B-8477-C91A-82C638227BD7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9AAA516B-C53E-291A-212E-1FD24D0D372D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3D8D0D2F-BA89-EBAC-1C7B-291FA9492201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31D383DD-A0B8-68F6-891D-21B3D2811161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C23E3ED6-42DA-1586-1070-5C24F16F9280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AB596D4B-9548-A62B-14B7-31C8E4435203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48922C25-E36F-12FF-FCFE-67D78D8D8314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7B9DE6E5-3285-3B44-A5B3-062D1F8CD155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9BCECD0D-776D-3F1B-2FAA-256885B32ABD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7E4E7AF-6379-8715-55F9-96371D9AA303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875DE6CB-1818-1F06-597D-1148A9655AD8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C1630731-93A2-A362-C2E4-4EFA408BD1A8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B848353B-F00C-5AC7-9B15-37E154E08C78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17CCF5F5-6265-650A-663E-353D77723860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FB4919A2-7127-385C-8FDB-4FB7A043D44A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474B9EB4-8F85-82D7-6539-E9C851D27823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A096686D-4972-D668-419C-388BCF6AB981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5BCD208A-76E8-106F-9B58-F1D49C5C22E1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EC696136-4BD8-ADCD-0395-ED93416C093F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C6F2F932-E9AB-7000-B932-19A24A4CFCC0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A364F2F2-69D7-9D18-B019-BF7B6F03C1F9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FC6CAC56-1337-B3C7-4F36-997BA1FD2E51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ABBBB617-0F5C-0C31-F2C5-BE855C4ABE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3FFE0B59-C41E-9A00-8E08-FEBCBDE0D21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01505FEC-F007-AD05-7D60-001AEE13CA14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0328275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Métricas de Regressão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820D1CEC-38EC-3724-68FD-57E4543EA480}"/>
              </a:ext>
            </a:extLst>
          </p:cNvPr>
          <p:cNvSpPr txBox="1">
            <a:spLocks/>
          </p:cNvSpPr>
          <p:nvPr/>
        </p:nvSpPr>
        <p:spPr>
          <a:xfrm>
            <a:off x="1539870" y="4801977"/>
            <a:ext cx="7919683" cy="408631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Calcula a </a:t>
            </a:r>
            <a:r>
              <a:rPr lang="pt-BR" sz="36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diferença entre valores de erros MSA e MSE</a:t>
            </a: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.</a:t>
            </a:r>
          </a:p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Este erro tem como objetivo encontrar o valor do erro do meio a partir dos nosso erros absolutos.</a:t>
            </a:r>
            <a:endParaRPr lang="pt-BR" sz="36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9281FB77-23BB-4A82-625F-66EDF5511802}"/>
              </a:ext>
            </a:extLst>
          </p:cNvPr>
          <p:cNvSpPr txBox="1">
            <a:spLocks/>
          </p:cNvSpPr>
          <p:nvPr/>
        </p:nvSpPr>
        <p:spPr>
          <a:xfrm>
            <a:off x="1509065" y="3322536"/>
            <a:ext cx="17548098" cy="83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Regressão Linear MSE – Erro Mediano Absoluto.</a:t>
            </a:r>
            <a:endParaRPr lang="pt-BR" sz="4000" b="1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3755E0C-34C3-FD3C-0E4D-04A372447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9312" y="4540205"/>
            <a:ext cx="8888889" cy="551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27241"/>
      </p:ext>
    </p:extLst>
  </p:cSld>
  <p:clrMapOvr>
    <a:masterClrMapping/>
  </p:clrMapOvr>
  <p:transition spd="slow">
    <p:push dir="u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5DCA275-3529-8A48-5379-B25AB936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50E3EF3-9DA4-7CFF-5971-2E9EBCB118E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D3AB2E8-CF93-C421-A002-43B32A737F3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5B09C70-D52F-29D2-2ABC-73E0AFEE6650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6BFD460-3282-CA40-210D-1C7E68CDF6FB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41681E0B-E795-2EF1-5836-C039FF4C687B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82550336-8F23-F1FF-D6B1-1685A83A03FE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630F0F72-B78A-AE21-3FCF-7EDDF073DD6E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4D258F9-4A0E-5B4C-DFFA-3C8E3A2651FA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8CDF542-ED8C-1836-5911-AD389EC72311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5FEDE40-4C51-1502-BB99-12ADE153308F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3D02814-1E5B-D3CF-D065-40B363DF9206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12CBEB8-C7BE-2A82-8648-33CFAB1CDC91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89F5FDD2-FF70-A128-0B54-1A8F5994D942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135C8A62-C851-8850-1179-CBD329A3B3F2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1E4C579-FF52-87C9-00A6-A26D6EADEE6E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81074FA5-2B59-E51D-2598-6FF77A873616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E19462A6-5CD7-B406-4913-B351BDB5B191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B93C3AEF-7A61-16B0-B09E-0AA57AEAF4F1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F211CEDD-2A5D-AE2D-6400-638F6F6028F7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4DF39D68-AC3A-B485-4F3E-EB8D6FBFBB72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AB4FBE95-A3B3-4E8E-97BF-62A7B24AEFE1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91727FB6-5017-37B4-21C3-638E626FAE83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D5FDF7CF-DC41-1E0C-5DDB-6E70B433D890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974E33DC-4B4A-168F-50B7-424C4D653F8C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3C42FBA4-2336-7D25-B718-AE7D2ECF221D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7AACF08E-2E76-437D-6C8A-25A5636B95E8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782B787F-E2F0-8CD3-584C-BE95AC96109C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45311D44-BEE0-2337-1FD6-35B9F46E0217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1A8DB68C-DFE0-D379-5077-B8A371C74297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D67F13AC-2819-96FB-8B59-9979F41A14F8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BBEC9210-61BA-BECF-7345-0105CE4F06E2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519EF0BD-BB28-BD95-63B2-8DB69FE91509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C9D3AA03-2FDF-86DD-CA95-F2D13E2F98D8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1E3B71EC-86B0-9E81-1090-6BD7D048F78B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C2E9CB89-300F-21CA-8157-CC65885B28F0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18A72842-E1D8-E8BD-4625-8774B4CAC827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AFD4630-670E-AC77-37C9-B69B1D7F7DCE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59D48E2-E1B2-8873-952D-FA0D99B6150D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770771A6-786A-28E5-4173-80C185928466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EF28A8AD-687E-54C3-1E53-D64111730D62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C6F76570-3EB1-A53B-ECFE-473119618D9D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90BD8DD-BF43-1AA0-815C-1CBFF4D4A67C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EB19B128-5F42-87E1-8BCA-A2F6BCE38EE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EBB75FAA-F06C-3190-759E-4ED99ED9342B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B3BD3B6B-AC6E-E255-EE91-6C7C56A8880F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57F15D63-F93F-B3B7-D8D8-8F873BD0DB09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EBA83F31-6E37-58EC-28BF-52371A9481B9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DDAAF84C-1869-8F80-7392-93382C941AA0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802D6EEA-DA07-ACB7-4396-72440CA9BC46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EAA5A528-D4EA-20AF-D449-8741325820BF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A2CCD9A7-028B-B44B-9117-A9B91E854FC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89BF4C9B-8D65-1A9D-3803-E5EA0C3DB14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8ACB2504-AFAD-5267-6D49-29ED24337322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39EEC0F-C957-E846-AD9B-869E998E80D0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CA295726-C1B9-B606-215A-43365607DE29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D24D578D-05B9-E01B-887C-8E51541E13F0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35CD02C7-CE66-FB03-C2E5-6E6EECEB5D61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33CC61BE-4297-4B87-E165-D6A759A094A0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BF8ABCE6-BDA4-7F1A-F2F8-5C67FB58E8E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FC2E46E7-665B-6CD3-2DDB-4AF127CA814C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4B14CEBD-892E-A41E-1448-981642D29992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3363D8C2-AC5C-CCBF-54A0-9CA19E8EEFB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824D270C-9AD3-17BD-1312-11BB8AD20B15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C30DC2BA-CDDA-C171-DC10-11BDCA4A58EE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5F4F5A8B-695C-92FA-449A-2CFCCB46D9EC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892E6457-A868-00EE-0BE5-CFC2510D97DA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E9714DE-59A1-35CF-9F1A-CF53E21FE45D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805AC87E-2170-0F9A-284B-D957CC30BDF1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369D777B-7536-B2D0-CCF4-CC177C883AF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6AA36EAA-21C6-53FE-6ABF-96F207831278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2810183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Métricas de Classificação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393E8BA9-923B-E6FD-F5D9-FD99F82878CC}"/>
              </a:ext>
            </a:extLst>
          </p:cNvPr>
          <p:cNvSpPr txBox="1">
            <a:spLocks/>
          </p:cNvSpPr>
          <p:nvPr/>
        </p:nvSpPr>
        <p:spPr>
          <a:xfrm>
            <a:off x="1539870" y="4801977"/>
            <a:ext cx="7919683" cy="15804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O modelo previu positivo e o </a:t>
            </a:r>
            <a:r>
              <a:rPr lang="pt-BR" sz="36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valor real era positivo</a:t>
            </a: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.</a:t>
            </a:r>
            <a:endParaRPr lang="pt-BR" sz="36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1263EB4D-8D2A-997C-F0E4-E846597DFCD8}"/>
              </a:ext>
            </a:extLst>
          </p:cNvPr>
          <p:cNvSpPr txBox="1">
            <a:spLocks/>
          </p:cNvSpPr>
          <p:nvPr/>
        </p:nvSpPr>
        <p:spPr>
          <a:xfrm>
            <a:off x="1509065" y="3322536"/>
            <a:ext cx="17548098" cy="83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Verdadeiro Positivo – VP.</a:t>
            </a:r>
            <a:endParaRPr lang="pt-BR" sz="4000" b="1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6" name="Imagem 5" descr="O que é uma matriz de confusão? | IBM">
            <a:extLst>
              <a:ext uri="{FF2B5EF4-FFF2-40B4-BE49-F238E27FC236}">
                <a16:creationId xmlns:a16="http://schemas.microsoft.com/office/drawing/2014/main" id="{E76D86F7-5CE0-D044-CADC-5462EF4E3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1530" y="4354845"/>
            <a:ext cx="9074547" cy="510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62955"/>
      </p:ext>
    </p:extLst>
  </p:cSld>
  <p:clrMapOvr>
    <a:masterClrMapping/>
  </p:clrMapOvr>
  <p:transition spd="slow">
    <p:push dir="u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74AEA8-8F8B-CBED-59B0-19898AD05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4D1200D-2445-5A6B-3A73-62CC84C6D2A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5B6952-3BBE-180D-8A10-86B512B7755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BD59610-3BA9-0BC4-F216-A21845FF1C86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10E48DB1-240E-40CD-CF33-D88584CA40F5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A4402D4-DA53-DB7E-E56D-5E727FDEA795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E8ADBD3-7E65-4C65-6BE4-CB7C040BFB0E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91CF666-AFEF-D824-3B95-D3C1C0C40AED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EFF7510-336B-2974-F7C7-AA57AB6E277E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6479E64-4694-288F-EA4D-90F179F467C8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CF5B4D6-B658-FA54-8A14-86E45CF33916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B1C322C-6ED2-E4C0-3918-82F0FAF8ADCA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3F37C48-123A-63DB-6A06-6B7F562EF934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5406D4AB-6E28-1F3B-3A0A-1BFB98A6FDA6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5EE9F10-3D30-5568-1390-D8533182A4DC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A23220-BB41-5636-F95D-BF9330C9519C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2B0CBB2D-9769-BC36-2223-FC6A606B02C5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070F910-19E5-2213-800D-AAA7318FECCF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AB0E57E9-00A2-C2E9-3C8E-B00E44C2F219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73C28EF-7C2F-0BE9-2419-04F2087C8FBC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873E03D8-ADBD-BC3D-7718-D48D0F2D5091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812310D9-3E97-DEF0-48F9-7FE1849158E1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2C7D99D-8210-2C0B-434D-2B6721A2ADEC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71617008-35CB-9C99-5DD8-3C0DDA67367A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E276BFDA-C83F-64A7-459A-E17925F80C7A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3A37460-E785-3435-40E0-F5F3A6C17D67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45E449D1-4EFA-EF94-C338-9CE1FA615FB0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B4BD43B7-F843-E7DB-A948-8CA097F9023A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0416370F-6BB3-2EB7-AE23-9C379855E8D4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C692CE50-5318-723E-8B1B-C21E6B4C3DC2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441E6524-4973-C451-FACE-CC1DDC34DA5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D6D877FC-FF23-A4E3-11B8-8463743DFE92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677FDCF-530B-C310-0030-36A3D4496EF5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AA5686FF-F757-657A-4D7A-04E1FF399E72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31B61457-F2E2-4EB7-8570-3C270DB4B8AF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D6A43B3F-6356-4937-C183-C4A09EBFE8A4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D6DD9C94-9D5B-D7C1-C6C8-052489502C8A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1653849A-FE2B-2FEE-45F0-3535B57E7370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A96BAD00-D598-AADE-695E-38DD14026489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521F8CF5-0966-2DD5-A884-658438D41BFE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063458D-4858-B1EB-2C84-192DEED7460D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FF6C718C-E57B-0936-A383-FA07A094886A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63CF817-FB2A-6779-2D75-1BA9150ACF1F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6FBC8167-E6FE-EA87-3E17-DB1D7E45463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6935F8E5-EC2E-A490-1929-E579C6001F6E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385C19BA-EBB1-56F0-00A0-1194C6146B2B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D3A34D37-977C-68E4-23E5-FBAC427D63E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B9698947-5D71-A3F5-9205-DF8645BC1728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35669DA3-6AF2-BC3B-6F2B-1A7CB82B91CC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B7EA0CEB-8223-2CED-6D3E-6055FA156DBA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129DFA4B-1E76-B58D-BE79-84A0522C1721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8F74CB62-3470-0D75-6A8E-C5E9933B6894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11D02CF8-DB96-BD57-38CF-FA0935FCB733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E59FF8C4-4E08-1D07-3AB1-41901590C873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5F285461-01F0-FD5E-6961-EA39F270165B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969CD398-6A31-DD68-991A-ACDAA8BEC5F3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4A63A78A-7704-219D-0777-66D8C8F46D97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114AB499-2BFC-9967-3D1D-1D8232FDADCB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410D0682-D00F-B416-EAD0-E5129D08541C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A4ECAAB9-8980-323D-6795-AFF313B6EBF5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A56E213F-84C4-7B1A-5E0E-21B94DA827E2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3A2AD544-F561-DFE2-9183-5DF08AB681E7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B9231F74-BCF1-2C41-60AA-F414DFB9C43B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BAAD32DE-81BF-3D7A-3F0E-496D9DEF2DB7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B2F60B5D-3E84-C854-BEB0-90FE864A47B7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66ED2014-F5B5-8A4F-39FE-2C573D551E38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BFE2F40F-D4F8-84FE-2811-FE453AB75966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1CE14971-9339-E9D7-B631-F7208F752D12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31CC5AC6-F397-5698-C0AA-602FF5B0787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225BE2F-C5D7-D46A-0823-830CD96E2AA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E9400A53-5DED-D4C1-128F-93167B7695C0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2810183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Métricas de Classificação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EDE10BBD-4E32-24D4-BB02-DA2C2A2DC88E}"/>
              </a:ext>
            </a:extLst>
          </p:cNvPr>
          <p:cNvSpPr txBox="1">
            <a:spLocks/>
          </p:cNvSpPr>
          <p:nvPr/>
        </p:nvSpPr>
        <p:spPr>
          <a:xfrm>
            <a:off x="1539870" y="4801977"/>
            <a:ext cx="7919683" cy="158049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O modelo previu negativo e o </a:t>
            </a:r>
            <a:r>
              <a:rPr lang="pt-BR" sz="36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valor real era negativo</a:t>
            </a: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.</a:t>
            </a:r>
            <a:endParaRPr lang="pt-BR" sz="36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73E93314-3E66-A312-ECA2-C200760FA68B}"/>
              </a:ext>
            </a:extLst>
          </p:cNvPr>
          <p:cNvSpPr txBox="1">
            <a:spLocks/>
          </p:cNvSpPr>
          <p:nvPr/>
        </p:nvSpPr>
        <p:spPr>
          <a:xfrm>
            <a:off x="1509065" y="3322536"/>
            <a:ext cx="17548098" cy="83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Verdadeiro Negativo – VN.</a:t>
            </a:r>
            <a:endParaRPr lang="pt-BR" sz="4000" b="1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72" name="Imagem 71" descr="Medidas de Performance: Modelos de Classificação -">
            <a:extLst>
              <a:ext uri="{FF2B5EF4-FFF2-40B4-BE49-F238E27FC236}">
                <a16:creationId xmlns:a16="http://schemas.microsoft.com/office/drawing/2014/main" id="{82824113-C64A-C582-B23D-DE59AA3D2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188" y="3441852"/>
            <a:ext cx="8943975" cy="692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804732"/>
      </p:ext>
    </p:extLst>
  </p:cSld>
  <p:clrMapOvr>
    <a:masterClrMapping/>
  </p:clrMapOvr>
  <p:transition spd="slow">
    <p:push dir="u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23EA94-307D-4972-73EE-3D993476F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2725842-4F69-4327-FE53-238CDB05107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FD685EB-4BD4-0130-13F7-3806E15C76A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DB62262-3539-4AD3-5F56-B9227CC9D6E3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01397C9-30E1-4725-7A13-9032F1330885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03EE787-4901-1C5D-318F-D46F7E329E51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A91E0C2E-1D7B-F4D3-9E08-7EDEDBBC12E1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4C1264C-E6B8-3666-094B-6184920C3AF8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4794E23-39BB-47C2-8A59-FE41F4A4FF3F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17202D7-9537-975D-36F1-12B7F4903F28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97D33EEA-258F-5B34-42F1-73BE61EEF26B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4AF69D4-5726-63AE-71E7-4EBA6227293E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B13FF41-A7F3-2D91-60C8-79C05CB95C3F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9CE8B18D-C115-293E-F2A8-072C37A3DF9B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15DE9A4-F20B-6814-0FBA-F5365C4B0B6F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9001E79-53BE-CA05-3630-FFCF559E91D6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EC24CD3A-7765-2321-2682-008DE4433253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B8EBBF2D-8D9D-18FC-891C-E7A3686FF7D6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38A67750-9E50-49DF-B43E-E008C977A149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C23BE8A-C0F8-C699-C80B-BF56D2BA038B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D35C5F7-B509-5C30-4C44-A53BC300CBE5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001F638-4EEA-DBB6-65E7-C746155D9FD7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CF1C41F1-9358-943A-0B42-CECF2E6272C5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64535AE4-CE44-087A-ED71-FB87A5AAC13A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40E9E08A-7F3E-AEFB-DD47-1DD2B859CA68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A8FEF3B-2252-98D5-F10D-5B2FC0F731D4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FD1735EC-4B25-996A-5A5A-ED66C417EC10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C026F2EF-3225-D481-F79A-406A3B7ADE68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CE4FA2CA-F8AF-5B6D-ADD3-AD804D77D038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1DCF9B78-DAC6-E052-FDC3-0B2E153DACD0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3B5CB3A6-9315-2780-4404-D519D918C8E1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2B8D4F9-3A00-05D3-699E-2B3B5E84D15F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2BA96246-A211-AC86-BFA7-BFDF202A5D6E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E40AF47A-DBD8-7498-1566-ED53BAEB8E76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7C428825-8D69-F4B2-3522-B06D336B7349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F428F5AF-59CF-B1D1-0B05-8F86801D573C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D1D560F9-F8E6-281A-69E9-5C6DFA53A7AC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305A7ABC-881D-C8B6-9C67-E73CF29DC270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B1794A06-6AC0-C37C-1BF6-5927A503AA1A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CD7B4F99-589F-BE06-0E24-AED36F16BB01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AAE50485-80E2-6FCC-4F76-475A33B5C3E3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95B931FF-642A-A011-7278-3B6596C4D04F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7FED7461-16FC-7637-F3D6-9D15A3E92F74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7BA0C21F-1712-5405-C45A-29BB677BD138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A2249F1F-99C2-9D6B-937F-91EF9EE17BFA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163CC09C-2AAB-6B10-AC22-96107EDA3400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60512EEC-9742-F85B-C5C2-DF6B4B974CE0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A83E2CA6-886C-FA36-EFAF-90EC101E82C2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973C46AE-7E4C-2DE4-00C8-9F7ED9BB3A69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CE1AB099-1D4C-4750-668C-87B79F5D9548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8FDC8B84-6BD7-364F-1158-9ADB072C16B5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36D15046-BFE1-581F-B6B5-ED7EF8880700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DE4C69D7-1495-9D99-CE6E-56E39F4F3822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CAE1D72-EBCA-4DC2-13A0-554731A3DDA6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E1956F0-527E-8E4C-96AF-2753B4286E25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38FC7226-5B40-8503-F7CA-2AF1999673D8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B2FDB5A4-9198-4B30-CC2E-9EDDA19DA0CF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62DD12D-45CE-EB07-34B3-6899F7D4906A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E6A8941E-D61C-9CAC-098B-A6A09197D884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336B744B-A47C-5505-2C58-BDCD5CB2D202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82A48AFF-CC37-7FA5-D9D6-4C7B858FB030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4DB625D1-9379-6AF5-6AB8-A03CCEBA5A07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A6A63D7F-6748-B6E7-AED7-B038AADA2AA0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18749104-FD31-097B-6967-C3585A7A4F26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DF4E2620-DEC1-7948-2855-C313685B7E56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EA409730-1793-31D3-B924-23164BEB1D7C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16C51BDD-196F-D544-651C-0BED9D80C78D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22A46BFE-8530-E85E-5909-08C940D35BDB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A541EEDC-4F64-DC0F-400C-E81BB10ACAD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2FC7F558-AEB4-B0B7-D884-A342508B077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95C29E8F-AE51-4C91-2AF8-AAFABFFC01C3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2810183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Métricas de Classificação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C875CA6E-55A3-838C-4C55-BFFEE29BF158}"/>
              </a:ext>
            </a:extLst>
          </p:cNvPr>
          <p:cNvSpPr txBox="1">
            <a:spLocks/>
          </p:cNvSpPr>
          <p:nvPr/>
        </p:nvSpPr>
        <p:spPr>
          <a:xfrm>
            <a:off x="1539870" y="4801977"/>
            <a:ext cx="7919683" cy="24114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O modelo previu positivo, mas </a:t>
            </a:r>
            <a:r>
              <a:rPr lang="pt-BR" sz="36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o valor real era negativo</a:t>
            </a: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(alarme falso).</a:t>
            </a:r>
            <a:endParaRPr lang="pt-BR" sz="36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557DB797-C9F5-3B47-78B6-6C87B2E81655}"/>
              </a:ext>
            </a:extLst>
          </p:cNvPr>
          <p:cNvSpPr txBox="1">
            <a:spLocks/>
          </p:cNvSpPr>
          <p:nvPr/>
        </p:nvSpPr>
        <p:spPr>
          <a:xfrm>
            <a:off x="1509065" y="3322536"/>
            <a:ext cx="17548098" cy="83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Falso Positivo – FP.</a:t>
            </a:r>
            <a:endParaRPr lang="pt-BR" sz="4000" b="1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4" name="Imagem 3" descr="Machine Learning -Métricas de avaliação: Acurácia, Precisão e Recall,  F1-score | by Mateus Pádua | Medium">
            <a:extLst>
              <a:ext uri="{FF2B5EF4-FFF2-40B4-BE49-F238E27FC236}">
                <a16:creationId xmlns:a16="http://schemas.microsoft.com/office/drawing/2014/main" id="{C61EB8BB-2D78-28BF-609B-C2A3FF681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2276" y="4514051"/>
            <a:ext cx="8546031" cy="379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75839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701754A-9280-CBBD-6803-C2BA32292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4A73E90-C82A-F791-FB10-B38D12B6ADA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04C0093-A3EE-D356-195C-5F5CA10A3D2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AE950E5-EF2B-3FEA-B345-D7D0D5A79AEF}"/>
              </a:ext>
            </a:extLst>
          </p:cNvPr>
          <p:cNvSpPr/>
          <p:nvPr/>
        </p:nvSpPr>
        <p:spPr>
          <a:xfrm>
            <a:off x="17957569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B2CCF98A-11E8-8731-15E4-F51462BAAA32}"/>
              </a:ext>
            </a:extLst>
          </p:cNvPr>
          <p:cNvSpPr/>
          <p:nvPr/>
        </p:nvSpPr>
        <p:spPr>
          <a:xfrm>
            <a:off x="18219340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BA24FA0-7144-72F8-2001-7CE52DB7CD15}"/>
              </a:ext>
            </a:extLst>
          </p:cNvPr>
          <p:cNvSpPr/>
          <p:nvPr/>
        </p:nvSpPr>
        <p:spPr>
          <a:xfrm>
            <a:off x="18481112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0748E1D-01E6-C3BD-7FF1-5844501CB86E}"/>
              </a:ext>
            </a:extLst>
          </p:cNvPr>
          <p:cNvSpPr/>
          <p:nvPr/>
        </p:nvSpPr>
        <p:spPr>
          <a:xfrm>
            <a:off x="18742885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4193D6B-7DB0-A4D9-760D-6C6691410BB6}"/>
              </a:ext>
            </a:extLst>
          </p:cNvPr>
          <p:cNvSpPr/>
          <p:nvPr/>
        </p:nvSpPr>
        <p:spPr>
          <a:xfrm>
            <a:off x="19004657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AD188DF-777E-DB15-37DF-2D714B0FDAAC}"/>
              </a:ext>
            </a:extLst>
          </p:cNvPr>
          <p:cNvSpPr/>
          <p:nvPr/>
        </p:nvSpPr>
        <p:spPr>
          <a:xfrm>
            <a:off x="19266428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4318FAD-D12B-EA2A-DCDE-6278A425FD55}"/>
              </a:ext>
            </a:extLst>
          </p:cNvPr>
          <p:cNvSpPr/>
          <p:nvPr/>
        </p:nvSpPr>
        <p:spPr>
          <a:xfrm>
            <a:off x="19528201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0E22B924-0C71-2BC7-82DE-7CAC4B373527}"/>
              </a:ext>
            </a:extLst>
          </p:cNvPr>
          <p:cNvSpPr/>
          <p:nvPr/>
        </p:nvSpPr>
        <p:spPr>
          <a:xfrm>
            <a:off x="19789973" y="9004961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08A8022-2E1D-9AE3-69DA-D38017AC3439}"/>
              </a:ext>
            </a:extLst>
          </p:cNvPr>
          <p:cNvSpPr/>
          <p:nvPr/>
        </p:nvSpPr>
        <p:spPr>
          <a:xfrm>
            <a:off x="17957569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9649FFEB-8342-01CD-12F1-1EDB33779AC3}"/>
              </a:ext>
            </a:extLst>
          </p:cNvPr>
          <p:cNvSpPr/>
          <p:nvPr/>
        </p:nvSpPr>
        <p:spPr>
          <a:xfrm>
            <a:off x="18219340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E005094-91AC-428C-2CF2-62BED224BA39}"/>
              </a:ext>
            </a:extLst>
          </p:cNvPr>
          <p:cNvSpPr/>
          <p:nvPr/>
        </p:nvSpPr>
        <p:spPr>
          <a:xfrm>
            <a:off x="18481112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CEEC25C-1A94-F399-6777-77CF91F357DE}"/>
              </a:ext>
            </a:extLst>
          </p:cNvPr>
          <p:cNvSpPr/>
          <p:nvPr/>
        </p:nvSpPr>
        <p:spPr>
          <a:xfrm>
            <a:off x="18742885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C31A306B-290A-35F4-9DEC-6F62B8250D49}"/>
              </a:ext>
            </a:extLst>
          </p:cNvPr>
          <p:cNvSpPr/>
          <p:nvPr/>
        </p:nvSpPr>
        <p:spPr>
          <a:xfrm>
            <a:off x="19004657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26721D3-DA6B-D74A-1D26-EEFB33EED894}"/>
              </a:ext>
            </a:extLst>
          </p:cNvPr>
          <p:cNvSpPr/>
          <p:nvPr/>
        </p:nvSpPr>
        <p:spPr>
          <a:xfrm>
            <a:off x="19266428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D0F162B-0559-06EE-B017-5E3AC6A9FFBF}"/>
              </a:ext>
            </a:extLst>
          </p:cNvPr>
          <p:cNvSpPr/>
          <p:nvPr/>
        </p:nvSpPr>
        <p:spPr>
          <a:xfrm>
            <a:off x="19528201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825705C9-689C-C840-62D9-16F8E65AE1BB}"/>
              </a:ext>
            </a:extLst>
          </p:cNvPr>
          <p:cNvSpPr/>
          <p:nvPr/>
        </p:nvSpPr>
        <p:spPr>
          <a:xfrm>
            <a:off x="19789973" y="9266733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4282F7D4-7841-1788-0439-FF16CF946ACD}"/>
              </a:ext>
            </a:extLst>
          </p:cNvPr>
          <p:cNvSpPr/>
          <p:nvPr/>
        </p:nvSpPr>
        <p:spPr>
          <a:xfrm>
            <a:off x="17957569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3CFBDAC-E68E-078A-8ADD-E79C1DB68FFC}"/>
              </a:ext>
            </a:extLst>
          </p:cNvPr>
          <p:cNvSpPr/>
          <p:nvPr/>
        </p:nvSpPr>
        <p:spPr>
          <a:xfrm>
            <a:off x="18219340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25F15C3F-9C74-62E7-8B9E-04D055D982CF}"/>
              </a:ext>
            </a:extLst>
          </p:cNvPr>
          <p:cNvSpPr/>
          <p:nvPr/>
        </p:nvSpPr>
        <p:spPr>
          <a:xfrm>
            <a:off x="18481112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4CE50D83-7DBA-83DF-B780-B246F0D02B1F}"/>
              </a:ext>
            </a:extLst>
          </p:cNvPr>
          <p:cNvSpPr/>
          <p:nvPr/>
        </p:nvSpPr>
        <p:spPr>
          <a:xfrm>
            <a:off x="18742885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1DDDC468-0203-6D27-D198-968D85CF57F2}"/>
              </a:ext>
            </a:extLst>
          </p:cNvPr>
          <p:cNvSpPr/>
          <p:nvPr/>
        </p:nvSpPr>
        <p:spPr>
          <a:xfrm>
            <a:off x="19004657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853170E-2E23-FF33-8E2D-9775C3A5F170}"/>
              </a:ext>
            </a:extLst>
          </p:cNvPr>
          <p:cNvSpPr/>
          <p:nvPr/>
        </p:nvSpPr>
        <p:spPr>
          <a:xfrm>
            <a:off x="19266428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18EC1B74-A148-D84F-9098-49694C730E1E}"/>
              </a:ext>
            </a:extLst>
          </p:cNvPr>
          <p:cNvSpPr/>
          <p:nvPr/>
        </p:nvSpPr>
        <p:spPr>
          <a:xfrm>
            <a:off x="19528201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24C6C189-6A4E-C7B8-30F7-234A0A567537}"/>
              </a:ext>
            </a:extLst>
          </p:cNvPr>
          <p:cNvSpPr/>
          <p:nvPr/>
        </p:nvSpPr>
        <p:spPr>
          <a:xfrm>
            <a:off x="19789973" y="952850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EF218000-9982-042C-B80E-E97481DD35D5}"/>
              </a:ext>
            </a:extLst>
          </p:cNvPr>
          <p:cNvSpPr/>
          <p:nvPr/>
        </p:nvSpPr>
        <p:spPr>
          <a:xfrm>
            <a:off x="17957569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9692B453-A769-A095-63D0-551BAA8A2833}"/>
              </a:ext>
            </a:extLst>
          </p:cNvPr>
          <p:cNvSpPr/>
          <p:nvPr/>
        </p:nvSpPr>
        <p:spPr>
          <a:xfrm>
            <a:off x="18219340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C47379AA-3FF0-218A-4573-C428E7652A87}"/>
              </a:ext>
            </a:extLst>
          </p:cNvPr>
          <p:cNvSpPr/>
          <p:nvPr/>
        </p:nvSpPr>
        <p:spPr>
          <a:xfrm>
            <a:off x="18481112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D267B444-5523-ABF2-C5A2-3EBE87B96D32}"/>
              </a:ext>
            </a:extLst>
          </p:cNvPr>
          <p:cNvSpPr/>
          <p:nvPr/>
        </p:nvSpPr>
        <p:spPr>
          <a:xfrm>
            <a:off x="18742885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91ED272-9EF3-58F1-5043-00187A32EC41}"/>
              </a:ext>
            </a:extLst>
          </p:cNvPr>
          <p:cNvSpPr/>
          <p:nvPr/>
        </p:nvSpPr>
        <p:spPr>
          <a:xfrm>
            <a:off x="19004657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5ABD24C-AFD6-02B8-0DEA-9D68C67292F0}"/>
              </a:ext>
            </a:extLst>
          </p:cNvPr>
          <p:cNvSpPr/>
          <p:nvPr/>
        </p:nvSpPr>
        <p:spPr>
          <a:xfrm>
            <a:off x="19266428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14D16341-4D7C-B183-DB35-16C1CBA9A7D9}"/>
              </a:ext>
            </a:extLst>
          </p:cNvPr>
          <p:cNvSpPr/>
          <p:nvPr/>
        </p:nvSpPr>
        <p:spPr>
          <a:xfrm>
            <a:off x="19528201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9DB323D9-994B-D9D4-FB66-6E71C7723614}"/>
              </a:ext>
            </a:extLst>
          </p:cNvPr>
          <p:cNvSpPr/>
          <p:nvPr/>
        </p:nvSpPr>
        <p:spPr>
          <a:xfrm>
            <a:off x="19789973" y="979027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35BCB393-FDAC-5E07-5C86-91565621EB00}"/>
              </a:ext>
            </a:extLst>
          </p:cNvPr>
          <p:cNvSpPr/>
          <p:nvPr/>
        </p:nvSpPr>
        <p:spPr>
          <a:xfrm>
            <a:off x="17957569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6B5C66C6-6B07-FB47-B02A-DC9B1350B745}"/>
              </a:ext>
            </a:extLst>
          </p:cNvPr>
          <p:cNvSpPr/>
          <p:nvPr/>
        </p:nvSpPr>
        <p:spPr>
          <a:xfrm>
            <a:off x="18219340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6B8324CC-3847-BE98-0647-D74058E14591}"/>
              </a:ext>
            </a:extLst>
          </p:cNvPr>
          <p:cNvSpPr/>
          <p:nvPr/>
        </p:nvSpPr>
        <p:spPr>
          <a:xfrm>
            <a:off x="18481112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8A29FDDF-E979-3A82-4568-40BB311801EE}"/>
              </a:ext>
            </a:extLst>
          </p:cNvPr>
          <p:cNvSpPr/>
          <p:nvPr/>
        </p:nvSpPr>
        <p:spPr>
          <a:xfrm>
            <a:off x="18742885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2B0006E3-2B54-01AC-AD42-BD5583026ED9}"/>
              </a:ext>
            </a:extLst>
          </p:cNvPr>
          <p:cNvSpPr/>
          <p:nvPr/>
        </p:nvSpPr>
        <p:spPr>
          <a:xfrm>
            <a:off x="19004657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CE560666-12E1-FE99-7CEB-0621BAE7E03B}"/>
              </a:ext>
            </a:extLst>
          </p:cNvPr>
          <p:cNvSpPr/>
          <p:nvPr/>
        </p:nvSpPr>
        <p:spPr>
          <a:xfrm>
            <a:off x="19266428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49FAEF4E-6458-0659-8CA7-95239064F0C3}"/>
              </a:ext>
            </a:extLst>
          </p:cNvPr>
          <p:cNvSpPr/>
          <p:nvPr/>
        </p:nvSpPr>
        <p:spPr>
          <a:xfrm>
            <a:off x="19528201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D998BFE5-FD8D-C423-E26A-30AB6F23A601}"/>
              </a:ext>
            </a:extLst>
          </p:cNvPr>
          <p:cNvSpPr/>
          <p:nvPr/>
        </p:nvSpPr>
        <p:spPr>
          <a:xfrm>
            <a:off x="19789973" y="1005205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B0A94BDB-147F-2D7A-43BF-1FD07DC1E2A9}"/>
              </a:ext>
            </a:extLst>
          </p:cNvPr>
          <p:cNvSpPr/>
          <p:nvPr/>
        </p:nvSpPr>
        <p:spPr>
          <a:xfrm>
            <a:off x="17957569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6B49F79D-32DF-6811-D282-8A9898E9CB71}"/>
              </a:ext>
            </a:extLst>
          </p:cNvPr>
          <p:cNvSpPr/>
          <p:nvPr/>
        </p:nvSpPr>
        <p:spPr>
          <a:xfrm>
            <a:off x="18219340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4C798E19-0DF6-7AAD-EDAA-3070251CBA71}"/>
              </a:ext>
            </a:extLst>
          </p:cNvPr>
          <p:cNvSpPr/>
          <p:nvPr/>
        </p:nvSpPr>
        <p:spPr>
          <a:xfrm>
            <a:off x="18481112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5022CF3C-D3F4-2FE9-D44B-68EE061CFEA2}"/>
              </a:ext>
            </a:extLst>
          </p:cNvPr>
          <p:cNvSpPr/>
          <p:nvPr/>
        </p:nvSpPr>
        <p:spPr>
          <a:xfrm>
            <a:off x="18742885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A3C98873-F7E5-BD9D-D1E9-A2C53AD32940}"/>
              </a:ext>
            </a:extLst>
          </p:cNvPr>
          <p:cNvSpPr/>
          <p:nvPr/>
        </p:nvSpPr>
        <p:spPr>
          <a:xfrm>
            <a:off x="19004657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1E259BC3-B8B8-45BF-9865-D69B343BCE1F}"/>
              </a:ext>
            </a:extLst>
          </p:cNvPr>
          <p:cNvSpPr/>
          <p:nvPr/>
        </p:nvSpPr>
        <p:spPr>
          <a:xfrm>
            <a:off x="19266428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7FFA6266-4CC1-668B-4933-2DF7776F4700}"/>
              </a:ext>
            </a:extLst>
          </p:cNvPr>
          <p:cNvSpPr/>
          <p:nvPr/>
        </p:nvSpPr>
        <p:spPr>
          <a:xfrm>
            <a:off x="19528201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8A8BAB9B-69B3-77AB-D9AB-FF432AC3B321}"/>
              </a:ext>
            </a:extLst>
          </p:cNvPr>
          <p:cNvSpPr/>
          <p:nvPr/>
        </p:nvSpPr>
        <p:spPr>
          <a:xfrm>
            <a:off x="19789973" y="1031382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336ACB65-8E1E-FB4B-5244-BCD388B4DFBC}"/>
              </a:ext>
            </a:extLst>
          </p:cNvPr>
          <p:cNvSpPr/>
          <p:nvPr/>
        </p:nvSpPr>
        <p:spPr>
          <a:xfrm>
            <a:off x="17957569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9F7DA2B7-5B90-1F37-029B-2E3957381309}"/>
              </a:ext>
            </a:extLst>
          </p:cNvPr>
          <p:cNvSpPr/>
          <p:nvPr/>
        </p:nvSpPr>
        <p:spPr>
          <a:xfrm>
            <a:off x="18219340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5B535291-8489-729E-3BAB-B7B45A4B0B54}"/>
              </a:ext>
            </a:extLst>
          </p:cNvPr>
          <p:cNvSpPr/>
          <p:nvPr/>
        </p:nvSpPr>
        <p:spPr>
          <a:xfrm>
            <a:off x="18481112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E6849080-07A0-C958-1D6E-3EB11D57ED4D}"/>
              </a:ext>
            </a:extLst>
          </p:cNvPr>
          <p:cNvSpPr/>
          <p:nvPr/>
        </p:nvSpPr>
        <p:spPr>
          <a:xfrm>
            <a:off x="18742885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13C50DD3-4062-2E6D-4E86-A28BBCB438A9}"/>
              </a:ext>
            </a:extLst>
          </p:cNvPr>
          <p:cNvSpPr/>
          <p:nvPr/>
        </p:nvSpPr>
        <p:spPr>
          <a:xfrm>
            <a:off x="19004657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BCD456DB-CC4D-F319-5726-F347845BD87A}"/>
              </a:ext>
            </a:extLst>
          </p:cNvPr>
          <p:cNvSpPr/>
          <p:nvPr/>
        </p:nvSpPr>
        <p:spPr>
          <a:xfrm>
            <a:off x="19266428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D26F5563-5C16-92A1-33E3-51B015EBB6C4}"/>
              </a:ext>
            </a:extLst>
          </p:cNvPr>
          <p:cNvSpPr/>
          <p:nvPr/>
        </p:nvSpPr>
        <p:spPr>
          <a:xfrm>
            <a:off x="19528201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13372722-9C05-D0CD-4532-E394DF905A39}"/>
              </a:ext>
            </a:extLst>
          </p:cNvPr>
          <p:cNvSpPr/>
          <p:nvPr/>
        </p:nvSpPr>
        <p:spPr>
          <a:xfrm>
            <a:off x="19789973" y="1057559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AEBA4CAD-3E32-B4DF-AD4C-7F9F2E8E063E}"/>
              </a:ext>
            </a:extLst>
          </p:cNvPr>
          <p:cNvSpPr/>
          <p:nvPr/>
        </p:nvSpPr>
        <p:spPr>
          <a:xfrm>
            <a:off x="17957569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B1029D8A-722F-1150-DB5E-B3B0005476E9}"/>
              </a:ext>
            </a:extLst>
          </p:cNvPr>
          <p:cNvSpPr/>
          <p:nvPr/>
        </p:nvSpPr>
        <p:spPr>
          <a:xfrm>
            <a:off x="18219340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9F6145CA-2F83-C23D-9805-CDE5B4BD86A5}"/>
              </a:ext>
            </a:extLst>
          </p:cNvPr>
          <p:cNvSpPr/>
          <p:nvPr/>
        </p:nvSpPr>
        <p:spPr>
          <a:xfrm>
            <a:off x="18481112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AA24B3DD-2B3B-6045-E373-D315D6B8B934}"/>
              </a:ext>
            </a:extLst>
          </p:cNvPr>
          <p:cNvSpPr/>
          <p:nvPr/>
        </p:nvSpPr>
        <p:spPr>
          <a:xfrm>
            <a:off x="18742885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17179287-D276-2EC6-F699-2FDF98237841}"/>
              </a:ext>
            </a:extLst>
          </p:cNvPr>
          <p:cNvSpPr/>
          <p:nvPr/>
        </p:nvSpPr>
        <p:spPr>
          <a:xfrm>
            <a:off x="19004657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E667D3C2-583C-8AC2-9256-84DE013EA855}"/>
              </a:ext>
            </a:extLst>
          </p:cNvPr>
          <p:cNvSpPr/>
          <p:nvPr/>
        </p:nvSpPr>
        <p:spPr>
          <a:xfrm>
            <a:off x="19266428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401B3A7B-21F1-40C5-0E63-7B0E8D3FCC9E}"/>
              </a:ext>
            </a:extLst>
          </p:cNvPr>
          <p:cNvSpPr/>
          <p:nvPr/>
        </p:nvSpPr>
        <p:spPr>
          <a:xfrm>
            <a:off x="19528201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3ABDFE54-FB3D-2623-A381-EEA15FD8C7F0}"/>
              </a:ext>
            </a:extLst>
          </p:cNvPr>
          <p:cNvSpPr/>
          <p:nvPr/>
        </p:nvSpPr>
        <p:spPr>
          <a:xfrm>
            <a:off x="19789973" y="1083736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E6E6E6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75" name="object 3">
            <a:extLst>
              <a:ext uri="{FF2B5EF4-FFF2-40B4-BE49-F238E27FC236}">
                <a16:creationId xmlns:a16="http://schemas.microsoft.com/office/drawing/2014/main" id="{CA0C84A0-74F4-AB72-30A6-9481C5037A87}"/>
              </a:ext>
            </a:extLst>
          </p:cNvPr>
          <p:cNvGrpSpPr/>
          <p:nvPr/>
        </p:nvGrpSpPr>
        <p:grpSpPr>
          <a:xfrm>
            <a:off x="15364003" y="1047088"/>
            <a:ext cx="3693223" cy="942975"/>
            <a:chOff x="15364003" y="1047088"/>
            <a:chExt cx="3693223" cy="942975"/>
          </a:xfrm>
        </p:grpSpPr>
        <p:sp>
          <p:nvSpPr>
            <p:cNvPr id="73" name="object 4">
              <a:extLst>
                <a:ext uri="{FF2B5EF4-FFF2-40B4-BE49-F238E27FC236}">
                  <a16:creationId xmlns:a16="http://schemas.microsoft.com/office/drawing/2014/main" id="{4FCB384A-4207-D5B5-0128-33F55124E14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4" name="object 5">
              <a:extLst>
                <a:ext uri="{FF2B5EF4-FFF2-40B4-BE49-F238E27FC236}">
                  <a16:creationId xmlns:a16="http://schemas.microsoft.com/office/drawing/2014/main" id="{8DC6CDD9-EF1D-4A6A-6532-F74CEE70F44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7" name="object 71">
            <a:extLst>
              <a:ext uri="{FF2B5EF4-FFF2-40B4-BE49-F238E27FC236}">
                <a16:creationId xmlns:a16="http://schemas.microsoft.com/office/drawing/2014/main" id="{FCA7FB1C-6594-BC61-EE70-5976E624BC26}"/>
              </a:ext>
            </a:extLst>
          </p:cNvPr>
          <p:cNvSpPr txBox="1">
            <a:spLocks/>
          </p:cNvSpPr>
          <p:nvPr/>
        </p:nvSpPr>
        <p:spPr>
          <a:xfrm>
            <a:off x="1509065" y="984549"/>
            <a:ext cx="12810183" cy="15382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rgbClr val="000000"/>
                </a:solidFill>
                <a:latin typeface="Montserrat ExtraBold"/>
                <a:cs typeface="Montserrat ExtraBold"/>
              </a:rPr>
              <a:t>MACHINE LEARNING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Principais Métricas de Classificação</a:t>
            </a:r>
            <a:endParaRPr lang="pt-BR" sz="495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5" name="object 71">
            <a:extLst>
              <a:ext uri="{FF2B5EF4-FFF2-40B4-BE49-F238E27FC236}">
                <a16:creationId xmlns:a16="http://schemas.microsoft.com/office/drawing/2014/main" id="{5D46EB59-4323-EA24-06C2-C9BB350D7CDA}"/>
              </a:ext>
            </a:extLst>
          </p:cNvPr>
          <p:cNvSpPr txBox="1">
            <a:spLocks/>
          </p:cNvSpPr>
          <p:nvPr/>
        </p:nvSpPr>
        <p:spPr>
          <a:xfrm>
            <a:off x="1539870" y="4801977"/>
            <a:ext cx="7919683" cy="24114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O modelo previu negativo, mas </a:t>
            </a:r>
            <a:r>
              <a:rPr lang="pt-BR" sz="36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o valor real era positivo</a:t>
            </a:r>
            <a:r>
              <a:rPr lang="pt-BR" sz="3600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 ExtraBold"/>
              </a:rPr>
              <a:t> (falha em detectar).</a:t>
            </a:r>
            <a:endParaRPr lang="pt-BR" sz="3600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3A4E7271-6B88-4DA3-2256-DA088A1D14B4}"/>
              </a:ext>
            </a:extLst>
          </p:cNvPr>
          <p:cNvSpPr txBox="1">
            <a:spLocks/>
          </p:cNvSpPr>
          <p:nvPr/>
        </p:nvSpPr>
        <p:spPr>
          <a:xfrm>
            <a:off x="1509065" y="3322536"/>
            <a:ext cx="17548098" cy="8314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ct val="150000"/>
              </a:lnSpc>
              <a:spcBef>
                <a:spcPts val="95"/>
              </a:spcBef>
            </a:pPr>
            <a:r>
              <a:rPr lang="pt-BR" sz="4000" b="1" kern="0" spc="-15" dirty="0">
                <a:solidFill>
                  <a:srgbClr val="000000"/>
                </a:solidFill>
                <a:latin typeface="Montserrat" panose="00000500000000000000" pitchFamily="2" charset="0"/>
                <a:cs typeface="Montserrat"/>
              </a:rPr>
              <a:t>Falso Negativo – FN.</a:t>
            </a:r>
            <a:endParaRPr lang="pt-BR" sz="4000" b="1" kern="0" dirty="0">
              <a:solidFill>
                <a:srgbClr val="000000"/>
              </a:solidFill>
              <a:latin typeface="Montserrat" panose="00000500000000000000" pitchFamily="2" charset="0"/>
              <a:cs typeface="Montserrat"/>
            </a:endParaRPr>
          </a:p>
        </p:txBody>
      </p:sp>
      <p:pic>
        <p:nvPicPr>
          <p:cNvPr id="4" name="Imagem 3" descr="Dúvida] Como identificar falsos positivos e negativos na matriz de confusão para classificação multiclasse | Classificação: resolvendo problemas multiclasse | Solucionado">
            <a:extLst>
              <a:ext uri="{FF2B5EF4-FFF2-40B4-BE49-F238E27FC236}">
                <a16:creationId xmlns:a16="http://schemas.microsoft.com/office/drawing/2014/main" id="{1C90ADB9-CF8C-CE84-CB3D-82A335626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346" y="4204384"/>
            <a:ext cx="6421232" cy="603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96186"/>
      </p:ext>
    </p:extLst>
  </p:cSld>
  <p:clrMapOvr>
    <a:masterClrMapping/>
  </p:clrMapOvr>
  <p:transition spd="slow"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556"/>
            <a:chOff x="0" y="0"/>
            <a:chExt cx="20104100" cy="11308556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235576" y="4635933"/>
            <a:ext cx="511492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solidFill>
                  <a:srgbClr val="FFFFFF"/>
                </a:solidFill>
              </a:rPr>
              <a:t>DEPARTAMENTO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REGIONAL</a:t>
            </a:r>
            <a:endParaRPr sz="2800" dirty="0"/>
          </a:p>
        </p:txBody>
      </p:sp>
      <p:sp>
        <p:nvSpPr>
          <p:cNvPr id="7" name="object 7"/>
          <p:cNvSpPr txBox="1"/>
          <p:nvPr/>
        </p:nvSpPr>
        <p:spPr>
          <a:xfrm>
            <a:off x="10231201" y="5107290"/>
            <a:ext cx="6974205" cy="1459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>
              <a:lnSpc>
                <a:spcPts val="327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Montserrat ExtraBold"/>
                <a:cs typeface="Montserrat ExtraBold"/>
              </a:rPr>
              <a:t>DE</a:t>
            </a:r>
            <a:r>
              <a:rPr sz="2800" b="1" spc="-30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Montserrat ExtraBold"/>
                <a:cs typeface="Montserrat ExtraBold"/>
              </a:rPr>
              <a:t>SÃO</a:t>
            </a:r>
            <a:r>
              <a:rPr sz="2800" b="1" spc="-25" dirty="0">
                <a:solidFill>
                  <a:srgbClr val="FFFFFF"/>
                </a:solidFill>
                <a:latin typeface="Montserrat ExtraBold"/>
                <a:cs typeface="Montserrat ExtraBold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Montserrat ExtraBold"/>
                <a:cs typeface="Montserrat ExtraBold"/>
              </a:rPr>
              <a:t>PAULO</a:t>
            </a:r>
            <a:endParaRPr sz="2800" dirty="0">
              <a:latin typeface="Montserrat ExtraBold"/>
              <a:cs typeface="Montserrat ExtraBold"/>
            </a:endParaRPr>
          </a:p>
          <a:p>
            <a:pPr marL="12700">
              <a:lnSpc>
                <a:spcPts val="8009"/>
              </a:lnSpc>
            </a:pPr>
            <a:r>
              <a:rPr sz="6750" spc="-2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ww</a:t>
            </a:r>
            <a:r>
              <a:rPr sz="6750" spc="-22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w</a:t>
            </a:r>
            <a:r>
              <a:rPr sz="675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</a:t>
            </a:r>
            <a:r>
              <a:rPr sz="6750" spc="-100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p</a:t>
            </a:r>
            <a:r>
              <a:rPr sz="6750" spc="5" dirty="0">
                <a:solidFill>
                  <a:srgbClr val="FFFFFF"/>
                </a:solidFill>
                <a:latin typeface="Montserrat"/>
                <a:cs typeface="Montserrat"/>
                <a:hlinkClick r:id="rId3"/>
              </a:rPr>
              <a:t>.senai.br</a:t>
            </a:r>
            <a:endParaRPr sz="6750" dirty="0">
              <a:latin typeface="Montserrat"/>
              <a:cs typeface="Montserra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4154076"/>
            <a:ext cx="20104100" cy="7154545"/>
            <a:chOff x="0" y="4154076"/>
            <a:chExt cx="20104100" cy="7154545"/>
          </a:xfrm>
        </p:grpSpPr>
        <p:sp>
          <p:nvSpPr>
            <p:cNvPr id="9" name="object 9"/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C1C1FFBC5B64943BE6D3064162973C9" ma:contentTypeVersion="13" ma:contentTypeDescription="Crie um novo documento." ma:contentTypeScope="" ma:versionID="40fa6b34c81f3a289ccbc7b1e1965271">
  <xsd:schema xmlns:xsd="http://www.w3.org/2001/XMLSchema" xmlns:xs="http://www.w3.org/2001/XMLSchema" xmlns:p="http://schemas.microsoft.com/office/2006/metadata/properties" xmlns:ns2="2bd5af90-2c43-4f56-be08-340e2f91aafd" xmlns:ns3="b9c37b37-d0ad-42a5-892e-3cb8fae6311e" targetNamespace="http://schemas.microsoft.com/office/2006/metadata/properties" ma:root="true" ma:fieldsID="8fc80ff9e100d70d9cbefb719233993e" ns2:_="" ns3:_="">
    <xsd:import namespace="2bd5af90-2c43-4f56-be08-340e2f91aafd"/>
    <xsd:import namespace="b9c37b37-d0ad-42a5-892e-3cb8fae631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d5af90-2c43-4f56-be08-340e2f91a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c37b37-d0ad-42a5-892e-3cb8fae6311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E43EA8-E4F7-4FB4-A903-CFCDB99F0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d5af90-2c43-4f56-be08-340e2f91aafd"/>
    <ds:schemaRef ds:uri="b9c37b37-d0ad-42a5-892e-3cb8fae631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A42D19-56A1-4D0B-AB84-67451006DC5A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purl.org/dc/elements/1.1/"/>
    <ds:schemaRef ds:uri="b9c37b37-d0ad-42a5-892e-3cb8fae6311e"/>
    <ds:schemaRef ds:uri="http://www.w3.org/XML/1998/namespace"/>
    <ds:schemaRef ds:uri="2bd5af90-2c43-4f56-be08-340e2f91aafd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1401</Words>
  <Application>Microsoft Office PowerPoint</Application>
  <PresentationFormat>Personalizar</PresentationFormat>
  <Paragraphs>184</Paragraphs>
  <Slides>48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48</vt:i4>
      </vt:variant>
    </vt:vector>
  </HeadingPairs>
  <TitlesOfParts>
    <vt:vector size="53" baseType="lpstr">
      <vt:lpstr>Montserrat ExtraBold</vt:lpstr>
      <vt:lpstr>Montserrat Light</vt:lpstr>
      <vt:lpstr>Montserrat</vt:lpstr>
      <vt:lpstr>Calibri</vt:lpstr>
      <vt:lpstr>Office Theme</vt:lpstr>
      <vt:lpstr>Apresentação do PowerPoint</vt:lpstr>
      <vt:lpstr>MACHINE LEARNING</vt:lpstr>
      <vt:lpstr>MACHINE LEARNING O que é?</vt:lpstr>
      <vt:lpstr>Apresentação do PowerPoint</vt:lpstr>
      <vt:lpstr>Apresentação do PowerPoint</vt:lpstr>
      <vt:lpstr>MODELOS DE APRENDIZADO</vt:lpstr>
      <vt:lpstr>MACHINE LEARNING Modelos de Machine Learning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FERRAMENTAS NO-CODE</vt:lpstr>
      <vt:lpstr>Apresentação do PowerPoint</vt:lpstr>
      <vt:lpstr>Apresentação do PowerPoint</vt:lpstr>
      <vt:lpstr>Apresentação do PowerPoint</vt:lpstr>
      <vt:lpstr>Apresentação do PowerPoint</vt:lpstr>
      <vt:lpstr>MACHINE LEARNING Ferramentas No-Code</vt:lpstr>
      <vt:lpstr>REGRESSÃO LINEAR</vt:lpstr>
      <vt:lpstr>MACHINE LEARNING Regressão Linear</vt:lpstr>
      <vt:lpstr>Apresentação do PowerPoint</vt:lpstr>
      <vt:lpstr>Apresentação do PowerPoint</vt:lpstr>
      <vt:lpstr>MODELO POR  CLASSIFICAÇÃO</vt:lpstr>
      <vt:lpstr>MACHINE LEARNING Modelo por Classificação</vt:lpstr>
      <vt:lpstr>Apresentação do PowerPoint</vt:lpstr>
      <vt:lpstr>Apresentação do PowerPoint</vt:lpstr>
      <vt:lpstr>MODELO POR  CLUSTERIZAÇÃO</vt:lpstr>
      <vt:lpstr>MACHINE LEARNING Modelo por Clusterização</vt:lpstr>
      <vt:lpstr>Apresentação do PowerPoint</vt:lpstr>
      <vt:lpstr>Apresentação do PowerPoint</vt:lpstr>
      <vt:lpstr>DEFINIÇÃO DE  MÉTRICAS</vt:lpstr>
      <vt:lpstr>MACHINE LEARNING Métricas</vt:lpstr>
      <vt:lpstr>MACHINE LEARNING Métricas</vt:lpstr>
      <vt:lpstr>MACHINE LEARNING Métricas</vt:lpstr>
      <vt:lpstr>MACHINE LEARNING Métricas - Underfitting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DEPARTAMENTO REGIONAL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Instrutor</cp:lastModifiedBy>
  <cp:revision>73</cp:revision>
  <dcterms:created xsi:type="dcterms:W3CDTF">2021-08-24T16:20:14Z</dcterms:created>
  <dcterms:modified xsi:type="dcterms:W3CDTF">2026-09-28T22:40:20Z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0x0101001C1C1FFBC5B64943BE6D3064162973C9</vt:lpwstr>
  </property>
</Properties>
</file>